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apix-portal.pages.dev"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ec.europa.eu/eurostat/documents/272892/12032198/Guidelines-web-scraping-HICP-11-2020.pdf" TargetMode="External"/><Relationship Id="rId5" Type="http://schemas.openxmlformats.org/officeDocument/2006/relationships/hyperlink" Target="https://www.ons.gov.uk/economy/inflationandpriceindices/articles/researchindicesusingwebscrapedpricedata/august2017update/previous/v1/pdf" TargetMode="External"/><Relationship Id="rId6" Type="http://schemas.openxmlformats.org/officeDocument/2006/relationships/hyperlink" Target="https://www.dgca.gov.in/digigov-portal/" TargetMode="External"/><Relationship Id="rId7" Type="http://schemas.openxmlformats.org/officeDocument/2006/relationships/hyperlink" Target="https://www.rfc-editor.org/rfc/rfc9309" TargetMode="External"/><Relationship Id="rId8" Type="http://schemas.openxmlformats.org/officeDocument/2006/relationships/hyperlink" Target="https://www.pib.gov.in/PressReleasePage.aspx?PRID=2227012&amp;reg=3&amp;lang=1" TargetMode="External"/><Relationship Id="rId9" Type="http://schemas.openxmlformats.org/officeDocument/2006/relationships/hyperlink" Target="https://github.com/BradCage-afk/sih-2026-airfare-index" TargetMode="External"/><Relationship Id="rId10" Type="http://schemas.openxmlformats.org/officeDocument/2006/relationships/image" Target="../media/image4.png"/><Relationship Id="rId11" Type="http://schemas.openxmlformats.org/officeDocument/2006/relationships/hyperlink" Target="https://apix-api-n5ux.onrender.com/docs" TargetMode="External"/><Relationship Id="rId12" Type="http://schemas.openxmlformats.org/officeDocument/2006/relationships/hyperlink" Target="https://apix-portal.pages.dev" TargetMode="External"/><Relationship Id="rId13" Type="http://schemas.openxmlformats.org/officeDocument/2006/relationships/hyperlink" Target="https://github.com/BradCage-afk/sih-2026-airfare-index#readme" TargetMode="External"/><Relationship Id="rId14" Type="http://schemas.openxmlformats.org/officeDocument/2006/relationships/hyperlink" Target="https://www.ibef.org/industry/indian-avi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29184" y="2075688"/>
            <a:ext cx="5925312" cy="4700016"/>
          </a:xfrm>
          <a:prstGeom prst="rect">
            <a:avLst/>
          </a:prstGeom>
          <a:noFill/>
        </p:spPr>
        <p:txBody>
          <a:bodyPr wrap="square" rtlCol="0" lIns="36576" rIns="36576" tIns="18288" bIns="18288">
            <a:spAutoFit/>
          </a:bodyPr>
          <a:lstStyle/>
          <a:p>
            <a:pPr algn="just">
              <a:lnSpc>
                <a:spcPct val="106000"/>
              </a:lnSpc>
              <a:spcBef>
                <a:spcPts val="0"/>
              </a:spcBef>
              <a:spcAft>
                <a:spcPts val="0"/>
              </a:spcAft>
            </a:pPr>
            <a:r>
              <a:rPr sz="2000" b="1">
                <a:solidFill>
                  <a:srgbClr val="262B33"/>
                </a:solidFill>
                <a:latin typeface="Arial"/>
              </a:rPr>
              <a:t>Problem Statement ID - SIH26056</a:t>
            </a:r>
            <a:endParaRPr lang="en-US" dirty="0"/>
          </a:p>
          <a:p>
            <a:pPr algn="just">
              <a:lnSpc>
                <a:spcPct val="106000"/>
              </a:lnSpc>
              <a:spcBef>
                <a:spcPts val="800"/>
              </a:spcBef>
              <a:spcAft>
                <a:spcPts val="0"/>
              </a:spcAft>
            </a:pPr>
            <a:r>
              <a:rPr sz="2000" b="1">
                <a:solidFill>
                  <a:srgbClr val="262B33"/>
                </a:solidFill>
                <a:latin typeface="Arial"/>
              </a:rPr>
              <a:t>Problem Statement Title - Development of a Real-time Airfare Price Index for India through Automated Web Scraping of Airline and Online Travel Aggregator Portals for Augmentation of the Consumer Price Index (CPI)</a:t>
            </a:r>
          </a:p>
          <a:p>
            <a:pPr algn="just">
              <a:lnSpc>
                <a:spcPct val="106000"/>
              </a:lnSpc>
              <a:spcBef>
                <a:spcPts val="800"/>
              </a:spcBef>
              <a:spcAft>
                <a:spcPts val="0"/>
              </a:spcAft>
            </a:pPr>
            <a:r>
              <a:rPr sz="2000" b="1">
                <a:solidFill>
                  <a:srgbClr val="262B33"/>
                </a:solidFill>
                <a:latin typeface="Arial"/>
              </a:rPr>
              <a:t>Theme - Travel &amp; Tourism</a:t>
            </a:r>
          </a:p>
          <a:p>
            <a:pPr algn="just">
              <a:lnSpc>
                <a:spcPct val="106000"/>
              </a:lnSpc>
              <a:spcBef>
                <a:spcPts val="800"/>
              </a:spcBef>
              <a:spcAft>
                <a:spcPts val="0"/>
              </a:spcAft>
            </a:pPr>
            <a:r>
              <a:rPr sz="2000" b="1">
                <a:solidFill>
                  <a:srgbClr val="262B33"/>
                </a:solidFill>
                <a:latin typeface="Arial"/>
              </a:rPr>
              <a:t>PS Category - Software</a:t>
            </a:r>
          </a:p>
          <a:p>
            <a:pPr algn="just">
              <a:lnSpc>
                <a:spcPct val="106000"/>
              </a:lnSpc>
              <a:spcBef>
                <a:spcPts val="800"/>
              </a:spcBef>
              <a:spcAft>
                <a:spcPts val="0"/>
              </a:spcAft>
            </a:pPr>
            <a:r>
              <a:rPr sz="2000" b="1">
                <a:solidFill>
                  <a:srgbClr val="262B33"/>
                </a:solidFill>
                <a:latin typeface="Arial"/>
              </a:rPr>
              <a:t>Team ID - ‹TEAM ID›</a:t>
            </a:r>
          </a:p>
          <a:p>
            <a:pPr algn="just">
              <a:lnSpc>
                <a:spcPct val="106000"/>
              </a:lnSpc>
              <a:spcBef>
                <a:spcPts val="800"/>
              </a:spcBef>
              <a:spcAft>
                <a:spcPts val="0"/>
              </a:spcAft>
            </a:pPr>
            <a:r>
              <a:rPr sz="2000" b="1">
                <a:solidFill>
                  <a:srgbClr val="262B33"/>
                </a:solidFill>
                <a:latin typeface="Arial"/>
              </a:rPr>
              <a:t>Team Name (Registered on portal) - Fare Enough 101</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lgn="ctr"/>
            <a:r>
              <a:rPr sz="3600" b="1">
                <a:solidFill>
                  <a:srgbClr val="1F497D"/>
                </a:solidFill>
                <a:latin typeface="Times New Roman"/>
              </a:rPr>
              <a:t>APIx — AIRFARE PRICE INDEX</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Fare Enough 101 - @SIH Idea submission</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lang="en-US" dirty="0" sz="1050" b="1"/>
              <a:t>Fare Enough 101</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411480" y="914400"/>
            <a:ext cx="7726679" cy="914400"/>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4F81BD"/>
                </a:solidFill>
                <a:latin typeface="Arial"/>
              </a:rPr>
              <a:t>PROPOSED SOLUTION</a:t>
            </a:r>
          </a:p>
          <a:p>
            <a:pPr>
              <a:lnSpc>
                <a:spcPct val="95000"/>
              </a:lnSpc>
              <a:spcBef>
                <a:spcPts val="200"/>
              </a:spcBef>
              <a:spcAft>
                <a:spcPts val="0"/>
              </a:spcAft>
            </a:pPr>
            <a:r>
              <a:rPr sz="1450" b="1">
                <a:solidFill>
                  <a:srgbClr val="1F497D"/>
                </a:solidFill>
                <a:latin typeface="Arial"/>
              </a:rPr>
              <a:t>A daily airfare inflation index for the CPI</a:t>
            </a:r>
          </a:p>
          <a:p>
            <a:pPr>
              <a:lnSpc>
                <a:spcPct val="95000"/>
              </a:lnSpc>
              <a:spcBef>
                <a:spcPts val="500"/>
              </a:spcBef>
              <a:spcAft>
                <a:spcPts val="0"/>
              </a:spcAft>
            </a:pPr>
            <a:r>
              <a:rPr sz="1200" b="0">
                <a:solidFill>
                  <a:srgbClr val="5A626C"/>
                </a:solidFill>
                <a:latin typeface="Arial"/>
              </a:rPr>
              <a:t>MoSPI prices air travel by hand, once a month, for one departure date. APIx reads the same public pages every ten minutes and delivers one weighted index number through an API.</a:t>
            </a:r>
          </a:p>
        </p:txBody>
      </p:sp>
      <p:sp>
        <p:nvSpPr>
          <p:cNvPr id="15363" name="Rounded Rectangle 15362"/>
          <p:cNvSpPr/>
          <p:nvPr/>
        </p:nvSpPr>
        <p:spPr>
          <a:xfrm>
            <a:off x="8275320" y="932688"/>
            <a:ext cx="3474720" cy="822960"/>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050" b="1">
                <a:solidFill>
                  <a:srgbClr val="1B8A5A"/>
                </a:solidFill>
                <a:latin typeface="Arial"/>
              </a:rPr>
              <a:t>BUILT AND RUNNING</a:t>
            </a:r>
          </a:p>
          <a:p>
            <a:pPr>
              <a:lnSpc>
                <a:spcPct val="95000"/>
              </a:lnSpc>
              <a:spcBef>
                <a:spcPts val="400"/>
              </a:spcBef>
              <a:spcAft>
                <a:spcPts val="0"/>
              </a:spcAft>
            </a:pPr>
            <a:r>
              <a:rPr sz="1050" b="0">
                <a:solidFill>
                  <a:srgbClr val="262B33"/>
                </a:solidFill>
                <a:latin typeface="Arial"/>
              </a:rPr>
              <a:t>209,000+ fares · 15 city pairs × 5 lead times · every 10 minutes · scraped, then a licensed feed · ₹0 a month</a:t>
            </a:r>
          </a:p>
        </p:txBody>
      </p:sp>
      <p:sp>
        <p:nvSpPr>
          <p:cNvPr id="15364" name="Rounded Rectangle 15363"/>
          <p:cNvSpPr/>
          <p:nvPr/>
        </p:nvSpPr>
        <p:spPr>
          <a:xfrm>
            <a:off x="411480" y="1975104"/>
            <a:ext cx="6355080" cy="1792224"/>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65" name="TextBox 15364"/>
          <p:cNvSpPr txBox="1"/>
          <p:nvPr/>
        </p:nvSpPr>
        <p:spPr>
          <a:xfrm>
            <a:off x="548640" y="2039112"/>
            <a:ext cx="384048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4F81BD"/>
                </a:solidFill>
                <a:latin typeface="Arial"/>
              </a:rPr>
              <a:t>WHAT CHANGES FOR THE CPI</a:t>
            </a:r>
          </a:p>
        </p:txBody>
      </p:sp>
      <p:sp>
        <p:nvSpPr>
          <p:cNvPr id="15366" name="TextBox 15365"/>
          <p:cNvSpPr txBox="1"/>
          <p:nvPr/>
        </p:nvSpPr>
        <p:spPr>
          <a:xfrm>
            <a:off x="2148840" y="2331720"/>
            <a:ext cx="1920240"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5A626C"/>
                </a:solidFill>
                <a:latin typeface="Arial"/>
              </a:rPr>
              <a:t>TODAY</a:t>
            </a:r>
          </a:p>
        </p:txBody>
      </p:sp>
      <p:sp>
        <p:nvSpPr>
          <p:cNvPr id="15367" name="TextBox 15366"/>
          <p:cNvSpPr txBox="1"/>
          <p:nvPr/>
        </p:nvSpPr>
        <p:spPr>
          <a:xfrm>
            <a:off x="4160520" y="2331720"/>
            <a:ext cx="2468880"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1B8A5A"/>
                </a:solidFill>
                <a:latin typeface="Arial"/>
              </a:rPr>
              <a:t>WITH APIx</a:t>
            </a:r>
          </a:p>
        </p:txBody>
      </p:sp>
      <p:sp>
        <p:nvSpPr>
          <p:cNvPr id="15368" name="TextBox 15367"/>
          <p:cNvSpPr txBox="1"/>
          <p:nvPr/>
        </p:nvSpPr>
        <p:spPr>
          <a:xfrm>
            <a:off x="548640" y="2633472"/>
            <a:ext cx="1600200"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262B33"/>
                </a:solidFill>
                <a:latin typeface="Arial"/>
              </a:rPr>
              <a:t>Frequency</a:t>
            </a:r>
          </a:p>
        </p:txBody>
      </p:sp>
      <p:sp>
        <p:nvSpPr>
          <p:cNvPr id="15369" name="TextBox 15368"/>
          <p:cNvSpPr txBox="1"/>
          <p:nvPr/>
        </p:nvSpPr>
        <p:spPr>
          <a:xfrm>
            <a:off x="2148840" y="2633472"/>
            <a:ext cx="192024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0">
                <a:solidFill>
                  <a:srgbClr val="5A626C"/>
                </a:solidFill>
                <a:latin typeface="Arial"/>
              </a:rPr>
              <a:t>once a month</a:t>
            </a:r>
          </a:p>
        </p:txBody>
      </p:sp>
      <p:sp>
        <p:nvSpPr>
          <p:cNvPr id="15370" name="TextBox 15369"/>
          <p:cNvSpPr txBox="1"/>
          <p:nvPr/>
        </p:nvSpPr>
        <p:spPr>
          <a:xfrm>
            <a:off x="4160520" y="2633472"/>
            <a:ext cx="246888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262B33"/>
                </a:solidFill>
                <a:latin typeface="Arial"/>
              </a:rPr>
              <a:t>every 10 minutes</a:t>
            </a:r>
          </a:p>
        </p:txBody>
      </p:sp>
      <p:sp>
        <p:nvSpPr>
          <p:cNvPr id="15371" name="TextBox 15370"/>
          <p:cNvSpPr txBox="1"/>
          <p:nvPr/>
        </p:nvSpPr>
        <p:spPr>
          <a:xfrm>
            <a:off x="548640" y="2916936"/>
            <a:ext cx="1600200"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262B33"/>
                </a:solidFill>
                <a:latin typeface="Arial"/>
              </a:rPr>
              <a:t>Coverage</a:t>
            </a:r>
          </a:p>
        </p:txBody>
      </p:sp>
      <p:sp>
        <p:nvSpPr>
          <p:cNvPr id="15372" name="TextBox 15371"/>
          <p:cNvSpPr txBox="1"/>
          <p:nvPr/>
        </p:nvSpPr>
        <p:spPr>
          <a:xfrm>
            <a:off x="2148840" y="2916936"/>
            <a:ext cx="192024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0">
                <a:solidFill>
                  <a:srgbClr val="5A626C"/>
                </a:solidFill>
                <a:latin typeface="Arial"/>
              </a:rPr>
              <a:t>a handful of quotes</a:t>
            </a:r>
          </a:p>
        </p:txBody>
      </p:sp>
      <p:sp>
        <p:nvSpPr>
          <p:cNvPr id="15373" name="TextBox 15372"/>
          <p:cNvSpPr txBox="1"/>
          <p:nvPr/>
        </p:nvSpPr>
        <p:spPr>
          <a:xfrm>
            <a:off x="4160520" y="2916936"/>
            <a:ext cx="246888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262B33"/>
                </a:solidFill>
                <a:latin typeface="Arial"/>
              </a:rPr>
              <a:t>75 priced cells</a:t>
            </a:r>
          </a:p>
        </p:txBody>
      </p:sp>
      <p:sp>
        <p:nvSpPr>
          <p:cNvPr id="15374" name="TextBox 15373"/>
          <p:cNvSpPr txBox="1"/>
          <p:nvPr/>
        </p:nvSpPr>
        <p:spPr>
          <a:xfrm>
            <a:off x="548640" y="3200400"/>
            <a:ext cx="1600200"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262B33"/>
                </a:solidFill>
                <a:latin typeface="Arial"/>
              </a:rPr>
              <a:t>Price basis</a:t>
            </a:r>
          </a:p>
        </p:txBody>
      </p:sp>
      <p:sp>
        <p:nvSpPr>
          <p:cNvPr id="15375" name="TextBox 15374"/>
          <p:cNvSpPr txBox="1"/>
          <p:nvPr/>
        </p:nvSpPr>
        <p:spPr>
          <a:xfrm>
            <a:off x="2148840" y="3200400"/>
            <a:ext cx="192024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0">
                <a:solidFill>
                  <a:srgbClr val="5A626C"/>
                </a:solidFill>
                <a:latin typeface="Arial"/>
              </a:rPr>
              <a:t>one quoted price</a:t>
            </a:r>
          </a:p>
        </p:txBody>
      </p:sp>
      <p:sp>
        <p:nvSpPr>
          <p:cNvPr id="15376" name="TextBox 15375"/>
          <p:cNvSpPr txBox="1"/>
          <p:nvPr/>
        </p:nvSpPr>
        <p:spPr>
          <a:xfrm>
            <a:off x="4160520" y="3200400"/>
            <a:ext cx="246888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262B33"/>
                </a:solidFill>
                <a:latin typeface="Arial"/>
              </a:rPr>
              <a:t>minimum logical fare</a:t>
            </a:r>
          </a:p>
        </p:txBody>
      </p:sp>
      <p:sp>
        <p:nvSpPr>
          <p:cNvPr id="15377" name="TextBox 15376"/>
          <p:cNvSpPr txBox="1"/>
          <p:nvPr/>
        </p:nvSpPr>
        <p:spPr>
          <a:xfrm>
            <a:off x="548640" y="3483863"/>
            <a:ext cx="1600200" cy="237744"/>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262B33"/>
                </a:solidFill>
                <a:latin typeface="Arial"/>
              </a:rPr>
              <a:t>Delivery</a:t>
            </a:r>
          </a:p>
        </p:txBody>
      </p:sp>
      <p:sp>
        <p:nvSpPr>
          <p:cNvPr id="15378" name="TextBox 15377"/>
          <p:cNvSpPr txBox="1"/>
          <p:nvPr/>
        </p:nvSpPr>
        <p:spPr>
          <a:xfrm>
            <a:off x="2148840" y="3483863"/>
            <a:ext cx="192024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0">
                <a:solidFill>
                  <a:srgbClr val="5A626C"/>
                </a:solidFill>
                <a:latin typeface="Arial"/>
              </a:rPr>
              <a:t>typed into a form</a:t>
            </a:r>
          </a:p>
        </p:txBody>
      </p:sp>
      <p:sp>
        <p:nvSpPr>
          <p:cNvPr id="15379" name="TextBox 15378"/>
          <p:cNvSpPr txBox="1"/>
          <p:nvPr/>
        </p:nvSpPr>
        <p:spPr>
          <a:xfrm>
            <a:off x="4160520" y="3483863"/>
            <a:ext cx="246888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262B33"/>
                </a:solidFill>
                <a:latin typeface="Arial"/>
              </a:rPr>
              <a:t>authenticated REST API</a:t>
            </a:r>
          </a:p>
        </p:txBody>
      </p:sp>
      <p:sp>
        <p:nvSpPr>
          <p:cNvPr id="15380" name="Rounded Rectangle 15379"/>
          <p:cNvSpPr/>
          <p:nvPr/>
        </p:nvSpPr>
        <p:spPr>
          <a:xfrm>
            <a:off x="6903720" y="1975104"/>
            <a:ext cx="4846320" cy="877824"/>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81" name="TextBox 15380"/>
          <p:cNvSpPr txBox="1"/>
          <p:nvPr/>
        </p:nvSpPr>
        <p:spPr>
          <a:xfrm>
            <a:off x="7040880" y="2020824"/>
            <a:ext cx="4572000" cy="219456"/>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4B3F8C"/>
                </a:solidFill>
                <a:latin typeface="Arial"/>
              </a:rPr>
              <a:t>THE INDEX IN ONE LINE</a:t>
            </a:r>
          </a:p>
        </p:txBody>
      </p:sp>
      <p:sp>
        <p:nvSpPr>
          <p:cNvPr id="15382" name="TextBox 15381"/>
          <p:cNvSpPr txBox="1"/>
          <p:nvPr/>
        </p:nvSpPr>
        <p:spPr>
          <a:xfrm>
            <a:off x="7040880" y="2249424"/>
            <a:ext cx="457200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262B33"/>
                </a:solidFill>
                <a:latin typeface="Arial"/>
              </a:rPr>
              <a:t>APIxₜ = 100 × exp( Σ wᵢ·ln(Pᵢ,ₜ/Pᵢ,₀) / Σ wᵢ )</a:t>
            </a:r>
          </a:p>
        </p:txBody>
      </p:sp>
      <p:sp>
        <p:nvSpPr>
          <p:cNvPr id="15383" name="TextBox 15382"/>
          <p:cNvSpPr txBox="1"/>
          <p:nvPr/>
        </p:nvSpPr>
        <p:spPr>
          <a:xfrm>
            <a:off x="7040880" y="2496312"/>
            <a:ext cx="4572000" cy="310896"/>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5A626C"/>
                </a:solidFill>
                <a:latin typeface="Arial"/>
              </a:rPr>
              <a:t>Weighted Jevons — the elementary-aggregate formula Eurostat and the ONS use for their own price indices.</a:t>
            </a:r>
          </a:p>
        </p:txBody>
      </p:sp>
      <p:sp>
        <p:nvSpPr>
          <p:cNvPr id="15384" name="Rounded Rectangle 15383"/>
          <p:cNvSpPr/>
          <p:nvPr/>
        </p:nvSpPr>
        <p:spPr>
          <a:xfrm>
            <a:off x="6903720" y="2926080"/>
            <a:ext cx="4846320" cy="841248"/>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85" name="TextBox 15384"/>
          <p:cNvSpPr txBox="1"/>
          <p:nvPr/>
        </p:nvSpPr>
        <p:spPr>
          <a:xfrm>
            <a:off x="7040880" y="2971800"/>
            <a:ext cx="4572000" cy="219456"/>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0E7C86"/>
                </a:solidFill>
                <a:latin typeface="Arial"/>
              </a:rPr>
              <a:t>WHAT THE TERMS MEAN</a:t>
            </a:r>
          </a:p>
        </p:txBody>
      </p:sp>
      <p:sp>
        <p:nvSpPr>
          <p:cNvPr id="15386" name="TextBox 15385"/>
          <p:cNvSpPr txBox="1"/>
          <p:nvPr/>
        </p:nvSpPr>
        <p:spPr>
          <a:xfrm>
            <a:off x="7040880" y="3200400"/>
            <a:ext cx="77724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0E7C86"/>
                </a:solidFill>
                <a:latin typeface="Arial"/>
              </a:rPr>
              <a:t>Basket</a:t>
            </a:r>
          </a:p>
        </p:txBody>
      </p:sp>
      <p:sp>
        <p:nvSpPr>
          <p:cNvPr id="15387" name="TextBox 15386"/>
          <p:cNvSpPr txBox="1"/>
          <p:nvPr/>
        </p:nvSpPr>
        <p:spPr>
          <a:xfrm>
            <a:off x="7818120" y="3200400"/>
            <a:ext cx="384048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15 city pairs × 5 lead times = 75 cells</a:t>
            </a:r>
          </a:p>
        </p:txBody>
      </p:sp>
      <p:sp>
        <p:nvSpPr>
          <p:cNvPr id="15388" name="TextBox 15387"/>
          <p:cNvSpPr txBox="1"/>
          <p:nvPr/>
        </p:nvSpPr>
        <p:spPr>
          <a:xfrm>
            <a:off x="7040880" y="3342132"/>
            <a:ext cx="77724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0E7C86"/>
                </a:solidFill>
                <a:latin typeface="Arial"/>
              </a:rPr>
              <a:t>Price</a:t>
            </a:r>
          </a:p>
        </p:txBody>
      </p:sp>
      <p:sp>
        <p:nvSpPr>
          <p:cNvPr id="15389" name="TextBox 15388"/>
          <p:cNvSpPr txBox="1"/>
          <p:nvPr/>
        </p:nvSpPr>
        <p:spPr>
          <a:xfrm>
            <a:off x="7818120" y="3342132"/>
            <a:ext cx="384048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minimum logical fare, no add-ons</a:t>
            </a:r>
          </a:p>
        </p:txBody>
      </p:sp>
      <p:sp>
        <p:nvSpPr>
          <p:cNvPr id="15390" name="TextBox 15389"/>
          <p:cNvSpPr txBox="1"/>
          <p:nvPr/>
        </p:nvSpPr>
        <p:spPr>
          <a:xfrm>
            <a:off x="7040880" y="3483864"/>
            <a:ext cx="77724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0E7C86"/>
                </a:solidFill>
                <a:latin typeface="Arial"/>
              </a:rPr>
              <a:t>Weight</a:t>
            </a:r>
          </a:p>
        </p:txBody>
      </p:sp>
      <p:sp>
        <p:nvSpPr>
          <p:cNvPr id="15391" name="TextBox 15390"/>
          <p:cNvSpPr txBox="1"/>
          <p:nvPr/>
        </p:nvSpPr>
        <p:spPr>
          <a:xfrm>
            <a:off x="7818120" y="3483864"/>
            <a:ext cx="384048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seat share (passenger proxy) × lead time</a:t>
            </a:r>
          </a:p>
        </p:txBody>
      </p:sp>
      <p:sp>
        <p:nvSpPr>
          <p:cNvPr id="15392" name="TextBox 15391"/>
          <p:cNvSpPr txBox="1"/>
          <p:nvPr/>
        </p:nvSpPr>
        <p:spPr>
          <a:xfrm>
            <a:off x="7040880" y="3625596"/>
            <a:ext cx="77724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0E7C86"/>
                </a:solidFill>
                <a:latin typeface="Arial"/>
              </a:rPr>
              <a:t>Base</a:t>
            </a:r>
          </a:p>
        </p:txBody>
      </p:sp>
      <p:sp>
        <p:nvSpPr>
          <p:cNvPr id="15393" name="TextBox 15392"/>
          <p:cNvSpPr txBox="1"/>
          <p:nvPr/>
        </p:nvSpPr>
        <p:spPr>
          <a:xfrm>
            <a:off x="7818120" y="3625596"/>
            <a:ext cx="384048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first 3 full-coverage days, averaged = 100</a:t>
            </a:r>
          </a:p>
        </p:txBody>
      </p:sp>
      <p:sp>
        <p:nvSpPr>
          <p:cNvPr id="15394" name="TextBox 15393"/>
          <p:cNvSpPr txBox="1"/>
          <p:nvPr/>
        </p:nvSpPr>
        <p:spPr>
          <a:xfrm>
            <a:off x="411480" y="3968496"/>
            <a:ext cx="11338560" cy="274320"/>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1F497D"/>
                </a:solidFill>
                <a:latin typeface="Arial"/>
              </a:rPr>
              <a:t>Why it stands out</a:t>
            </a:r>
          </a:p>
        </p:txBody>
      </p:sp>
      <p:sp>
        <p:nvSpPr>
          <p:cNvPr id="15395" name="Rectangle 15394"/>
          <p:cNvSpPr/>
          <p:nvPr/>
        </p:nvSpPr>
        <p:spPr>
          <a:xfrm>
            <a:off x="429768" y="4242816"/>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6" name="Rounded Rectangle 15395"/>
          <p:cNvSpPr/>
          <p:nvPr/>
        </p:nvSpPr>
        <p:spPr>
          <a:xfrm>
            <a:off x="411480" y="4315968"/>
            <a:ext cx="2656332" cy="1627632"/>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28016" bIns="18288"/>
          <a:lstStyle/>
          <a:p>
            <a:pPr algn="ctr">
              <a:lnSpc>
                <a:spcPct val="95000"/>
              </a:lnSpc>
              <a:spcBef>
                <a:spcPts val="0"/>
              </a:spcBef>
              <a:spcAft>
                <a:spcPts val="0"/>
              </a:spcAft>
            </a:pPr>
            <a:r>
              <a:rPr sz="1200" b="1">
                <a:solidFill>
                  <a:srgbClr val="4F81BD"/>
                </a:solidFill>
                <a:latin typeface="Arial"/>
              </a:rPr>
              <a:t>The standard method</a:t>
            </a:r>
          </a:p>
          <a:p>
            <a:pPr>
              <a:lnSpc>
                <a:spcPct val="95000"/>
              </a:lnSpc>
              <a:spcBef>
                <a:spcPts val="500"/>
              </a:spcBef>
              <a:spcAft>
                <a:spcPts val="0"/>
              </a:spcAft>
            </a:pPr>
            <a:r>
              <a:rPr sz="1050" b="0">
                <a:solidFill>
                  <a:srgbClr val="262B33"/>
                </a:solidFill>
                <a:latin typeface="Arial"/>
              </a:rPr>
              <a:t>Weighted Jevons on minimum logical fares — the elementary-aggregate method Eurostat and the ONS use for their own price indices.</a:t>
            </a:r>
          </a:p>
        </p:txBody>
      </p:sp>
      <p:sp>
        <p:nvSpPr>
          <p:cNvPr id="15397" name="Rectangle 15396"/>
          <p:cNvSpPr/>
          <p:nvPr/>
        </p:nvSpPr>
        <p:spPr>
          <a:xfrm>
            <a:off x="411480" y="4315968"/>
            <a:ext cx="2656332" cy="640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8" name="Rounded Rectangle 15397"/>
          <p:cNvSpPr/>
          <p:nvPr/>
        </p:nvSpPr>
        <p:spPr>
          <a:xfrm>
            <a:off x="3305556" y="4315968"/>
            <a:ext cx="2656332" cy="1627632"/>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28016" bIns="18288"/>
          <a:lstStyle/>
          <a:p>
            <a:pPr algn="ctr">
              <a:lnSpc>
                <a:spcPct val="95000"/>
              </a:lnSpc>
              <a:spcBef>
                <a:spcPts val="0"/>
              </a:spcBef>
              <a:spcAft>
                <a:spcPts val="0"/>
              </a:spcAft>
            </a:pPr>
            <a:r>
              <a:rPr sz="1200" b="1">
                <a:solidFill>
                  <a:srgbClr val="1B8A5A"/>
                </a:solidFill>
                <a:latin typeface="Arial"/>
              </a:rPr>
              <a:t>Weighting is a matrix</a:t>
            </a:r>
          </a:p>
          <a:p>
            <a:pPr>
              <a:lnSpc>
                <a:spcPct val="95000"/>
              </a:lnSpc>
              <a:spcBef>
                <a:spcPts val="500"/>
              </a:spcBef>
              <a:spcAft>
                <a:spcPts val="0"/>
              </a:spcAft>
            </a:pPr>
            <a:r>
              <a:rPr sz="1050" b="0">
                <a:solidFill>
                  <a:srgbClr val="262B33"/>
                </a:solidFill>
                <a:latin typeface="Arial"/>
              </a:rPr>
              <a:t>Every cell carries route seat share × booking lead time, so Delhi–Mumbai moves the index three times as hard as Delhi–Srinagar.</a:t>
            </a:r>
          </a:p>
        </p:txBody>
      </p:sp>
      <p:sp>
        <p:nvSpPr>
          <p:cNvPr id="15399" name="Rectangle 15398"/>
          <p:cNvSpPr/>
          <p:nvPr/>
        </p:nvSpPr>
        <p:spPr>
          <a:xfrm>
            <a:off x="3305556" y="4315968"/>
            <a:ext cx="2656332" cy="64008"/>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0" name="Rounded Rectangle 15399"/>
          <p:cNvSpPr/>
          <p:nvPr/>
        </p:nvSpPr>
        <p:spPr>
          <a:xfrm>
            <a:off x="6199632" y="4315968"/>
            <a:ext cx="2656332" cy="1627632"/>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28016" bIns="18288"/>
          <a:lstStyle/>
          <a:p>
            <a:pPr algn="ctr">
              <a:lnSpc>
                <a:spcPct val="95000"/>
              </a:lnSpc>
              <a:spcBef>
                <a:spcPts val="0"/>
              </a:spcBef>
              <a:spcAft>
                <a:spcPts val="0"/>
              </a:spcAft>
            </a:pPr>
            <a:r>
              <a:rPr sz="1200" b="1">
                <a:solidFill>
                  <a:srgbClr val="C77700"/>
                </a:solidFill>
                <a:latin typeface="Arial"/>
              </a:rPr>
              <a:t>Admits thin coverage</a:t>
            </a:r>
          </a:p>
          <a:p>
            <a:pPr>
              <a:lnSpc>
                <a:spcPct val="95000"/>
              </a:lnSpc>
              <a:spcBef>
                <a:spcPts val="500"/>
              </a:spcBef>
              <a:spcAft>
                <a:spcPts val="0"/>
              </a:spcAft>
            </a:pPr>
            <a:r>
              <a:rPr sz="1050" b="0">
                <a:solidFill>
                  <a:srgbClr val="262B33"/>
                </a:solidFill>
                <a:latin typeface="Arial"/>
              </a:rPr>
              <a:t>Below 60% basket coverage the figure ships marked provisional, with the reason. An index that admits thin coverage beats one that never does.</a:t>
            </a:r>
          </a:p>
        </p:txBody>
      </p:sp>
      <p:sp>
        <p:nvSpPr>
          <p:cNvPr id="15401" name="Rectangle 15400"/>
          <p:cNvSpPr/>
          <p:nvPr/>
        </p:nvSpPr>
        <p:spPr>
          <a:xfrm>
            <a:off x="6199632" y="4315968"/>
            <a:ext cx="2656332" cy="6400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2" name="Rounded Rectangle 15401"/>
          <p:cNvSpPr/>
          <p:nvPr/>
        </p:nvSpPr>
        <p:spPr>
          <a:xfrm>
            <a:off x="9093708" y="4315968"/>
            <a:ext cx="2656332" cy="1627632"/>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28016" bIns="18288"/>
          <a:lstStyle/>
          <a:p>
            <a:pPr algn="ctr">
              <a:lnSpc>
                <a:spcPct val="95000"/>
              </a:lnSpc>
              <a:spcBef>
                <a:spcPts val="0"/>
              </a:spcBef>
              <a:spcAft>
                <a:spcPts val="0"/>
              </a:spcAft>
            </a:pPr>
            <a:r>
              <a:rPr sz="1200" b="1">
                <a:solidFill>
                  <a:srgbClr val="4B3F8C"/>
                </a:solidFill>
                <a:latin typeface="Arial"/>
              </a:rPr>
              <a:t>Machine-readable</a:t>
            </a:r>
          </a:p>
          <a:p>
            <a:pPr>
              <a:lnSpc>
                <a:spcPct val="95000"/>
              </a:lnSpc>
              <a:spcBef>
                <a:spcPts val="500"/>
              </a:spcBef>
              <a:spcAft>
                <a:spcPts val="0"/>
              </a:spcAft>
            </a:pPr>
            <a:r>
              <a:rPr sz="1050" b="0">
                <a:solidFill>
                  <a:srgbClr val="262B33"/>
                </a:solidFill>
                <a:latin typeface="Arial"/>
              </a:rPr>
              <a:t>One authenticated REST call returns the index with its method, coverage and revision history. Nobody retypes a number off a screen.</a:t>
            </a:r>
          </a:p>
        </p:txBody>
      </p:sp>
      <p:sp>
        <p:nvSpPr>
          <p:cNvPr id="15403" name="Rectangle 15402"/>
          <p:cNvSpPr/>
          <p:nvPr/>
        </p:nvSpPr>
        <p:spPr>
          <a:xfrm>
            <a:off x="9093708" y="4315968"/>
            <a:ext cx="2656332" cy="64008"/>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lgn="ctr"/>
            <a:r>
              <a:rPr sz="3600" b="1">
                <a:solidFill>
                  <a:srgbClr val="1F497D"/>
                </a:solidFill>
                <a:latin typeface="Times New Roman"/>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Fare Enough 101 - @SIH Idea submission</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lang="en-US" dirty="0" sz="1050" b="1"/>
              <a:t>Fare Enough 101</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411480" y="1060704"/>
            <a:ext cx="113385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How a published fare becomes a published index</a:t>
            </a:r>
          </a:p>
        </p:txBody>
      </p:sp>
      <p:sp>
        <p:nvSpPr>
          <p:cNvPr id="17411" name="Rectangle 17410"/>
          <p:cNvSpPr/>
          <p:nvPr/>
        </p:nvSpPr>
        <p:spPr>
          <a:xfrm>
            <a:off x="429768" y="1335024"/>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411480" y="1444752"/>
            <a:ext cx="1719072" cy="1188720"/>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4F81BD"/>
                </a:solidFill>
                <a:latin typeface="Arial"/>
              </a:rPr>
              <a:t>1  Collect</a:t>
            </a:r>
          </a:p>
          <a:p>
            <a:pPr>
              <a:lnSpc>
                <a:spcPct val="95000"/>
              </a:lnSpc>
              <a:spcBef>
                <a:spcPts val="400"/>
              </a:spcBef>
              <a:spcAft>
                <a:spcPts val="0"/>
              </a:spcAft>
            </a:pPr>
            <a:r>
              <a:rPr sz="1400" b="1">
                <a:solidFill>
                  <a:srgbClr val="1F497D"/>
                </a:solidFill>
                <a:latin typeface="Arial"/>
              </a:rPr>
              <a:t>every 10 min</a:t>
            </a:r>
          </a:p>
          <a:p>
            <a:pPr>
              <a:lnSpc>
                <a:spcPct val="95000"/>
              </a:lnSpc>
              <a:spcBef>
                <a:spcPts val="100"/>
              </a:spcBef>
              <a:spcAft>
                <a:spcPts val="0"/>
              </a:spcAft>
            </a:pPr>
            <a:r>
              <a:rPr sz="1050" b="0">
                <a:solidFill>
                  <a:srgbClr val="5A626C"/>
                </a:solidFill>
                <a:latin typeface="Arial"/>
              </a:rPr>
              <a:t>robots-gated</a:t>
            </a:r>
          </a:p>
        </p:txBody>
      </p:sp>
      <p:sp>
        <p:nvSpPr>
          <p:cNvPr id="17413" name="Rectangle 17412"/>
          <p:cNvSpPr/>
          <p:nvPr/>
        </p:nvSpPr>
        <p:spPr>
          <a:xfrm>
            <a:off x="411480" y="1444752"/>
            <a:ext cx="1719072" cy="640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ight Arrow 17413"/>
          <p:cNvSpPr/>
          <p:nvPr/>
        </p:nvSpPr>
        <p:spPr>
          <a:xfrm>
            <a:off x="2144268" y="1947672"/>
            <a:ext cx="173736"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ounded Rectangle 17414"/>
          <p:cNvSpPr/>
          <p:nvPr/>
        </p:nvSpPr>
        <p:spPr>
          <a:xfrm>
            <a:off x="2331720" y="1444752"/>
            <a:ext cx="1719072" cy="1188720"/>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1B8A5A"/>
                </a:solidFill>
                <a:latin typeface="Arial"/>
              </a:rPr>
              <a:t>2  Extract</a:t>
            </a:r>
          </a:p>
          <a:p>
            <a:pPr>
              <a:lnSpc>
                <a:spcPct val="95000"/>
              </a:lnSpc>
              <a:spcBef>
                <a:spcPts val="400"/>
              </a:spcBef>
              <a:spcAft>
                <a:spcPts val="0"/>
              </a:spcAft>
            </a:pPr>
            <a:r>
              <a:rPr sz="1400" b="1">
                <a:solidFill>
                  <a:srgbClr val="1F497D"/>
                </a:solidFill>
                <a:latin typeface="Arial"/>
              </a:rPr>
              <a:t>13,000 → 3,700</a:t>
            </a:r>
          </a:p>
          <a:p>
            <a:pPr>
              <a:lnSpc>
                <a:spcPct val="95000"/>
              </a:lnSpc>
              <a:spcBef>
                <a:spcPts val="100"/>
              </a:spcBef>
              <a:spcAft>
                <a:spcPts val="0"/>
              </a:spcAft>
            </a:pPr>
            <a:r>
              <a:rPr sz="1050" b="0">
                <a:solidFill>
                  <a:srgbClr val="5A626C"/>
                </a:solidFill>
                <a:latin typeface="Arial"/>
              </a:rPr>
              <a:t>chars per page</a:t>
            </a:r>
          </a:p>
        </p:txBody>
      </p:sp>
      <p:sp>
        <p:nvSpPr>
          <p:cNvPr id="17416" name="Rectangle 17415"/>
          <p:cNvSpPr/>
          <p:nvPr/>
        </p:nvSpPr>
        <p:spPr>
          <a:xfrm>
            <a:off x="2331720" y="1444752"/>
            <a:ext cx="1719072" cy="64008"/>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Right Arrow 17416"/>
          <p:cNvSpPr/>
          <p:nvPr/>
        </p:nvSpPr>
        <p:spPr>
          <a:xfrm>
            <a:off x="4064507" y="1947672"/>
            <a:ext cx="173736" cy="182880"/>
          </a:xfrm>
          <a:prstGeom prst="rightArrow">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ounded Rectangle 17417"/>
          <p:cNvSpPr/>
          <p:nvPr/>
        </p:nvSpPr>
        <p:spPr>
          <a:xfrm>
            <a:off x="4251960" y="1444752"/>
            <a:ext cx="1719072" cy="1188720"/>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C77700"/>
                </a:solidFill>
                <a:latin typeface="Arial"/>
              </a:rPr>
              <a:t>3  Validate</a:t>
            </a:r>
          </a:p>
          <a:p>
            <a:pPr>
              <a:lnSpc>
                <a:spcPct val="95000"/>
              </a:lnSpc>
              <a:spcBef>
                <a:spcPts val="400"/>
              </a:spcBef>
              <a:spcAft>
                <a:spcPts val="0"/>
              </a:spcAft>
            </a:pPr>
            <a:r>
              <a:rPr sz="1400" b="1">
                <a:solidFill>
                  <a:srgbClr val="1F497D"/>
                </a:solidFill>
                <a:latin typeface="Arial"/>
              </a:rPr>
              <a:t>38 of 40</a:t>
            </a:r>
          </a:p>
          <a:p>
            <a:pPr>
              <a:lnSpc>
                <a:spcPct val="95000"/>
              </a:lnSpc>
              <a:spcBef>
                <a:spcPts val="100"/>
              </a:spcBef>
              <a:spcAft>
                <a:spcPts val="0"/>
              </a:spcAft>
            </a:pPr>
            <a:r>
              <a:rPr sz="1050" b="0">
                <a:solidFill>
                  <a:srgbClr val="5A626C"/>
                </a:solidFill>
                <a:latin typeface="Arial"/>
              </a:rPr>
              <a:t>flights kept</a:t>
            </a:r>
          </a:p>
        </p:txBody>
      </p:sp>
      <p:sp>
        <p:nvSpPr>
          <p:cNvPr id="17419" name="Rectangle 17418"/>
          <p:cNvSpPr/>
          <p:nvPr/>
        </p:nvSpPr>
        <p:spPr>
          <a:xfrm>
            <a:off x="4251960" y="1444752"/>
            <a:ext cx="1719072" cy="6400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Right Arrow 17419"/>
          <p:cNvSpPr/>
          <p:nvPr/>
        </p:nvSpPr>
        <p:spPr>
          <a:xfrm>
            <a:off x="5984748" y="1947672"/>
            <a:ext cx="173736" cy="182880"/>
          </a:xfrm>
          <a:prstGeom prst="rightArrow">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ounded Rectangle 17420"/>
          <p:cNvSpPr/>
          <p:nvPr/>
        </p:nvSpPr>
        <p:spPr>
          <a:xfrm>
            <a:off x="6172200" y="1444752"/>
            <a:ext cx="1719072" cy="1188720"/>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4B3F8C"/>
                </a:solidFill>
                <a:latin typeface="Arial"/>
              </a:rPr>
              <a:t>4  Clean</a:t>
            </a:r>
          </a:p>
          <a:p>
            <a:pPr>
              <a:lnSpc>
                <a:spcPct val="95000"/>
              </a:lnSpc>
              <a:spcBef>
                <a:spcPts val="400"/>
              </a:spcBef>
              <a:spcAft>
                <a:spcPts val="0"/>
              </a:spcAft>
            </a:pPr>
            <a:r>
              <a:rPr sz="1400" b="1">
                <a:solidFill>
                  <a:srgbClr val="1F497D"/>
                </a:solidFill>
                <a:latin typeface="Arial"/>
              </a:rPr>
              <a:t>min 3 obs</a:t>
            </a:r>
          </a:p>
          <a:p>
            <a:pPr>
              <a:lnSpc>
                <a:spcPct val="95000"/>
              </a:lnSpc>
              <a:spcBef>
                <a:spcPts val="100"/>
              </a:spcBef>
              <a:spcAft>
                <a:spcPts val="0"/>
              </a:spcAft>
            </a:pPr>
            <a:r>
              <a:rPr sz="1050" b="0">
                <a:solidFill>
                  <a:srgbClr val="5A626C"/>
                </a:solidFill>
                <a:latin typeface="Arial"/>
              </a:rPr>
              <a:t>per priced cell</a:t>
            </a:r>
          </a:p>
        </p:txBody>
      </p:sp>
      <p:sp>
        <p:nvSpPr>
          <p:cNvPr id="17422" name="Rectangle 17421"/>
          <p:cNvSpPr/>
          <p:nvPr/>
        </p:nvSpPr>
        <p:spPr>
          <a:xfrm>
            <a:off x="6172200" y="1444752"/>
            <a:ext cx="1719072" cy="64008"/>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Right Arrow 17422"/>
          <p:cNvSpPr/>
          <p:nvPr/>
        </p:nvSpPr>
        <p:spPr>
          <a:xfrm>
            <a:off x="7904988" y="1947672"/>
            <a:ext cx="173736" cy="182880"/>
          </a:xfrm>
          <a:prstGeom prst="rightArrow">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Rounded Rectangle 17423"/>
          <p:cNvSpPr/>
          <p:nvPr/>
        </p:nvSpPr>
        <p:spPr>
          <a:xfrm>
            <a:off x="8092440" y="1444752"/>
            <a:ext cx="1719072" cy="1188720"/>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0E7C86"/>
                </a:solidFill>
                <a:latin typeface="Arial"/>
              </a:rPr>
              <a:t>5  Index</a:t>
            </a:r>
          </a:p>
          <a:p>
            <a:pPr>
              <a:lnSpc>
                <a:spcPct val="95000"/>
              </a:lnSpc>
              <a:spcBef>
                <a:spcPts val="400"/>
              </a:spcBef>
              <a:spcAft>
                <a:spcPts val="0"/>
              </a:spcAft>
            </a:pPr>
            <a:r>
              <a:rPr sz="1400" b="1">
                <a:solidFill>
                  <a:srgbClr val="1F497D"/>
                </a:solidFill>
                <a:latin typeface="Arial"/>
              </a:rPr>
              <a:t>75 cells</a:t>
            </a:r>
          </a:p>
          <a:p>
            <a:pPr>
              <a:lnSpc>
                <a:spcPct val="95000"/>
              </a:lnSpc>
              <a:spcBef>
                <a:spcPts val="100"/>
              </a:spcBef>
              <a:spcAft>
                <a:spcPts val="0"/>
              </a:spcAft>
            </a:pPr>
            <a:r>
              <a:rPr sz="1050" b="0">
                <a:solidFill>
                  <a:srgbClr val="5A626C"/>
                </a:solidFill>
                <a:latin typeface="Arial"/>
              </a:rPr>
              <a:t>weighted Jevons</a:t>
            </a:r>
          </a:p>
        </p:txBody>
      </p:sp>
      <p:sp>
        <p:nvSpPr>
          <p:cNvPr id="17425" name="Rectangle 17424"/>
          <p:cNvSpPr/>
          <p:nvPr/>
        </p:nvSpPr>
        <p:spPr>
          <a:xfrm>
            <a:off x="8092440" y="1444752"/>
            <a:ext cx="1719072" cy="6400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Right Arrow 17425"/>
          <p:cNvSpPr/>
          <p:nvPr/>
        </p:nvSpPr>
        <p:spPr>
          <a:xfrm>
            <a:off x="9825228" y="1947672"/>
            <a:ext cx="173736" cy="18288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Rounded Rectangle 17426"/>
          <p:cNvSpPr/>
          <p:nvPr/>
        </p:nvSpPr>
        <p:spPr>
          <a:xfrm>
            <a:off x="10012680" y="1444752"/>
            <a:ext cx="1719072" cy="1188720"/>
          </a:xfrm>
          <a:prstGeom prst="roundRect">
            <a:avLst>
              <a:gd name="adj" fmla="val 6000"/>
            </a:avLst>
          </a:prstGeom>
          <a:solidFill>
            <a:srgbClr val="F4EA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7A3E6B"/>
                </a:solidFill>
                <a:latin typeface="Arial"/>
              </a:rPr>
              <a:t>6  Publish</a:t>
            </a:r>
          </a:p>
          <a:p>
            <a:pPr>
              <a:lnSpc>
                <a:spcPct val="95000"/>
              </a:lnSpc>
              <a:spcBef>
                <a:spcPts val="400"/>
              </a:spcBef>
              <a:spcAft>
                <a:spcPts val="0"/>
              </a:spcAft>
            </a:pPr>
            <a:r>
              <a:rPr sz="1400" b="1">
                <a:solidFill>
                  <a:srgbClr val="1F497D"/>
                </a:solidFill>
                <a:latin typeface="Arial"/>
              </a:rPr>
              <a:t>2 endpoints</a:t>
            </a:r>
          </a:p>
          <a:p>
            <a:pPr>
              <a:lnSpc>
                <a:spcPct val="95000"/>
              </a:lnSpc>
              <a:spcBef>
                <a:spcPts val="100"/>
              </a:spcBef>
              <a:spcAft>
                <a:spcPts val="0"/>
              </a:spcAft>
            </a:pPr>
            <a:r>
              <a:rPr sz="1050" b="0">
                <a:solidFill>
                  <a:srgbClr val="5A626C"/>
                </a:solidFill>
                <a:latin typeface="Arial"/>
              </a:rPr>
              <a:t>portal + API</a:t>
            </a:r>
          </a:p>
        </p:txBody>
      </p:sp>
      <p:sp>
        <p:nvSpPr>
          <p:cNvPr id="17428" name="Rectangle 17427"/>
          <p:cNvSpPr/>
          <p:nvPr/>
        </p:nvSpPr>
        <p:spPr>
          <a:xfrm>
            <a:off x="10012680" y="1444752"/>
            <a:ext cx="1719072" cy="64008"/>
          </a:xfrm>
          <a:prstGeom prst="rect">
            <a:avLst/>
          </a:prstGeom>
          <a:solidFill>
            <a:srgbClr val="7A3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TextBox 17428"/>
          <p:cNvSpPr txBox="1"/>
          <p:nvPr/>
        </p:nvSpPr>
        <p:spPr>
          <a:xfrm>
            <a:off x="411480" y="2761488"/>
            <a:ext cx="11338560" cy="274320"/>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1F497D"/>
                </a:solidFill>
                <a:latin typeface="Arial"/>
              </a:rPr>
              <a:t>What we keep from one results row — and what we drop</a:t>
            </a:r>
          </a:p>
        </p:txBody>
      </p:sp>
      <p:sp>
        <p:nvSpPr>
          <p:cNvPr id="17430" name="Rectangle 17429"/>
          <p:cNvSpPr/>
          <p:nvPr/>
        </p:nvSpPr>
        <p:spPr>
          <a:xfrm>
            <a:off x="429768" y="3035808"/>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1" name="Rounded Rectangle 17430"/>
          <p:cNvSpPr/>
          <p:nvPr/>
        </p:nvSpPr>
        <p:spPr>
          <a:xfrm>
            <a:off x="411480" y="3145536"/>
            <a:ext cx="11338560" cy="2340864"/>
          </a:xfrm>
          <a:prstGeom prst="roundRect">
            <a:avLst>
              <a:gd name="adj" fmla="val 6000"/>
            </a:avLst>
          </a:prstGeom>
          <a:solidFill>
            <a:srgbClr val="FFFFFF"/>
          </a:solidFill>
          <a:ln w="12700">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2" name="Rectangle 17431"/>
          <p:cNvSpPr/>
          <p:nvPr/>
        </p:nvSpPr>
        <p:spPr>
          <a:xfrm>
            <a:off x="411480" y="3145536"/>
            <a:ext cx="11338560" cy="310896"/>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TextBox 17432"/>
          <p:cNvSpPr txBox="1"/>
          <p:nvPr/>
        </p:nvSpPr>
        <p:spPr>
          <a:xfrm>
            <a:off x="640080" y="3200400"/>
            <a:ext cx="3520440" cy="219456"/>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FFFFFF"/>
                </a:solidFill>
                <a:latin typeface="Arial"/>
              </a:rPr>
              <a:t>ON THE PAGE</a:t>
            </a:r>
          </a:p>
        </p:txBody>
      </p:sp>
      <p:sp>
        <p:nvSpPr>
          <p:cNvPr id="17434" name="TextBox 17433"/>
          <p:cNvSpPr txBox="1"/>
          <p:nvPr/>
        </p:nvSpPr>
        <p:spPr>
          <a:xfrm>
            <a:off x="4343400" y="3200400"/>
            <a:ext cx="3703320" cy="219456"/>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FFFFFF"/>
                </a:solidFill>
                <a:latin typeface="Arial"/>
              </a:rPr>
              <a:t>WHAT WE STORE</a:t>
            </a:r>
          </a:p>
        </p:txBody>
      </p:sp>
      <p:sp>
        <p:nvSpPr>
          <p:cNvPr id="17435" name="TextBox 17434"/>
          <p:cNvSpPr txBox="1"/>
          <p:nvPr/>
        </p:nvSpPr>
        <p:spPr>
          <a:xfrm>
            <a:off x="8183879" y="3200400"/>
            <a:ext cx="3383280" cy="219456"/>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FFFFFF"/>
                </a:solidFill>
                <a:latin typeface="Arial"/>
              </a:rPr>
              <a:t>THE RULE</a:t>
            </a:r>
          </a:p>
        </p:txBody>
      </p:sp>
      <p:sp>
        <p:nvSpPr>
          <p:cNvPr id="17436" name="Rectangle 17435"/>
          <p:cNvSpPr/>
          <p:nvPr/>
        </p:nvSpPr>
        <p:spPr>
          <a:xfrm>
            <a:off x="411480" y="3493008"/>
            <a:ext cx="1133856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7" name="TextBox 17436"/>
          <p:cNvSpPr txBox="1"/>
          <p:nvPr/>
        </p:nvSpPr>
        <p:spPr>
          <a:xfrm>
            <a:off x="640080" y="3529584"/>
            <a:ext cx="3520440" cy="274320"/>
          </a:xfrm>
          <a:prstGeom prst="rect">
            <a:avLst/>
          </a:prstGeom>
          <a:noFill/>
        </p:spPr>
        <p:txBody>
          <a:bodyPr wrap="square" lIns="36576" rIns="36576" tIns="18288" bIns="18288">
            <a:spAutoFit/>
          </a:bodyPr>
          <a:lstStyle/>
          <a:p>
            <a:pPr>
              <a:lnSpc>
                <a:spcPct val="95000"/>
              </a:lnSpc>
              <a:spcBef>
                <a:spcPts val="0"/>
              </a:spcBef>
              <a:spcAft>
                <a:spcPts val="0"/>
              </a:spcAft>
            </a:pPr>
            <a:r>
              <a:rPr sz="1150" b="0">
                <a:solidFill>
                  <a:srgbClr val="262B33"/>
                </a:solidFill>
                <a:latin typeface="Arial"/>
              </a:rPr>
              <a:t>IndiGo · 6E-955 · 20:20 → 22:20</a:t>
            </a:r>
          </a:p>
        </p:txBody>
      </p:sp>
      <p:sp>
        <p:nvSpPr>
          <p:cNvPr id="17438" name="TextBox 17437"/>
          <p:cNvSpPr txBox="1"/>
          <p:nvPr/>
        </p:nvSpPr>
        <p:spPr>
          <a:xfrm>
            <a:off x="4343400" y="3529584"/>
            <a:ext cx="3703320" cy="274320"/>
          </a:xfrm>
          <a:prstGeom prst="rect">
            <a:avLst/>
          </a:prstGeom>
          <a:noFill/>
        </p:spPr>
        <p:txBody>
          <a:bodyPr wrap="square" lIns="36576" rIns="36576" tIns="18288" bIns="18288">
            <a:spAutoFit/>
          </a:bodyPr>
          <a:lstStyle/>
          <a:p>
            <a:pPr>
              <a:lnSpc>
                <a:spcPct val="95000"/>
              </a:lnSpc>
              <a:spcBef>
                <a:spcPts val="0"/>
              </a:spcBef>
              <a:spcAft>
                <a:spcPts val="0"/>
              </a:spcAft>
            </a:pPr>
            <a:r>
              <a:rPr sz="1150" b="1">
                <a:solidFill>
                  <a:srgbClr val="262B33"/>
                </a:solidFill>
                <a:latin typeface="Arial"/>
              </a:rPr>
              <a:t>carrier, flight_number, times</a:t>
            </a:r>
          </a:p>
        </p:txBody>
      </p:sp>
      <p:sp>
        <p:nvSpPr>
          <p:cNvPr id="17439" name="TextBox 17438"/>
          <p:cNvSpPr txBox="1"/>
          <p:nvPr/>
        </p:nvSpPr>
        <p:spPr>
          <a:xfrm>
            <a:off x="8183879" y="3529584"/>
            <a:ext cx="3383280" cy="274320"/>
          </a:xfrm>
          <a:prstGeom prst="rect">
            <a:avLst/>
          </a:prstGeom>
          <a:noFill/>
        </p:spPr>
        <p:txBody>
          <a:bodyPr wrap="square" lIns="36576" rIns="36576" tIns="18288" bIns="18288">
            <a:spAutoFit/>
          </a:bodyPr>
          <a:lstStyle/>
          <a:p>
            <a:pPr>
              <a:lnSpc>
                <a:spcPct val="95000"/>
              </a:lnSpc>
              <a:spcBef>
                <a:spcPts val="0"/>
              </a:spcBef>
              <a:spcAft>
                <a:spcPts val="0"/>
              </a:spcAft>
            </a:pPr>
            <a:r>
              <a:rPr sz="1100" b="0">
                <a:solidFill>
                  <a:srgbClr val="5A626C"/>
                </a:solidFill>
                <a:latin typeface="Arial"/>
              </a:rPr>
              <a:t>the flight's identity</a:t>
            </a:r>
          </a:p>
        </p:txBody>
      </p:sp>
      <p:sp>
        <p:nvSpPr>
          <p:cNvPr id="17440" name="TextBox 17439"/>
          <p:cNvSpPr txBox="1"/>
          <p:nvPr/>
        </p:nvSpPr>
        <p:spPr>
          <a:xfrm>
            <a:off x="640080" y="3913632"/>
            <a:ext cx="3520440" cy="274320"/>
          </a:xfrm>
          <a:prstGeom prst="rect">
            <a:avLst/>
          </a:prstGeom>
          <a:noFill/>
        </p:spPr>
        <p:txBody>
          <a:bodyPr wrap="square" lIns="36576" rIns="36576" tIns="18288" bIns="18288">
            <a:spAutoFit/>
          </a:bodyPr>
          <a:lstStyle/>
          <a:p>
            <a:pPr>
              <a:lnSpc>
                <a:spcPct val="95000"/>
              </a:lnSpc>
              <a:spcBef>
                <a:spcPts val="0"/>
              </a:spcBef>
              <a:spcAft>
                <a:spcPts val="0"/>
              </a:spcAft>
            </a:pPr>
            <a:r>
              <a:rPr sz="1150" b="0">
                <a:solidFill>
                  <a:srgbClr val="262B33"/>
                </a:solidFill>
                <a:latin typeface="Arial"/>
              </a:rPr>
              <a:t>₹6,529</a:t>
            </a:r>
          </a:p>
        </p:txBody>
      </p:sp>
      <p:sp>
        <p:nvSpPr>
          <p:cNvPr id="17441" name="TextBox 17440"/>
          <p:cNvSpPr txBox="1"/>
          <p:nvPr/>
        </p:nvSpPr>
        <p:spPr>
          <a:xfrm>
            <a:off x="4343400" y="3913632"/>
            <a:ext cx="3703320" cy="274320"/>
          </a:xfrm>
          <a:prstGeom prst="rect">
            <a:avLst/>
          </a:prstGeom>
          <a:noFill/>
        </p:spPr>
        <p:txBody>
          <a:bodyPr wrap="square" lIns="36576" rIns="36576" tIns="18288" bIns="18288">
            <a:spAutoFit/>
          </a:bodyPr>
          <a:lstStyle/>
          <a:p>
            <a:pPr>
              <a:lnSpc>
                <a:spcPct val="95000"/>
              </a:lnSpc>
              <a:spcBef>
                <a:spcPts val="0"/>
              </a:spcBef>
              <a:spcAft>
                <a:spcPts val="0"/>
              </a:spcAft>
            </a:pPr>
            <a:r>
              <a:rPr sz="1150" b="1">
                <a:solidFill>
                  <a:srgbClr val="1B8A5A"/>
                </a:solidFill>
                <a:latin typeface="Arial"/>
              </a:rPr>
              <a:t>total_fare = 6529</a:t>
            </a:r>
          </a:p>
        </p:txBody>
      </p:sp>
      <p:sp>
        <p:nvSpPr>
          <p:cNvPr id="17442" name="TextBox 17441"/>
          <p:cNvSpPr txBox="1"/>
          <p:nvPr/>
        </p:nvSpPr>
        <p:spPr>
          <a:xfrm>
            <a:off x="8183879" y="3913632"/>
            <a:ext cx="3383280" cy="274320"/>
          </a:xfrm>
          <a:prstGeom prst="rect">
            <a:avLst/>
          </a:prstGeom>
          <a:noFill/>
        </p:spPr>
        <p:txBody>
          <a:bodyPr wrap="square" lIns="36576" rIns="36576" tIns="18288" bIns="18288">
            <a:spAutoFit/>
          </a:bodyPr>
          <a:lstStyle/>
          <a:p>
            <a:pPr>
              <a:lnSpc>
                <a:spcPct val="95000"/>
              </a:lnSpc>
              <a:spcBef>
                <a:spcPts val="0"/>
              </a:spcBef>
              <a:spcAft>
                <a:spcPts val="0"/>
              </a:spcAft>
            </a:pPr>
            <a:r>
              <a:rPr sz="1100" b="0">
                <a:solidFill>
                  <a:srgbClr val="5A626C"/>
                </a:solidFill>
                <a:latin typeface="Arial"/>
              </a:rPr>
              <a:t>the price a traveller actually pays</a:t>
            </a:r>
          </a:p>
        </p:txBody>
      </p:sp>
      <p:sp>
        <p:nvSpPr>
          <p:cNvPr id="17443" name="Rectangle 17442"/>
          <p:cNvSpPr/>
          <p:nvPr/>
        </p:nvSpPr>
        <p:spPr>
          <a:xfrm>
            <a:off x="411480" y="4261104"/>
            <a:ext cx="1133856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4" name="TextBox 17443"/>
          <p:cNvSpPr txBox="1"/>
          <p:nvPr/>
        </p:nvSpPr>
        <p:spPr>
          <a:xfrm>
            <a:off x="640080" y="4297680"/>
            <a:ext cx="3520440" cy="274320"/>
          </a:xfrm>
          <a:prstGeom prst="rect">
            <a:avLst/>
          </a:prstGeom>
          <a:noFill/>
        </p:spPr>
        <p:txBody>
          <a:bodyPr wrap="square" lIns="36576" rIns="36576" tIns="18288" bIns="18288">
            <a:spAutoFit/>
          </a:bodyPr>
          <a:lstStyle/>
          <a:p>
            <a:pPr>
              <a:lnSpc>
                <a:spcPct val="95000"/>
              </a:lnSpc>
              <a:spcBef>
                <a:spcPts val="0"/>
              </a:spcBef>
              <a:spcAft>
                <a:spcPts val="0"/>
              </a:spcAft>
            </a:pPr>
            <a:r>
              <a:rPr sz="1150" b="0">
                <a:solidFill>
                  <a:srgbClr val="262B33"/>
                </a:solidFill>
                <a:latin typeface="Arial"/>
              </a:rPr>
              <a:t>₹480 off with CTFKSBIC</a:t>
            </a:r>
          </a:p>
        </p:txBody>
      </p:sp>
      <p:sp>
        <p:nvSpPr>
          <p:cNvPr id="17445" name="TextBox 17444"/>
          <p:cNvSpPr txBox="1"/>
          <p:nvPr/>
        </p:nvSpPr>
        <p:spPr>
          <a:xfrm>
            <a:off x="4343400" y="4297680"/>
            <a:ext cx="3703320" cy="274320"/>
          </a:xfrm>
          <a:prstGeom prst="rect">
            <a:avLst/>
          </a:prstGeom>
          <a:noFill/>
        </p:spPr>
        <p:txBody>
          <a:bodyPr wrap="square" lIns="36576" rIns="36576" tIns="18288" bIns="18288">
            <a:spAutoFit/>
          </a:bodyPr>
          <a:lstStyle/>
          <a:p>
            <a:pPr>
              <a:lnSpc>
                <a:spcPct val="95000"/>
              </a:lnSpc>
              <a:spcBef>
                <a:spcPts val="0"/>
              </a:spcBef>
              <a:spcAft>
                <a:spcPts val="0"/>
              </a:spcAft>
            </a:pPr>
            <a:r>
              <a:rPr sz="1150" b="1">
                <a:solidFill>
                  <a:srgbClr val="C0504D"/>
                </a:solidFill>
                <a:latin typeface="Arial"/>
              </a:rPr>
              <a:t>dropped</a:t>
            </a:r>
          </a:p>
        </p:txBody>
      </p:sp>
      <p:sp>
        <p:nvSpPr>
          <p:cNvPr id="17446" name="TextBox 17445"/>
          <p:cNvSpPr txBox="1"/>
          <p:nvPr/>
        </p:nvSpPr>
        <p:spPr>
          <a:xfrm>
            <a:off x="8183879" y="4297680"/>
            <a:ext cx="3383280" cy="274320"/>
          </a:xfrm>
          <a:prstGeom prst="rect">
            <a:avLst/>
          </a:prstGeom>
          <a:noFill/>
        </p:spPr>
        <p:txBody>
          <a:bodyPr wrap="square" lIns="36576" rIns="36576" tIns="18288" bIns="18288">
            <a:spAutoFit/>
          </a:bodyPr>
          <a:lstStyle/>
          <a:p>
            <a:pPr>
              <a:lnSpc>
                <a:spcPct val="95000"/>
              </a:lnSpc>
              <a:spcBef>
                <a:spcPts val="0"/>
              </a:spcBef>
              <a:spcAft>
                <a:spcPts val="0"/>
              </a:spcAft>
            </a:pPr>
            <a:r>
              <a:rPr sz="1100" b="0">
                <a:solidFill>
                  <a:srgbClr val="5A626C"/>
                </a:solidFill>
                <a:latin typeface="Arial"/>
              </a:rPr>
              <a:t>a coupon is not a published fare</a:t>
            </a:r>
          </a:p>
        </p:txBody>
      </p:sp>
      <p:sp>
        <p:nvSpPr>
          <p:cNvPr id="17447" name="TextBox 17446"/>
          <p:cNvSpPr txBox="1"/>
          <p:nvPr/>
        </p:nvSpPr>
        <p:spPr>
          <a:xfrm>
            <a:off x="640080" y="4681728"/>
            <a:ext cx="3520440" cy="274320"/>
          </a:xfrm>
          <a:prstGeom prst="rect">
            <a:avLst/>
          </a:prstGeom>
          <a:noFill/>
        </p:spPr>
        <p:txBody>
          <a:bodyPr wrap="square" lIns="36576" rIns="36576" tIns="18288" bIns="18288">
            <a:spAutoFit/>
          </a:bodyPr>
          <a:lstStyle/>
          <a:p>
            <a:pPr>
              <a:lnSpc>
                <a:spcPct val="95000"/>
              </a:lnSpc>
              <a:spcBef>
                <a:spcPts val="0"/>
              </a:spcBef>
              <a:spcAft>
                <a:spcPts val="0"/>
              </a:spcAft>
            </a:pPr>
            <a:r>
              <a:rPr sz="1150" b="0">
                <a:solidFill>
                  <a:srgbClr val="262B33"/>
                </a:solidFill>
                <a:latin typeface="Arial"/>
              </a:rPr>
              <a:t>no tax or fee breakdown</a:t>
            </a:r>
          </a:p>
        </p:txBody>
      </p:sp>
      <p:sp>
        <p:nvSpPr>
          <p:cNvPr id="17448" name="TextBox 17447"/>
          <p:cNvSpPr txBox="1"/>
          <p:nvPr/>
        </p:nvSpPr>
        <p:spPr>
          <a:xfrm>
            <a:off x="4343400" y="4681728"/>
            <a:ext cx="3703320" cy="274320"/>
          </a:xfrm>
          <a:prstGeom prst="rect">
            <a:avLst/>
          </a:prstGeom>
          <a:noFill/>
        </p:spPr>
        <p:txBody>
          <a:bodyPr wrap="square" lIns="36576" rIns="36576" tIns="18288" bIns="18288">
            <a:spAutoFit/>
          </a:bodyPr>
          <a:lstStyle/>
          <a:p>
            <a:pPr>
              <a:lnSpc>
                <a:spcPct val="95000"/>
              </a:lnSpc>
              <a:spcBef>
                <a:spcPts val="0"/>
              </a:spcBef>
              <a:spcAft>
                <a:spcPts val="0"/>
              </a:spcAft>
            </a:pPr>
            <a:r>
              <a:rPr sz="1150" b="1">
                <a:solidFill>
                  <a:srgbClr val="C77700"/>
                </a:solidFill>
                <a:latin typeface="Arial"/>
              </a:rPr>
              <a:t>stored NULL, never derived</a:t>
            </a:r>
          </a:p>
        </p:txBody>
      </p:sp>
      <p:sp>
        <p:nvSpPr>
          <p:cNvPr id="17449" name="TextBox 17448"/>
          <p:cNvSpPr txBox="1"/>
          <p:nvPr/>
        </p:nvSpPr>
        <p:spPr>
          <a:xfrm>
            <a:off x="8183879" y="4681728"/>
            <a:ext cx="3383280" cy="274320"/>
          </a:xfrm>
          <a:prstGeom prst="rect">
            <a:avLst/>
          </a:prstGeom>
          <a:noFill/>
        </p:spPr>
        <p:txBody>
          <a:bodyPr wrap="square" lIns="36576" rIns="36576" tIns="18288" bIns="18288">
            <a:spAutoFit/>
          </a:bodyPr>
          <a:lstStyle/>
          <a:p>
            <a:pPr>
              <a:lnSpc>
                <a:spcPct val="95000"/>
              </a:lnSpc>
              <a:spcBef>
                <a:spcPts val="0"/>
              </a:spcBef>
              <a:spcAft>
                <a:spcPts val="0"/>
              </a:spcAft>
            </a:pPr>
            <a:r>
              <a:rPr sz="1100" b="0">
                <a:solidFill>
                  <a:srgbClr val="5A626C"/>
                </a:solidFill>
                <a:latin typeface="Arial"/>
              </a:rPr>
              <a:t>a CPI prices the total a household pays</a:t>
            </a:r>
          </a:p>
        </p:txBody>
      </p:sp>
      <p:sp>
        <p:nvSpPr>
          <p:cNvPr id="17450" name="Rectangle 17449"/>
          <p:cNvSpPr/>
          <p:nvPr/>
        </p:nvSpPr>
        <p:spPr>
          <a:xfrm>
            <a:off x="411480" y="5029200"/>
            <a:ext cx="1133856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1" name="TextBox 17450"/>
          <p:cNvSpPr txBox="1"/>
          <p:nvPr/>
        </p:nvSpPr>
        <p:spPr>
          <a:xfrm>
            <a:off x="640080" y="5065776"/>
            <a:ext cx="3520440" cy="274320"/>
          </a:xfrm>
          <a:prstGeom prst="rect">
            <a:avLst/>
          </a:prstGeom>
          <a:noFill/>
        </p:spPr>
        <p:txBody>
          <a:bodyPr wrap="square" lIns="36576" rIns="36576" tIns="18288" bIns="18288">
            <a:spAutoFit/>
          </a:bodyPr>
          <a:lstStyle/>
          <a:p>
            <a:pPr>
              <a:lnSpc>
                <a:spcPct val="95000"/>
              </a:lnSpc>
              <a:spcBef>
                <a:spcPts val="0"/>
              </a:spcBef>
              <a:spcAft>
                <a:spcPts val="0"/>
              </a:spcAft>
            </a:pPr>
            <a:r>
              <a:rPr sz="1150" b="0">
                <a:solidFill>
                  <a:srgbClr val="262B33"/>
                </a:solidFill>
                <a:latin typeface="Arial"/>
              </a:rPr>
              <a:t>— nothing on the page —</a:t>
            </a:r>
          </a:p>
        </p:txBody>
      </p:sp>
      <p:sp>
        <p:nvSpPr>
          <p:cNvPr id="17452" name="TextBox 17451"/>
          <p:cNvSpPr txBox="1"/>
          <p:nvPr/>
        </p:nvSpPr>
        <p:spPr>
          <a:xfrm>
            <a:off x="4343400" y="5065776"/>
            <a:ext cx="3703320" cy="274320"/>
          </a:xfrm>
          <a:prstGeom prst="rect">
            <a:avLst/>
          </a:prstGeom>
          <a:noFill/>
        </p:spPr>
        <p:txBody>
          <a:bodyPr wrap="square" lIns="36576" rIns="36576" tIns="18288" bIns="18288">
            <a:spAutoFit/>
          </a:bodyPr>
          <a:lstStyle/>
          <a:p>
            <a:pPr>
              <a:lnSpc>
                <a:spcPct val="95000"/>
              </a:lnSpc>
              <a:spcBef>
                <a:spcPts val="0"/>
              </a:spcBef>
              <a:spcAft>
                <a:spcPts val="0"/>
              </a:spcAft>
            </a:pPr>
            <a:r>
              <a:rPr sz="1150" b="1">
                <a:solidFill>
                  <a:srgbClr val="4B3F8C"/>
                </a:solidFill>
                <a:latin typeface="Arial"/>
              </a:rPr>
              <a:t>source · scraped_at · model_used</a:t>
            </a:r>
          </a:p>
        </p:txBody>
      </p:sp>
      <p:sp>
        <p:nvSpPr>
          <p:cNvPr id="17453" name="TextBox 17452"/>
          <p:cNvSpPr txBox="1"/>
          <p:nvPr/>
        </p:nvSpPr>
        <p:spPr>
          <a:xfrm>
            <a:off x="8183879" y="5065776"/>
            <a:ext cx="3383280" cy="274320"/>
          </a:xfrm>
          <a:prstGeom prst="rect">
            <a:avLst/>
          </a:prstGeom>
          <a:noFill/>
        </p:spPr>
        <p:txBody>
          <a:bodyPr wrap="square" lIns="36576" rIns="36576" tIns="18288" bIns="18288">
            <a:spAutoFit/>
          </a:bodyPr>
          <a:lstStyle/>
          <a:p>
            <a:pPr>
              <a:lnSpc>
                <a:spcPct val="95000"/>
              </a:lnSpc>
              <a:spcBef>
                <a:spcPts val="0"/>
              </a:spcBef>
              <a:spcAft>
                <a:spcPts val="0"/>
              </a:spcAft>
            </a:pPr>
            <a:r>
              <a:rPr sz="1100" b="0">
                <a:solidFill>
                  <a:srgbClr val="5A626C"/>
                </a:solidFill>
                <a:latin typeface="Arial"/>
              </a:rPr>
              <a:t>so any index figure traces back</a:t>
            </a:r>
          </a:p>
        </p:txBody>
      </p:sp>
      <p:sp>
        <p:nvSpPr>
          <p:cNvPr id="17454" name="Rounded Rectangle 17453"/>
          <p:cNvSpPr/>
          <p:nvPr/>
        </p:nvSpPr>
        <p:spPr>
          <a:xfrm>
            <a:off x="411480" y="5596128"/>
            <a:ext cx="11338560" cy="530352"/>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150" b="1">
                <a:solidFill>
                  <a:srgbClr val="4B3F8C"/>
                </a:solidFill>
                <a:latin typeface="Arial"/>
              </a:rPr>
              <a:t>STACK   Python · Playwright · LLM extraction with failover · Pydantic v2 · Supabase · FastAPI · Cloudflare · cron · source monitor · licensed feed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lgn="ctr"/>
            <a:r>
              <a:rPr sz="3600" b="1">
                <a:solidFill>
                  <a:srgbClr val="1F497D"/>
                </a:solidFill>
                <a:latin typeface="Times New Roman"/>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Fare Enough 101 - @SIH Idea submission</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lang="en-US" dirty="0" sz="1050" b="1"/>
              <a:t>Fare Enough 101</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ounded Rectangle 17409"/>
          <p:cNvSpPr/>
          <p:nvPr/>
        </p:nvSpPr>
        <p:spPr>
          <a:xfrm>
            <a:off x="411480" y="1133856"/>
            <a:ext cx="5760720" cy="1170432"/>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1" name="Rectangle 17410"/>
          <p:cNvSpPr/>
          <p:nvPr/>
        </p:nvSpPr>
        <p:spPr>
          <a:xfrm>
            <a:off x="411480" y="1133856"/>
            <a:ext cx="68580" cy="1170432"/>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TextBox 17411"/>
          <p:cNvSpPr txBox="1"/>
          <p:nvPr/>
        </p:nvSpPr>
        <p:spPr>
          <a:xfrm>
            <a:off x="640080" y="1225296"/>
            <a:ext cx="3840480" cy="987552"/>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4F81BD"/>
                </a:solidFill>
                <a:latin typeface="Arial"/>
              </a:rPr>
              <a:t>Technical feasibility</a:t>
            </a:r>
          </a:p>
          <a:p>
            <a:pPr>
              <a:lnSpc>
                <a:spcPct val="95000"/>
              </a:lnSpc>
              <a:spcBef>
                <a:spcPts val="400"/>
              </a:spcBef>
              <a:spcAft>
                <a:spcPts val="0"/>
              </a:spcAft>
            </a:pPr>
            <a:r>
              <a:rPr sz="1150" b="0">
                <a:solidFill>
                  <a:srgbClr val="262B33"/>
                </a:solidFill>
                <a:latin typeface="Arial"/>
              </a:rPr>
              <a:t>Fares are published continuously on public pages and change all day. The data exists; what is missing is a systematic way to read it.</a:t>
            </a:r>
          </a:p>
        </p:txBody>
      </p:sp>
      <p:sp>
        <p:nvSpPr>
          <p:cNvPr id="17413" name="TextBox 17412"/>
          <p:cNvSpPr txBox="1"/>
          <p:nvPr/>
        </p:nvSpPr>
        <p:spPr>
          <a:xfrm>
            <a:off x="4572000" y="1444752"/>
            <a:ext cx="1481328" cy="56692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4F81BD"/>
                </a:solidFill>
                <a:latin typeface="Arial"/>
              </a:rPr>
              <a:t>USD 18.1 bn</a:t>
            </a:r>
          </a:p>
          <a:p>
            <a:pPr>
              <a:lnSpc>
                <a:spcPct val="95000"/>
              </a:lnSpc>
              <a:spcBef>
                <a:spcPts val="200"/>
              </a:spcBef>
              <a:spcAft>
                <a:spcPts val="0"/>
              </a:spcAft>
            </a:pPr>
            <a:r>
              <a:rPr sz="900" b="0">
                <a:solidFill>
                  <a:srgbClr val="5A626C"/>
                </a:solidFill>
                <a:latin typeface="Arial"/>
              </a:rPr>
              <a:t>market size, 2026</a:t>
            </a:r>
          </a:p>
        </p:txBody>
      </p:sp>
      <p:sp>
        <p:nvSpPr>
          <p:cNvPr id="17414" name="Rounded Rectangle 17413"/>
          <p:cNvSpPr/>
          <p:nvPr/>
        </p:nvSpPr>
        <p:spPr>
          <a:xfrm>
            <a:off x="411480" y="2377440"/>
            <a:ext cx="5760720" cy="1170432"/>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5" name="Rectangle 17414"/>
          <p:cNvSpPr/>
          <p:nvPr/>
        </p:nvSpPr>
        <p:spPr>
          <a:xfrm>
            <a:off x="411480" y="2377440"/>
            <a:ext cx="68580" cy="1170432"/>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640080" y="2468880"/>
            <a:ext cx="3840480" cy="987552"/>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1B8A5A"/>
                </a:solidFill>
                <a:latin typeface="Arial"/>
              </a:rPr>
              <a:t>Operational feasibility</a:t>
            </a:r>
          </a:p>
          <a:p>
            <a:pPr>
              <a:lnSpc>
                <a:spcPct val="95000"/>
              </a:lnSpc>
              <a:spcBef>
                <a:spcPts val="400"/>
              </a:spcBef>
              <a:spcAft>
                <a:spcPts val="0"/>
              </a:spcAft>
            </a:pPr>
            <a:r>
              <a:rPr sz="1150" b="0">
                <a:solidFill>
                  <a:srgbClr val="262B33"/>
                </a:solidFill>
                <a:latin typeface="Arial"/>
              </a:rPr>
              <a:t>A fixed basket of the 15 busiest city pairs across 148 operational airports tracks the traffic that actually moves the index.</a:t>
            </a:r>
          </a:p>
        </p:txBody>
      </p:sp>
      <p:sp>
        <p:nvSpPr>
          <p:cNvPr id="17417" name="TextBox 17416"/>
          <p:cNvSpPr txBox="1"/>
          <p:nvPr/>
        </p:nvSpPr>
        <p:spPr>
          <a:xfrm>
            <a:off x="4572000" y="2688336"/>
            <a:ext cx="1481328" cy="56692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1B8A5A"/>
                </a:solidFill>
                <a:latin typeface="Arial"/>
              </a:rPr>
              <a:t>164 million</a:t>
            </a:r>
          </a:p>
          <a:p>
            <a:pPr>
              <a:lnSpc>
                <a:spcPct val="95000"/>
              </a:lnSpc>
              <a:spcBef>
                <a:spcPts val="200"/>
              </a:spcBef>
              <a:spcAft>
                <a:spcPts val="0"/>
              </a:spcAft>
            </a:pPr>
            <a:r>
              <a:rPr sz="900" b="0">
                <a:solidFill>
                  <a:srgbClr val="5A626C"/>
                </a:solidFill>
                <a:latin typeface="Arial"/>
              </a:rPr>
              <a:t>domestic passengers</a:t>
            </a:r>
          </a:p>
        </p:txBody>
      </p:sp>
      <p:sp>
        <p:nvSpPr>
          <p:cNvPr id="17418" name="Rounded Rectangle 17417"/>
          <p:cNvSpPr/>
          <p:nvPr/>
        </p:nvSpPr>
        <p:spPr>
          <a:xfrm>
            <a:off x="411480" y="3621024"/>
            <a:ext cx="5760720" cy="1170432"/>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9" name="Rectangle 17418"/>
          <p:cNvSpPr/>
          <p:nvPr/>
        </p:nvSpPr>
        <p:spPr>
          <a:xfrm>
            <a:off x="411480" y="3621024"/>
            <a:ext cx="68580" cy="1170432"/>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640080" y="3712463"/>
            <a:ext cx="3840480" cy="987552"/>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C77700"/>
                </a:solidFill>
                <a:latin typeface="Arial"/>
              </a:rPr>
              <a:t>Economic feasibility</a:t>
            </a:r>
          </a:p>
          <a:p>
            <a:pPr>
              <a:lnSpc>
                <a:spcPct val="95000"/>
              </a:lnSpc>
              <a:spcBef>
                <a:spcPts val="400"/>
              </a:spcBef>
              <a:spcAft>
                <a:spcPts val="0"/>
              </a:spcAft>
            </a:pPr>
            <a:r>
              <a:rPr sz="1150" b="0">
                <a:solidFill>
                  <a:srgbClr val="262B33"/>
                </a:solidFill>
                <a:latin typeface="Arial"/>
              </a:rPr>
              <a:t>Free tiers throughout, about two minutes of compute per cycle. MoSPI visits shops monthly; this observes 144 times a day.</a:t>
            </a:r>
          </a:p>
        </p:txBody>
      </p:sp>
      <p:sp>
        <p:nvSpPr>
          <p:cNvPr id="17421" name="TextBox 17420"/>
          <p:cNvSpPr txBox="1"/>
          <p:nvPr/>
        </p:nvSpPr>
        <p:spPr>
          <a:xfrm>
            <a:off x="4572000" y="3931920"/>
            <a:ext cx="1481328" cy="56692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C77700"/>
                </a:solidFill>
                <a:latin typeface="Arial"/>
              </a:rPr>
              <a:t>₹0</a:t>
            </a:r>
          </a:p>
          <a:p>
            <a:pPr>
              <a:lnSpc>
                <a:spcPct val="95000"/>
              </a:lnSpc>
              <a:spcBef>
                <a:spcPts val="200"/>
              </a:spcBef>
              <a:spcAft>
                <a:spcPts val="0"/>
              </a:spcAft>
            </a:pPr>
            <a:r>
              <a:rPr sz="900" b="0">
                <a:solidFill>
                  <a:srgbClr val="5A626C"/>
                </a:solidFill>
                <a:latin typeface="Arial"/>
              </a:rPr>
              <a:t>a month to run</a:t>
            </a:r>
          </a:p>
        </p:txBody>
      </p:sp>
      <p:sp>
        <p:nvSpPr>
          <p:cNvPr id="17422" name="Rounded Rectangle 17421"/>
          <p:cNvSpPr/>
          <p:nvPr/>
        </p:nvSpPr>
        <p:spPr>
          <a:xfrm>
            <a:off x="411480" y="4864608"/>
            <a:ext cx="5760720" cy="1170432"/>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3" name="Rectangle 17422"/>
          <p:cNvSpPr/>
          <p:nvPr/>
        </p:nvSpPr>
        <p:spPr>
          <a:xfrm>
            <a:off x="411480" y="4864608"/>
            <a:ext cx="68580" cy="1170432"/>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TextBox 17423"/>
          <p:cNvSpPr txBox="1"/>
          <p:nvPr/>
        </p:nvSpPr>
        <p:spPr>
          <a:xfrm>
            <a:off x="640080" y="4956048"/>
            <a:ext cx="3840480" cy="987552"/>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4B3F8C"/>
                </a:solidFill>
                <a:latin typeface="Arial"/>
              </a:rPr>
              <a:t>Regulatory feasibility</a:t>
            </a:r>
          </a:p>
          <a:p>
            <a:pPr>
              <a:lnSpc>
                <a:spcPct val="95000"/>
              </a:lnSpc>
              <a:spcBef>
                <a:spcPts val="400"/>
              </a:spcBef>
              <a:spcAft>
                <a:spcPts val="0"/>
              </a:spcAft>
            </a:pPr>
            <a:r>
              <a:rPr sz="1150" b="0">
                <a:solidFill>
                  <a:srgbClr val="262B33"/>
                </a:solidFill>
                <a:latin typeface="Arial"/>
              </a:rPr>
              <a:t>Eurostat's HICP guidance names air fares as a scrapeable category and the ONS has published on it since 2014 — precedented, not experimental.</a:t>
            </a:r>
          </a:p>
        </p:txBody>
      </p:sp>
      <p:sp>
        <p:nvSpPr>
          <p:cNvPr id="17425" name="TextBox 17424"/>
          <p:cNvSpPr txBox="1"/>
          <p:nvPr/>
        </p:nvSpPr>
        <p:spPr>
          <a:xfrm>
            <a:off x="4572000" y="5175504"/>
            <a:ext cx="1481328" cy="56692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4B3F8C"/>
                </a:solidFill>
                <a:latin typeface="Arial"/>
              </a:rPr>
              <a:t>since 2014</a:t>
            </a:r>
          </a:p>
          <a:p>
            <a:pPr>
              <a:lnSpc>
                <a:spcPct val="95000"/>
              </a:lnSpc>
              <a:spcBef>
                <a:spcPts val="200"/>
              </a:spcBef>
              <a:spcAft>
                <a:spcPts val="0"/>
              </a:spcAft>
            </a:pPr>
            <a:r>
              <a:rPr sz="900" b="0">
                <a:solidFill>
                  <a:srgbClr val="5A626C"/>
                </a:solidFill>
                <a:latin typeface="Arial"/>
              </a:rPr>
              <a:t>ONS precedent</a:t>
            </a:r>
          </a:p>
        </p:txBody>
      </p:sp>
      <p:sp>
        <p:nvSpPr>
          <p:cNvPr id="17426" name="TextBox 17425"/>
          <p:cNvSpPr txBox="1"/>
          <p:nvPr/>
        </p:nvSpPr>
        <p:spPr>
          <a:xfrm>
            <a:off x="6400800" y="1133856"/>
            <a:ext cx="53949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Risks, and what we did about them</a:t>
            </a:r>
          </a:p>
        </p:txBody>
      </p:sp>
      <p:sp>
        <p:nvSpPr>
          <p:cNvPr id="17427" name="Rectangle 17426"/>
          <p:cNvSpPr/>
          <p:nvPr/>
        </p:nvSpPr>
        <p:spPr>
          <a:xfrm>
            <a:off x="6419088" y="1408176"/>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Rounded Rectangle 17427"/>
          <p:cNvSpPr/>
          <p:nvPr/>
        </p:nvSpPr>
        <p:spPr>
          <a:xfrm>
            <a:off x="6400800" y="1554480"/>
            <a:ext cx="5394960" cy="804672"/>
          </a:xfrm>
          <a:prstGeom prst="roundRect">
            <a:avLst>
              <a:gd name="adj" fmla="val 6000"/>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9" name="Rectangle 17428"/>
          <p:cNvSpPr/>
          <p:nvPr/>
        </p:nvSpPr>
        <p:spPr>
          <a:xfrm>
            <a:off x="6400800" y="1554480"/>
            <a:ext cx="50292" cy="8046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0" name="TextBox 17429"/>
          <p:cNvSpPr txBox="1"/>
          <p:nvPr/>
        </p:nvSpPr>
        <p:spPr>
          <a:xfrm>
            <a:off x="6583680" y="1636776"/>
            <a:ext cx="5120640" cy="65836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A63A3A"/>
                </a:solidFill>
                <a:latin typeface="Arial"/>
              </a:rPr>
              <a:t>One portal was usable — then it closed</a:t>
            </a:r>
          </a:p>
          <a:p>
            <a:pPr>
              <a:lnSpc>
                <a:spcPct val="95000"/>
              </a:lnSpc>
              <a:spcBef>
                <a:spcPts val="400"/>
              </a:spcBef>
              <a:spcAft>
                <a:spcPts val="0"/>
              </a:spcAft>
            </a:pPr>
            <a:r>
              <a:rPr sz="1150" b="0">
                <a:solidFill>
                  <a:srgbClr val="262B33"/>
                </a:solidFill>
                <a:latin typeface="Arial"/>
              </a:rPr>
              <a:t>Cleartrip put its search API behind Akamai on 15 Sep. We did not evade it.</a:t>
            </a:r>
          </a:p>
        </p:txBody>
      </p:sp>
      <p:sp>
        <p:nvSpPr>
          <p:cNvPr id="17431" name="Rounded Rectangle 17430"/>
          <p:cNvSpPr/>
          <p:nvPr/>
        </p:nvSpPr>
        <p:spPr>
          <a:xfrm>
            <a:off x="6400800" y="2432304"/>
            <a:ext cx="5394960" cy="804672"/>
          </a:xfrm>
          <a:prstGeom prst="roundRect">
            <a:avLst>
              <a:gd name="adj" fmla="val 6000"/>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2" name="Rectangle 17431"/>
          <p:cNvSpPr/>
          <p:nvPr/>
        </p:nvSpPr>
        <p:spPr>
          <a:xfrm>
            <a:off x="6400800" y="2432304"/>
            <a:ext cx="50292" cy="8046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TextBox 17432"/>
          <p:cNvSpPr txBox="1"/>
          <p:nvPr/>
        </p:nvSpPr>
        <p:spPr>
          <a:xfrm>
            <a:off x="6583680" y="2514600"/>
            <a:ext cx="5120640" cy="65836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A63A3A"/>
                </a:solidFill>
                <a:latin typeface="Arial"/>
              </a:rPr>
              <a:t>A source can vanish overnight</a:t>
            </a:r>
          </a:p>
          <a:p>
            <a:pPr>
              <a:lnSpc>
                <a:spcPct val="95000"/>
              </a:lnSpc>
              <a:spcBef>
                <a:spcPts val="400"/>
              </a:spcBef>
              <a:spcAft>
                <a:spcPts val="0"/>
              </a:spcAft>
            </a:pPr>
            <a:r>
              <a:rPr sz="1150" b="0">
                <a:solidFill>
                  <a:srgbClr val="262B33"/>
                </a:solidFill>
                <a:latin typeface="Arial"/>
              </a:rPr>
              <a:t>A monitor scores every run and names the failure: a layout change is repaired, a block is never evaded.</a:t>
            </a:r>
          </a:p>
        </p:txBody>
      </p:sp>
      <p:sp>
        <p:nvSpPr>
          <p:cNvPr id="17434" name="Rounded Rectangle 17433"/>
          <p:cNvSpPr/>
          <p:nvPr/>
        </p:nvSpPr>
        <p:spPr>
          <a:xfrm>
            <a:off x="6400800" y="3310128"/>
            <a:ext cx="5394960" cy="804672"/>
          </a:xfrm>
          <a:prstGeom prst="roundRect">
            <a:avLst>
              <a:gd name="adj" fmla="val 6000"/>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5" name="Rectangle 17434"/>
          <p:cNvSpPr/>
          <p:nvPr/>
        </p:nvSpPr>
        <p:spPr>
          <a:xfrm>
            <a:off x="6400800" y="3310128"/>
            <a:ext cx="50292" cy="8046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6" name="TextBox 17435"/>
          <p:cNvSpPr txBox="1"/>
          <p:nvPr/>
        </p:nvSpPr>
        <p:spPr>
          <a:xfrm>
            <a:off x="6583680" y="3392424"/>
            <a:ext cx="5120640" cy="65836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A63A3A"/>
                </a:solidFill>
                <a:latin typeface="Arial"/>
              </a:rPr>
              <a:t>So the data now comes from a licensed feed</a:t>
            </a:r>
          </a:p>
          <a:p>
            <a:pPr>
              <a:lnSpc>
                <a:spcPct val="95000"/>
              </a:lnSpc>
              <a:spcBef>
                <a:spcPts val="400"/>
              </a:spcBef>
              <a:spcAft>
                <a:spcPts val="0"/>
              </a:spcAft>
            </a:pPr>
            <a:r>
              <a:rPr sz="1150" b="0">
                <a:solidFill>
                  <a:srgbClr val="262B33"/>
                </a:solidFill>
                <a:latin typeface="Arial"/>
              </a:rPr>
              <a:t>Aviasales Data API, one-way fares, every 10 minutes — its own segment, not spliced onto the old series.</a:t>
            </a:r>
          </a:p>
        </p:txBody>
      </p:sp>
      <p:sp>
        <p:nvSpPr>
          <p:cNvPr id="17437" name="Rounded Rectangle 17436"/>
          <p:cNvSpPr/>
          <p:nvPr/>
        </p:nvSpPr>
        <p:spPr>
          <a:xfrm>
            <a:off x="6400800" y="4187952"/>
            <a:ext cx="5394960" cy="804672"/>
          </a:xfrm>
          <a:prstGeom prst="roundRect">
            <a:avLst>
              <a:gd name="adj" fmla="val 6000"/>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8" name="Rectangle 17437"/>
          <p:cNvSpPr/>
          <p:nvPr/>
        </p:nvSpPr>
        <p:spPr>
          <a:xfrm>
            <a:off x="6400800" y="4187952"/>
            <a:ext cx="50292" cy="8046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9" name="TextBox 17438"/>
          <p:cNvSpPr txBox="1"/>
          <p:nvPr/>
        </p:nvSpPr>
        <p:spPr>
          <a:xfrm>
            <a:off x="6583680" y="4270248"/>
            <a:ext cx="5120640" cy="65836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A63A3A"/>
                </a:solidFill>
                <a:latin typeface="Arial"/>
              </a:rPr>
              <a:t>Models get retired without notice</a:t>
            </a:r>
          </a:p>
          <a:p>
            <a:pPr>
              <a:lnSpc>
                <a:spcPct val="95000"/>
              </a:lnSpc>
              <a:spcBef>
                <a:spcPts val="400"/>
              </a:spcBef>
              <a:spcAft>
                <a:spcPts val="0"/>
              </a:spcAft>
            </a:pPr>
            <a:r>
              <a:rPr sz="1150" b="0">
                <a:solidFill>
                  <a:srgbClr val="262B33"/>
                </a:solidFill>
                <a:latin typeface="Arial"/>
              </a:rPr>
              <a:t>Three died during this build. Extraction now fails over automatically.</a:t>
            </a:r>
          </a:p>
        </p:txBody>
      </p:sp>
      <p:sp>
        <p:nvSpPr>
          <p:cNvPr id="17440" name="TextBox 17439"/>
          <p:cNvSpPr txBox="1"/>
          <p:nvPr/>
        </p:nvSpPr>
        <p:spPr>
          <a:xfrm>
            <a:off x="6400800" y="5102352"/>
            <a:ext cx="53949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What it costs to run</a:t>
            </a:r>
          </a:p>
        </p:txBody>
      </p:sp>
      <p:sp>
        <p:nvSpPr>
          <p:cNvPr id="17441" name="Rectangle 17440"/>
          <p:cNvSpPr/>
          <p:nvPr/>
        </p:nvSpPr>
        <p:spPr>
          <a:xfrm>
            <a:off x="6419088" y="5376672"/>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2" name="Rounded Rectangle 17441"/>
          <p:cNvSpPr/>
          <p:nvPr/>
        </p:nvSpPr>
        <p:spPr>
          <a:xfrm>
            <a:off x="6400800" y="5449824"/>
            <a:ext cx="5394960" cy="877824"/>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3" name="TextBox 17442"/>
          <p:cNvSpPr txBox="1"/>
          <p:nvPr/>
        </p:nvSpPr>
        <p:spPr>
          <a:xfrm>
            <a:off x="6547104" y="5504688"/>
            <a:ext cx="3291840" cy="155448"/>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Collection · Playwright</a:t>
            </a:r>
          </a:p>
        </p:txBody>
      </p:sp>
      <p:sp>
        <p:nvSpPr>
          <p:cNvPr id="17444" name="TextBox 17443"/>
          <p:cNvSpPr txBox="1"/>
          <p:nvPr/>
        </p:nvSpPr>
        <p:spPr>
          <a:xfrm>
            <a:off x="9921240" y="5504688"/>
            <a:ext cx="1737360" cy="155448"/>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5A626C"/>
                </a:solidFill>
                <a:latin typeface="Arial"/>
              </a:rPr>
              <a:t>₹0 · free tier</a:t>
            </a:r>
          </a:p>
        </p:txBody>
      </p:sp>
      <p:sp>
        <p:nvSpPr>
          <p:cNvPr id="17445" name="TextBox 17444"/>
          <p:cNvSpPr txBox="1"/>
          <p:nvPr/>
        </p:nvSpPr>
        <p:spPr>
          <a:xfrm>
            <a:off x="6547104" y="5660136"/>
            <a:ext cx="3291840" cy="155448"/>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Extraction · NVIDIA NIM LLM</a:t>
            </a:r>
          </a:p>
        </p:txBody>
      </p:sp>
      <p:sp>
        <p:nvSpPr>
          <p:cNvPr id="17446" name="TextBox 17445"/>
          <p:cNvSpPr txBox="1"/>
          <p:nvPr/>
        </p:nvSpPr>
        <p:spPr>
          <a:xfrm>
            <a:off x="9921240" y="5660136"/>
            <a:ext cx="1737360" cy="155448"/>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5A626C"/>
                </a:solidFill>
                <a:latin typeface="Arial"/>
              </a:rPr>
              <a:t>₹0 · free tier</a:t>
            </a:r>
          </a:p>
        </p:txBody>
      </p:sp>
      <p:sp>
        <p:nvSpPr>
          <p:cNvPr id="17447" name="TextBox 17446"/>
          <p:cNvSpPr txBox="1"/>
          <p:nvPr/>
        </p:nvSpPr>
        <p:spPr>
          <a:xfrm>
            <a:off x="6547104" y="5815583"/>
            <a:ext cx="3291840" cy="155448"/>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Storage · Supabase Postgres</a:t>
            </a:r>
          </a:p>
        </p:txBody>
      </p:sp>
      <p:sp>
        <p:nvSpPr>
          <p:cNvPr id="17448" name="TextBox 17447"/>
          <p:cNvSpPr txBox="1"/>
          <p:nvPr/>
        </p:nvSpPr>
        <p:spPr>
          <a:xfrm>
            <a:off x="9921240" y="5815583"/>
            <a:ext cx="1737360" cy="155448"/>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5A626C"/>
                </a:solidFill>
                <a:latin typeface="Arial"/>
              </a:rPr>
              <a:t>₹0 · free tier</a:t>
            </a:r>
          </a:p>
        </p:txBody>
      </p:sp>
      <p:sp>
        <p:nvSpPr>
          <p:cNvPr id="17449" name="TextBox 17448"/>
          <p:cNvSpPr txBox="1"/>
          <p:nvPr/>
        </p:nvSpPr>
        <p:spPr>
          <a:xfrm>
            <a:off x="6547104" y="5971031"/>
            <a:ext cx="3291840" cy="155448"/>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Publication · Render + Cloudflare</a:t>
            </a:r>
          </a:p>
        </p:txBody>
      </p:sp>
      <p:sp>
        <p:nvSpPr>
          <p:cNvPr id="17450" name="TextBox 17449"/>
          <p:cNvSpPr txBox="1"/>
          <p:nvPr/>
        </p:nvSpPr>
        <p:spPr>
          <a:xfrm>
            <a:off x="9921240" y="5971031"/>
            <a:ext cx="1737360" cy="155448"/>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5A626C"/>
                </a:solidFill>
                <a:latin typeface="Arial"/>
              </a:rPr>
              <a:t>₹0 · free tier</a:t>
            </a:r>
          </a:p>
        </p:txBody>
      </p:sp>
      <p:sp>
        <p:nvSpPr>
          <p:cNvPr id="17451" name="TextBox 17450"/>
          <p:cNvSpPr txBox="1"/>
          <p:nvPr/>
        </p:nvSpPr>
        <p:spPr>
          <a:xfrm>
            <a:off x="6547104" y="6126479"/>
            <a:ext cx="3291840" cy="155448"/>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1B8A5A"/>
                </a:solidFill>
                <a:latin typeface="Arial"/>
              </a:rPr>
              <a:t>Total · 144 cycles a day</a:t>
            </a:r>
          </a:p>
        </p:txBody>
      </p:sp>
      <p:sp>
        <p:nvSpPr>
          <p:cNvPr id="17452" name="TextBox 17451"/>
          <p:cNvSpPr txBox="1"/>
          <p:nvPr/>
        </p:nvSpPr>
        <p:spPr>
          <a:xfrm>
            <a:off x="9921240" y="6126479"/>
            <a:ext cx="1737360" cy="155448"/>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1B8A5A"/>
                </a:solidFill>
                <a:latin typeface="Arial"/>
              </a:rPr>
              <a:t>₹0 a month</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lgn="ctr"/>
            <a:r>
              <a:rPr sz="3600" b="1">
                <a:solidFill>
                  <a:srgbClr val="1F497D"/>
                </a:solidFill>
                <a:latin typeface="Times New Roman"/>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Fare Enough 101 - @SIH Idea submission</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lang="en-US" dirty="0" sz="1050" b="1"/>
              <a:t>Fare Enough 101</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411480" y="1097280"/>
            <a:ext cx="113385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From a fare on a screen to a figure in the CPI</a:t>
            </a:r>
          </a:p>
        </p:txBody>
      </p:sp>
      <p:sp>
        <p:nvSpPr>
          <p:cNvPr id="17411" name="Rectangle 17410"/>
          <p:cNvSpPr/>
          <p:nvPr/>
        </p:nvSpPr>
        <p:spPr>
          <a:xfrm>
            <a:off x="429768" y="1371600"/>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411480" y="1554480"/>
            <a:ext cx="1700784" cy="1298448"/>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200" b="1">
                <a:solidFill>
                  <a:srgbClr val="4F81BD"/>
                </a:solidFill>
                <a:latin typeface="Arial"/>
              </a:rPr>
              <a:t>1</a:t>
            </a:r>
          </a:p>
          <a:p>
            <a:pPr>
              <a:lnSpc>
                <a:spcPct val="95000"/>
              </a:lnSpc>
              <a:spcBef>
                <a:spcPts val="200"/>
              </a:spcBef>
              <a:spcAft>
                <a:spcPts val="0"/>
              </a:spcAft>
            </a:pPr>
            <a:r>
              <a:rPr sz="1300" b="1">
                <a:solidFill>
                  <a:srgbClr val="1F497D"/>
                </a:solidFill>
                <a:latin typeface="Arial"/>
              </a:rPr>
              <a:t>A fare is published</a:t>
            </a:r>
          </a:p>
          <a:p>
            <a:pPr>
              <a:lnSpc>
                <a:spcPct val="95000"/>
              </a:lnSpc>
              <a:spcBef>
                <a:spcPts val="400"/>
              </a:spcBef>
              <a:spcAft>
                <a:spcPts val="0"/>
              </a:spcAft>
            </a:pPr>
            <a:r>
              <a:rPr sz="1050" b="0">
                <a:solidFill>
                  <a:srgbClr val="5A626C"/>
                </a:solidFill>
                <a:latin typeface="Arial"/>
              </a:rPr>
              <a:t>A portal shows a price for one route, one date</a:t>
            </a:r>
          </a:p>
        </p:txBody>
      </p:sp>
      <p:sp>
        <p:nvSpPr>
          <p:cNvPr id="17413" name="Right Arrow 17412"/>
          <p:cNvSpPr/>
          <p:nvPr/>
        </p:nvSpPr>
        <p:spPr>
          <a:xfrm>
            <a:off x="2130552"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ounded Rectangle 17413"/>
          <p:cNvSpPr/>
          <p:nvPr/>
        </p:nvSpPr>
        <p:spPr>
          <a:xfrm>
            <a:off x="2331720" y="1554480"/>
            <a:ext cx="1700784" cy="1298448"/>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200" b="1">
                <a:solidFill>
                  <a:srgbClr val="1B8A5A"/>
                </a:solidFill>
                <a:latin typeface="Arial"/>
              </a:rPr>
              <a:t>2</a:t>
            </a:r>
          </a:p>
          <a:p>
            <a:pPr>
              <a:lnSpc>
                <a:spcPct val="95000"/>
              </a:lnSpc>
              <a:spcBef>
                <a:spcPts val="200"/>
              </a:spcBef>
              <a:spcAft>
                <a:spcPts val="0"/>
              </a:spcAft>
            </a:pPr>
            <a:r>
              <a:rPr sz="1300" b="1">
                <a:solidFill>
                  <a:srgbClr val="1F497D"/>
                </a:solidFill>
                <a:latin typeface="Arial"/>
              </a:rPr>
              <a:t>We observe it</a:t>
            </a:r>
          </a:p>
          <a:p>
            <a:pPr>
              <a:lnSpc>
                <a:spcPct val="95000"/>
              </a:lnSpc>
              <a:spcBef>
                <a:spcPts val="400"/>
              </a:spcBef>
              <a:spcAft>
                <a:spcPts val="0"/>
              </a:spcAft>
            </a:pPr>
            <a:r>
              <a:rPr sz="1050" b="0">
                <a:solidFill>
                  <a:srgbClr val="5A626C"/>
                </a:solidFill>
                <a:latin typeface="Arial"/>
              </a:rPr>
              <a:t>Read every 10 minutes, robots-checked</a:t>
            </a:r>
          </a:p>
        </p:txBody>
      </p:sp>
      <p:sp>
        <p:nvSpPr>
          <p:cNvPr id="17415" name="Right Arrow 17414"/>
          <p:cNvSpPr/>
          <p:nvPr/>
        </p:nvSpPr>
        <p:spPr>
          <a:xfrm>
            <a:off x="4050791"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Rounded Rectangle 17415"/>
          <p:cNvSpPr/>
          <p:nvPr/>
        </p:nvSpPr>
        <p:spPr>
          <a:xfrm>
            <a:off x="4251960" y="1554480"/>
            <a:ext cx="1700784" cy="1298448"/>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200" b="1">
                <a:solidFill>
                  <a:srgbClr val="C77700"/>
                </a:solidFill>
                <a:latin typeface="Arial"/>
              </a:rPr>
              <a:t>3</a:t>
            </a:r>
          </a:p>
          <a:p>
            <a:pPr>
              <a:lnSpc>
                <a:spcPct val="95000"/>
              </a:lnSpc>
              <a:spcBef>
                <a:spcPts val="200"/>
              </a:spcBef>
              <a:spcAft>
                <a:spcPts val="0"/>
              </a:spcAft>
            </a:pPr>
            <a:r>
              <a:rPr sz="1300" b="1">
                <a:solidFill>
                  <a:srgbClr val="1F497D"/>
                </a:solidFill>
                <a:latin typeface="Arial"/>
              </a:rPr>
              <a:t>It becomes a price</a:t>
            </a:r>
          </a:p>
          <a:p>
            <a:pPr>
              <a:lnSpc>
                <a:spcPct val="95000"/>
              </a:lnSpc>
              <a:spcBef>
                <a:spcPts val="400"/>
              </a:spcBef>
              <a:spcAft>
                <a:spcPts val="0"/>
              </a:spcAft>
            </a:pPr>
            <a:r>
              <a:rPr sz="1050" b="0">
                <a:solidFill>
                  <a:srgbClr val="5A626C"/>
                </a:solidFill>
                <a:latin typeface="Arial"/>
              </a:rPr>
              <a:t>Cheapest logical fare per route × lead time</a:t>
            </a:r>
          </a:p>
        </p:txBody>
      </p:sp>
      <p:sp>
        <p:nvSpPr>
          <p:cNvPr id="17417" name="Right Arrow 17416"/>
          <p:cNvSpPr/>
          <p:nvPr/>
        </p:nvSpPr>
        <p:spPr>
          <a:xfrm>
            <a:off x="5971032"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ounded Rectangle 17417"/>
          <p:cNvSpPr/>
          <p:nvPr/>
        </p:nvSpPr>
        <p:spPr>
          <a:xfrm>
            <a:off x="6172200" y="1554480"/>
            <a:ext cx="1700784" cy="1298448"/>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200" b="1">
                <a:solidFill>
                  <a:srgbClr val="4B3F8C"/>
                </a:solidFill>
                <a:latin typeface="Arial"/>
              </a:rPr>
              <a:t>4</a:t>
            </a:r>
          </a:p>
          <a:p>
            <a:pPr>
              <a:lnSpc>
                <a:spcPct val="95000"/>
              </a:lnSpc>
              <a:spcBef>
                <a:spcPts val="200"/>
              </a:spcBef>
              <a:spcAft>
                <a:spcPts val="0"/>
              </a:spcAft>
            </a:pPr>
            <a:r>
              <a:rPr sz="1300" b="1">
                <a:solidFill>
                  <a:srgbClr val="1F497D"/>
                </a:solidFill>
                <a:latin typeface="Arial"/>
              </a:rPr>
              <a:t>It becomes an index</a:t>
            </a:r>
          </a:p>
          <a:p>
            <a:pPr>
              <a:lnSpc>
                <a:spcPct val="95000"/>
              </a:lnSpc>
              <a:spcBef>
                <a:spcPts val="400"/>
              </a:spcBef>
              <a:spcAft>
                <a:spcPts val="0"/>
              </a:spcAft>
            </a:pPr>
            <a:r>
              <a:rPr sz="1050" b="0">
                <a:solidFill>
                  <a:srgbClr val="5A626C"/>
                </a:solidFill>
                <a:latin typeface="Arial"/>
              </a:rPr>
              <a:t>Weighted Jevons across the basket</a:t>
            </a:r>
          </a:p>
        </p:txBody>
      </p:sp>
      <p:sp>
        <p:nvSpPr>
          <p:cNvPr id="17419" name="Right Arrow 17418"/>
          <p:cNvSpPr/>
          <p:nvPr/>
        </p:nvSpPr>
        <p:spPr>
          <a:xfrm>
            <a:off x="7891272"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Rounded Rectangle 17419"/>
          <p:cNvSpPr/>
          <p:nvPr/>
        </p:nvSpPr>
        <p:spPr>
          <a:xfrm>
            <a:off x="8092440" y="1554480"/>
            <a:ext cx="1700784" cy="1298448"/>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200" b="1">
                <a:solidFill>
                  <a:srgbClr val="0E7C86"/>
                </a:solidFill>
                <a:latin typeface="Arial"/>
              </a:rPr>
              <a:t>5</a:t>
            </a:r>
          </a:p>
          <a:p>
            <a:pPr>
              <a:lnSpc>
                <a:spcPct val="95000"/>
              </a:lnSpc>
              <a:spcBef>
                <a:spcPts val="200"/>
              </a:spcBef>
              <a:spcAft>
                <a:spcPts val="0"/>
              </a:spcAft>
            </a:pPr>
            <a:r>
              <a:rPr sz="1300" b="1">
                <a:solidFill>
                  <a:srgbClr val="1F497D"/>
                </a:solidFill>
                <a:latin typeface="Arial"/>
              </a:rPr>
              <a:t>MoSPI ingests it</a:t>
            </a:r>
          </a:p>
          <a:p>
            <a:pPr>
              <a:lnSpc>
                <a:spcPct val="95000"/>
              </a:lnSpc>
              <a:spcBef>
                <a:spcPts val="400"/>
              </a:spcBef>
              <a:spcAft>
                <a:spcPts val="0"/>
              </a:spcAft>
            </a:pPr>
            <a:r>
              <a:rPr sz="1050" b="0">
                <a:solidFill>
                  <a:srgbClr val="5A626C"/>
                </a:solidFill>
                <a:latin typeface="Arial"/>
              </a:rPr>
              <a:t>REST API with method and coverage</a:t>
            </a:r>
          </a:p>
        </p:txBody>
      </p:sp>
      <p:sp>
        <p:nvSpPr>
          <p:cNvPr id="17421" name="Right Arrow 17420"/>
          <p:cNvSpPr/>
          <p:nvPr/>
        </p:nvSpPr>
        <p:spPr>
          <a:xfrm>
            <a:off x="9811511"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Rounded Rectangle 17421"/>
          <p:cNvSpPr/>
          <p:nvPr/>
        </p:nvSpPr>
        <p:spPr>
          <a:xfrm>
            <a:off x="10012680" y="1554480"/>
            <a:ext cx="1700784" cy="1298448"/>
          </a:xfrm>
          <a:prstGeom prst="roundRect">
            <a:avLst>
              <a:gd name="adj" fmla="val 6000"/>
            </a:avLst>
          </a:prstGeom>
          <a:solidFill>
            <a:srgbClr val="F4EA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200" b="1">
                <a:solidFill>
                  <a:srgbClr val="7A3E6B"/>
                </a:solidFill>
                <a:latin typeface="Arial"/>
              </a:rPr>
              <a:t>6</a:t>
            </a:r>
          </a:p>
          <a:p>
            <a:pPr>
              <a:lnSpc>
                <a:spcPct val="95000"/>
              </a:lnSpc>
              <a:spcBef>
                <a:spcPts val="200"/>
              </a:spcBef>
              <a:spcAft>
                <a:spcPts val="0"/>
              </a:spcAft>
            </a:pPr>
            <a:r>
              <a:rPr sz="1300" b="1">
                <a:solidFill>
                  <a:srgbClr val="1F497D"/>
                </a:solidFill>
                <a:latin typeface="Arial"/>
              </a:rPr>
              <a:t>CPI reflects reality</a:t>
            </a:r>
          </a:p>
          <a:p>
            <a:pPr>
              <a:lnSpc>
                <a:spcPct val="95000"/>
              </a:lnSpc>
              <a:spcBef>
                <a:spcPts val="400"/>
              </a:spcBef>
              <a:spcAft>
                <a:spcPts val="0"/>
              </a:spcAft>
            </a:pPr>
            <a:r>
              <a:rPr sz="1050" b="0">
                <a:solidFill>
                  <a:srgbClr val="5A626C"/>
                </a:solidFill>
                <a:latin typeface="Arial"/>
              </a:rPr>
              <a:t>Transport sub-index from 144 daily reads</a:t>
            </a:r>
          </a:p>
        </p:txBody>
      </p:sp>
      <p:pic>
        <p:nvPicPr>
          <p:cNvPr id="17423" name="Picture 17422" descr="portal-shot.png"/>
          <p:cNvPicPr>
            <a:picLocks noChangeAspect="1"/>
          </p:cNvPicPr>
          <p:nvPr/>
        </p:nvPicPr>
        <p:blipFill>
          <a:blip r:embed="rId4"/>
          <a:stretch>
            <a:fillRect/>
          </a:stretch>
        </p:blipFill>
        <p:spPr>
          <a:xfrm>
            <a:off x="411480" y="3072384"/>
            <a:ext cx="5669280" cy="2755900"/>
          </a:xfrm>
          <a:prstGeom prst="rect">
            <a:avLst/>
          </a:prstGeom>
        </p:spPr>
      </p:pic>
      <p:sp>
        <p:nvSpPr>
          <p:cNvPr id="17424" name="TextBox 17423"/>
          <p:cNvSpPr txBox="1"/>
          <p:nvPr/>
        </p:nvSpPr>
        <p:spPr>
          <a:xfrm>
            <a:off x="411480" y="5852160"/>
            <a:ext cx="5669280" cy="402336"/>
          </a:xfrm>
          <a:prstGeom prst="rect">
            <a:avLst/>
          </a:prstGeom>
          <a:noFill/>
        </p:spPr>
        <p:txBody>
          <a:bodyPr wrap="square" lIns="36576" rIns="36576">
            <a:spAutoFit/>
          </a:bodyPr>
          <a:lstStyle/>
          <a:p>
            <a:pPr>
              <a:lnSpc>
                <a:spcPct val="100000"/>
              </a:lnSpc>
              <a:spcBef>
                <a:spcPts val="0"/>
              </a:spcBef>
              <a:spcAft>
                <a:spcPts val="0"/>
              </a:spcAft>
            </a:pPr>
            <a:r>
              <a:rPr sz="1200" b="1">
                <a:solidFill>
                  <a:srgbClr val="4F81BD"/>
                </a:solidFill>
                <a:latin typeface="Arial"/>
                <a:hlinkClick r:id="rId5"/>
              </a:rPr>
              <a:t>Live: apix-portal.pages.dev</a:t>
            </a:r>
          </a:p>
          <a:p>
            <a:pPr>
              <a:lnSpc>
                <a:spcPct val="100000"/>
              </a:lnSpc>
              <a:spcBef>
                <a:spcPts val="200"/>
              </a:spcBef>
              <a:spcAft>
                <a:spcPts val="0"/>
              </a:spcAft>
            </a:pPr>
            <a:r>
              <a:rPr sz="1100" b="0">
                <a:solidFill>
                  <a:srgbClr val="5A626C"/>
                </a:solidFill>
                <a:latin typeface="Arial"/>
              </a:rPr>
              <a:t>Headline inflation, release status and method on one page.</a:t>
            </a:r>
          </a:p>
        </p:txBody>
      </p:sp>
      <p:sp>
        <p:nvSpPr>
          <p:cNvPr id="17425" name="TextBox 17424"/>
          <p:cNvSpPr txBox="1"/>
          <p:nvPr/>
        </p:nvSpPr>
        <p:spPr>
          <a:xfrm>
            <a:off x="6400800" y="3035808"/>
            <a:ext cx="53949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Who benefits, and how</a:t>
            </a:r>
          </a:p>
        </p:txBody>
      </p:sp>
      <p:sp>
        <p:nvSpPr>
          <p:cNvPr id="17426" name="Rectangle 17425"/>
          <p:cNvSpPr/>
          <p:nvPr/>
        </p:nvSpPr>
        <p:spPr>
          <a:xfrm>
            <a:off x="6419088" y="3310127"/>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Rounded Rectangle 17426"/>
          <p:cNvSpPr/>
          <p:nvPr/>
        </p:nvSpPr>
        <p:spPr>
          <a:xfrm>
            <a:off x="6400800" y="3438144"/>
            <a:ext cx="1691640" cy="292608"/>
          </a:xfrm>
          <a:prstGeom prst="roundRect">
            <a:avLst>
              <a:gd name="adj" fmla="val 6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100" b="1">
                <a:solidFill>
                  <a:srgbClr val="FFFFFF"/>
                </a:solidFill>
                <a:latin typeface="Arial"/>
              </a:rPr>
              <a:t>MoSPI / NSO</a:t>
            </a:r>
          </a:p>
        </p:txBody>
      </p:sp>
      <p:sp>
        <p:nvSpPr>
          <p:cNvPr id="17428" name="TextBox 17427"/>
          <p:cNvSpPr txBox="1"/>
          <p:nvPr/>
        </p:nvSpPr>
        <p:spPr>
          <a:xfrm>
            <a:off x="8275320" y="3419856"/>
            <a:ext cx="3520440" cy="457200"/>
          </a:xfrm>
          <a:prstGeom prst="rect">
            <a:avLst/>
          </a:prstGeom>
          <a:noFill/>
        </p:spPr>
        <p:txBody>
          <a:bodyPr wrap="square" lIns="36576" rIns="36576" tIns="18288" bIns="18288">
            <a:spAutoFit/>
          </a:bodyPr>
          <a:lstStyle/>
          <a:p>
            <a:pPr>
              <a:lnSpc>
                <a:spcPct val="95000"/>
              </a:lnSpc>
              <a:spcBef>
                <a:spcPts val="0"/>
              </a:spcBef>
              <a:spcAft>
                <a:spcPts val="0"/>
              </a:spcAft>
            </a:pPr>
            <a:r>
              <a:rPr sz="1150" b="0">
                <a:solidFill>
                  <a:srgbClr val="262B33"/>
                </a:solidFill>
                <a:latin typeface="Arial"/>
              </a:rPr>
              <a:t>A defensible transport input, recomputable from stored micro-data</a:t>
            </a:r>
          </a:p>
        </p:txBody>
      </p:sp>
      <p:sp>
        <p:nvSpPr>
          <p:cNvPr id="17429" name="Rounded Rectangle 17428"/>
          <p:cNvSpPr/>
          <p:nvPr/>
        </p:nvSpPr>
        <p:spPr>
          <a:xfrm>
            <a:off x="6400800" y="3913631"/>
            <a:ext cx="1691640" cy="292608"/>
          </a:xfrm>
          <a:prstGeom prst="roundRect">
            <a:avLst>
              <a:gd name="adj" fmla="val 6000"/>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100" b="1">
                <a:solidFill>
                  <a:srgbClr val="FFFFFF"/>
                </a:solidFill>
                <a:latin typeface="Arial"/>
              </a:rPr>
              <a:t>DGCA and policy</a:t>
            </a:r>
          </a:p>
        </p:txBody>
      </p:sp>
      <p:sp>
        <p:nvSpPr>
          <p:cNvPr id="17430" name="TextBox 17429"/>
          <p:cNvSpPr txBox="1"/>
          <p:nvPr/>
        </p:nvSpPr>
        <p:spPr>
          <a:xfrm>
            <a:off x="8275320" y="3895344"/>
            <a:ext cx="3520440" cy="457200"/>
          </a:xfrm>
          <a:prstGeom prst="rect">
            <a:avLst/>
          </a:prstGeom>
          <a:noFill/>
        </p:spPr>
        <p:txBody>
          <a:bodyPr wrap="square" lIns="36576" rIns="36576" tIns="18288" bIns="18288">
            <a:spAutoFit/>
          </a:bodyPr>
          <a:lstStyle/>
          <a:p>
            <a:pPr>
              <a:lnSpc>
                <a:spcPct val="95000"/>
              </a:lnSpc>
              <a:spcBef>
                <a:spcPts val="0"/>
              </a:spcBef>
              <a:spcAft>
                <a:spcPts val="0"/>
              </a:spcAft>
            </a:pPr>
            <a:r>
              <a:rPr sz="1150" b="0">
                <a:solidFill>
                  <a:srgbClr val="262B33"/>
                </a:solidFill>
                <a:latin typeface="Arial"/>
              </a:rPr>
              <a:t>Route-level fare behaviour nobody currently publishes</a:t>
            </a:r>
          </a:p>
        </p:txBody>
      </p:sp>
      <p:sp>
        <p:nvSpPr>
          <p:cNvPr id="17431" name="Rounded Rectangle 17430"/>
          <p:cNvSpPr/>
          <p:nvPr/>
        </p:nvSpPr>
        <p:spPr>
          <a:xfrm>
            <a:off x="6400800" y="4389119"/>
            <a:ext cx="1691640" cy="292608"/>
          </a:xfrm>
          <a:prstGeom prst="roundRect">
            <a:avLst>
              <a:gd name="adj" fmla="val 6000"/>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100" b="1">
                <a:solidFill>
                  <a:srgbClr val="FFFFFF"/>
                </a:solidFill>
                <a:latin typeface="Arial"/>
              </a:rPr>
              <a:t>Citizens</a:t>
            </a:r>
          </a:p>
        </p:txBody>
      </p:sp>
      <p:sp>
        <p:nvSpPr>
          <p:cNvPr id="17432" name="TextBox 17431"/>
          <p:cNvSpPr txBox="1"/>
          <p:nvPr/>
        </p:nvSpPr>
        <p:spPr>
          <a:xfrm>
            <a:off x="8275320" y="4370831"/>
            <a:ext cx="3520440" cy="457200"/>
          </a:xfrm>
          <a:prstGeom prst="rect">
            <a:avLst/>
          </a:prstGeom>
          <a:noFill/>
        </p:spPr>
        <p:txBody>
          <a:bodyPr wrap="square" lIns="36576" rIns="36576" tIns="18288" bIns="18288">
            <a:spAutoFit/>
          </a:bodyPr>
          <a:lstStyle/>
          <a:p>
            <a:pPr>
              <a:lnSpc>
                <a:spcPct val="95000"/>
              </a:lnSpc>
              <a:spcBef>
                <a:spcPts val="0"/>
              </a:spcBef>
              <a:spcAft>
                <a:spcPts val="0"/>
              </a:spcAft>
            </a:pPr>
            <a:r>
              <a:rPr sz="1150" b="0">
                <a:solidFill>
                  <a:srgbClr val="262B33"/>
                </a:solidFill>
                <a:latin typeface="Arial"/>
              </a:rPr>
              <a:t>A public record of what air travel actually costs over time</a:t>
            </a:r>
          </a:p>
        </p:txBody>
      </p:sp>
      <p:sp>
        <p:nvSpPr>
          <p:cNvPr id="17433" name="Rounded Rectangle 17432"/>
          <p:cNvSpPr/>
          <p:nvPr/>
        </p:nvSpPr>
        <p:spPr>
          <a:xfrm>
            <a:off x="6400800" y="4864607"/>
            <a:ext cx="1691640" cy="292608"/>
          </a:xfrm>
          <a:prstGeom prst="roundRect">
            <a:avLst>
              <a:gd name="adj" fmla="val 6000"/>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100" b="1">
                <a:solidFill>
                  <a:srgbClr val="FFFFFF"/>
                </a:solidFill>
                <a:latin typeface="Arial"/>
              </a:rPr>
              <a:t>Researchers</a:t>
            </a:r>
          </a:p>
        </p:txBody>
      </p:sp>
      <p:sp>
        <p:nvSpPr>
          <p:cNvPr id="17434" name="TextBox 17433"/>
          <p:cNvSpPr txBox="1"/>
          <p:nvPr/>
        </p:nvSpPr>
        <p:spPr>
          <a:xfrm>
            <a:off x="8275320" y="4846319"/>
            <a:ext cx="3520440" cy="457200"/>
          </a:xfrm>
          <a:prstGeom prst="rect">
            <a:avLst/>
          </a:prstGeom>
          <a:noFill/>
        </p:spPr>
        <p:txBody>
          <a:bodyPr wrap="square" lIns="36576" rIns="36576" tIns="18288" bIns="18288">
            <a:spAutoFit/>
          </a:bodyPr>
          <a:lstStyle/>
          <a:p>
            <a:pPr>
              <a:lnSpc>
                <a:spcPct val="95000"/>
              </a:lnSpc>
              <a:spcBef>
                <a:spcPts val="0"/>
              </a:spcBef>
              <a:spcAft>
                <a:spcPts val="0"/>
              </a:spcAft>
            </a:pPr>
            <a:r>
              <a:rPr sz="1150" b="0">
                <a:solidFill>
                  <a:srgbClr val="262B33"/>
                </a:solidFill>
                <a:latin typeface="Arial"/>
              </a:rPr>
              <a:t>An open, reproducible price series for a market that has none</a:t>
            </a:r>
          </a:p>
        </p:txBody>
      </p:sp>
      <p:sp>
        <p:nvSpPr>
          <p:cNvPr id="17435" name="Rounded Rectangle 17434"/>
          <p:cNvSpPr/>
          <p:nvPr/>
        </p:nvSpPr>
        <p:spPr>
          <a:xfrm>
            <a:off x="6400800" y="5303520"/>
            <a:ext cx="1700784" cy="566928"/>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6" name="TextBox 17435"/>
          <p:cNvSpPr txBox="1"/>
          <p:nvPr/>
        </p:nvSpPr>
        <p:spPr>
          <a:xfrm>
            <a:off x="6492240" y="5340096"/>
            <a:ext cx="1517904" cy="493776"/>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B8A5A"/>
                </a:solidFill>
                <a:latin typeface="Arial"/>
              </a:rPr>
              <a:t>144 ×</a:t>
            </a:r>
          </a:p>
          <a:p>
            <a:pPr>
              <a:lnSpc>
                <a:spcPct val="95000"/>
              </a:lnSpc>
              <a:spcBef>
                <a:spcPts val="100"/>
              </a:spcBef>
              <a:spcAft>
                <a:spcPts val="0"/>
              </a:spcAft>
            </a:pPr>
            <a:r>
              <a:rPr sz="850" b="0">
                <a:solidFill>
                  <a:srgbClr val="5A626C"/>
                </a:solidFill>
                <a:latin typeface="Arial"/>
              </a:rPr>
              <a:t>observations a day, not one a month</a:t>
            </a:r>
          </a:p>
        </p:txBody>
      </p:sp>
      <p:sp>
        <p:nvSpPr>
          <p:cNvPr id="17437" name="Rounded Rectangle 17436"/>
          <p:cNvSpPr/>
          <p:nvPr/>
        </p:nvSpPr>
        <p:spPr>
          <a:xfrm>
            <a:off x="8247888" y="5303520"/>
            <a:ext cx="1700784" cy="566928"/>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8" name="TextBox 17437"/>
          <p:cNvSpPr txBox="1"/>
          <p:nvPr/>
        </p:nvSpPr>
        <p:spPr>
          <a:xfrm>
            <a:off x="8339327" y="5340096"/>
            <a:ext cx="1517904" cy="493776"/>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4B3F8C"/>
                </a:solidFill>
                <a:latin typeface="Arial"/>
              </a:rPr>
              <a:t>75</a:t>
            </a:r>
          </a:p>
          <a:p>
            <a:pPr>
              <a:lnSpc>
                <a:spcPct val="95000"/>
              </a:lnSpc>
              <a:spcBef>
                <a:spcPts val="100"/>
              </a:spcBef>
              <a:spcAft>
                <a:spcPts val="0"/>
              </a:spcAft>
            </a:pPr>
            <a:r>
              <a:rPr sz="850" b="0">
                <a:solidFill>
                  <a:srgbClr val="5A626C"/>
                </a:solidFill>
                <a:latin typeface="Arial"/>
              </a:rPr>
              <a:t>priced cells behind every figure</a:t>
            </a:r>
          </a:p>
        </p:txBody>
      </p:sp>
      <p:sp>
        <p:nvSpPr>
          <p:cNvPr id="17439" name="Rounded Rectangle 17438"/>
          <p:cNvSpPr/>
          <p:nvPr/>
        </p:nvSpPr>
        <p:spPr>
          <a:xfrm>
            <a:off x="10094976" y="5303520"/>
            <a:ext cx="1700784" cy="566928"/>
          </a:xfrm>
          <a:prstGeom prst="roundRect">
            <a:avLst>
              <a:gd name="adj" fmla="val 6000"/>
            </a:avLst>
          </a:prstGeom>
          <a:solidFill>
            <a:srgbClr val="F4EA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0" name="TextBox 17439"/>
          <p:cNvSpPr txBox="1"/>
          <p:nvPr/>
        </p:nvSpPr>
        <p:spPr>
          <a:xfrm>
            <a:off x="10186415" y="5340096"/>
            <a:ext cx="1517904" cy="493776"/>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0E7C86"/>
                </a:solidFill>
                <a:latin typeface="Arial"/>
              </a:rPr>
              <a:t>T+0</a:t>
            </a:r>
          </a:p>
          <a:p>
            <a:pPr>
              <a:lnSpc>
                <a:spcPct val="95000"/>
              </a:lnSpc>
              <a:spcBef>
                <a:spcPts val="100"/>
              </a:spcBef>
              <a:spcAft>
                <a:spcPts val="0"/>
              </a:spcAft>
            </a:pPr>
            <a:r>
              <a:rPr sz="850" b="0">
                <a:solidFill>
                  <a:srgbClr val="5A626C"/>
                </a:solidFill>
                <a:latin typeface="Arial"/>
              </a:rPr>
              <a:t>same-day index, not a two-week lag</a:t>
            </a:r>
          </a:p>
        </p:txBody>
      </p:sp>
      <p:sp>
        <p:nvSpPr>
          <p:cNvPr id="17441" name="Rounded Rectangle 17440"/>
          <p:cNvSpPr/>
          <p:nvPr/>
        </p:nvSpPr>
        <p:spPr>
          <a:xfrm>
            <a:off x="6400800" y="5925312"/>
            <a:ext cx="5394960" cy="402336"/>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100" b="0">
                <a:solidFill>
                  <a:srgbClr val="262B33"/>
                </a:solidFill>
                <a:latin typeface="Arial"/>
              </a:rPr>
              <a:t>Our promise — replace one manual price visit a month with 144 automated observations a day, at zero marginal cost.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lgn="ctr"/>
            <a:r>
              <a:rPr sz="3600" b="1">
                <a:solidFill>
                  <a:srgbClr val="1F497D"/>
                </a:solidFill>
                <a:latin typeface="Times New Roman"/>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Fare Enough 101 - @SIH Idea submission</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lang="en-US" dirty="0" sz="1050" b="1"/>
              <a:t>Fare Enough 101</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411480" y="1060704"/>
            <a:ext cx="5486400" cy="219456"/>
          </a:xfrm>
          <a:prstGeom prst="rect">
            <a:avLst/>
          </a:prstGeom>
          <a:noFill/>
        </p:spPr>
        <p:txBody>
          <a:bodyPr wrap="square" lIns="36576" rIns="36576" tIns="18288" bIns="18288">
            <a:spAutoFit/>
          </a:bodyPr>
          <a:lstStyle/>
          <a:p>
            <a:pPr>
              <a:lnSpc>
                <a:spcPct val="95000"/>
              </a:lnSpc>
              <a:spcBef>
                <a:spcPts val="0"/>
              </a:spcBef>
              <a:spcAft>
                <a:spcPts val="0"/>
              </a:spcAft>
            </a:pPr>
            <a:r>
              <a:rPr sz="950" b="1">
                <a:solidFill>
                  <a:srgbClr val="5A626C"/>
                </a:solidFill>
                <a:latin typeface="Arial"/>
              </a:rPr>
              <a:t>EVERY CARD IS CLICKABLE — THE UNDERLINED LINK OPENS THE SOURCE</a:t>
            </a:r>
          </a:p>
        </p:txBody>
      </p:sp>
      <p:sp>
        <p:nvSpPr>
          <p:cNvPr id="17411" name="Rounded Rectangle 17410">
            <a:hlinkClick r:id="rId4"/>
          </p:cNvPr>
          <p:cNvSpPr/>
          <p:nvPr/>
        </p:nvSpPr>
        <p:spPr>
          <a:xfrm>
            <a:off x="411480" y="1335024"/>
            <a:ext cx="3703320" cy="1627632"/>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2" name="Rectangle 17411"/>
          <p:cNvSpPr/>
          <p:nvPr/>
        </p:nvSpPr>
        <p:spPr>
          <a:xfrm>
            <a:off x="411480" y="1335024"/>
            <a:ext cx="3703320" cy="640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3" name="TextBox 17412"/>
          <p:cNvSpPr txBox="1"/>
          <p:nvPr/>
        </p:nvSpPr>
        <p:spPr>
          <a:xfrm>
            <a:off x="557784" y="1463040"/>
            <a:ext cx="3410712" cy="120700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4F81BD"/>
                </a:solidFill>
                <a:latin typeface="Arial"/>
              </a:rPr>
              <a:t>Method — why Jevons</a:t>
            </a:r>
          </a:p>
          <a:p>
            <a:pPr>
              <a:lnSpc>
                <a:spcPct val="95000"/>
              </a:lnSpc>
              <a:spcBef>
                <a:spcPts val="400"/>
              </a:spcBef>
              <a:spcAft>
                <a:spcPts val="0"/>
              </a:spcAft>
            </a:pPr>
            <a:r>
              <a:rPr sz="1150" b="0">
                <a:solidFill>
                  <a:srgbClr val="262B33"/>
                </a:solidFill>
                <a:latin typeface="Arial"/>
              </a:rPr>
              <a:t>Eurostat, Practical guidelines on web scraping for the HICP (2020). Names air fares explicitly as a scraped category.</a:t>
            </a:r>
          </a:p>
        </p:txBody>
      </p:sp>
      <p:sp>
        <p:nvSpPr>
          <p:cNvPr id="17414" name="TextBox 17413"/>
          <p:cNvSpPr txBox="1"/>
          <p:nvPr/>
        </p:nvSpPr>
        <p:spPr>
          <a:xfrm>
            <a:off x="1956816" y="2706624"/>
            <a:ext cx="2011680" cy="219456"/>
          </a:xfrm>
          <a:prstGeom prst="rect">
            <a:avLst/>
          </a:prstGeom>
          <a:noFill/>
        </p:spPr>
        <p:txBody>
          <a:bodyPr wrap="none" lIns="0" rIns="0" tIns="0" bIns="0">
            <a:spAutoFit/>
          </a:bodyPr>
          <a:lstStyle/>
          <a:p>
            <a:pPr algn="r"/>
            <a:r>
              <a:rPr sz="1050" b="1" u="sng">
                <a:solidFill>
                  <a:srgbClr val="4F81BD"/>
                </a:solidFill>
                <a:latin typeface="Arial"/>
                <a:hlinkClick r:id="rId4"/>
              </a:rPr>
              <a:t>Eurostat guidance</a:t>
            </a:r>
          </a:p>
        </p:txBody>
      </p:sp>
      <p:sp>
        <p:nvSpPr>
          <p:cNvPr id="17415" name="Rounded Rectangle 17414">
            <a:hlinkClick r:id="rId5"/>
          </p:cNvPr>
          <p:cNvSpPr/>
          <p:nvPr/>
        </p:nvSpPr>
        <p:spPr>
          <a:xfrm>
            <a:off x="4370832" y="1335024"/>
            <a:ext cx="3703320" cy="1627632"/>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6" name="Rectangle 17415"/>
          <p:cNvSpPr/>
          <p:nvPr/>
        </p:nvSpPr>
        <p:spPr>
          <a:xfrm>
            <a:off x="4370832" y="1335024"/>
            <a:ext cx="3703320" cy="64008"/>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TextBox 17416"/>
          <p:cNvSpPr txBox="1"/>
          <p:nvPr/>
        </p:nvSpPr>
        <p:spPr>
          <a:xfrm>
            <a:off x="4517136" y="1463040"/>
            <a:ext cx="3410712" cy="120700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1B8A5A"/>
                </a:solidFill>
                <a:latin typeface="Arial"/>
              </a:rPr>
              <a:t>Precedent — already done</a:t>
            </a:r>
          </a:p>
          <a:p>
            <a:pPr>
              <a:lnSpc>
                <a:spcPct val="95000"/>
              </a:lnSpc>
              <a:spcBef>
                <a:spcPts val="400"/>
              </a:spcBef>
              <a:spcAft>
                <a:spcPts val="0"/>
              </a:spcAft>
            </a:pPr>
            <a:r>
              <a:rPr sz="1150" b="0">
                <a:solidFill>
                  <a:srgbClr val="262B33"/>
                </a:solidFill>
                <a:latin typeface="Arial"/>
              </a:rPr>
              <a:t>ONS ran a web-scraping programme for consumer prices from 2014, Eurostat-funded from 2015.</a:t>
            </a:r>
          </a:p>
        </p:txBody>
      </p:sp>
      <p:sp>
        <p:nvSpPr>
          <p:cNvPr id="17418" name="TextBox 17417"/>
          <p:cNvSpPr txBox="1"/>
          <p:nvPr/>
        </p:nvSpPr>
        <p:spPr>
          <a:xfrm>
            <a:off x="5916168" y="2706624"/>
            <a:ext cx="2011680" cy="219456"/>
          </a:xfrm>
          <a:prstGeom prst="rect">
            <a:avLst/>
          </a:prstGeom>
          <a:noFill/>
        </p:spPr>
        <p:txBody>
          <a:bodyPr wrap="none" lIns="0" rIns="0" tIns="0" bIns="0">
            <a:spAutoFit/>
          </a:bodyPr>
          <a:lstStyle/>
          <a:p>
            <a:pPr algn="r"/>
            <a:r>
              <a:rPr sz="1050" b="1" u="sng">
                <a:solidFill>
                  <a:srgbClr val="1B8A5A"/>
                </a:solidFill>
                <a:latin typeface="Arial"/>
                <a:hlinkClick r:id="rId5"/>
              </a:rPr>
              <a:t>ONS study</a:t>
            </a:r>
          </a:p>
        </p:txBody>
      </p:sp>
      <p:sp>
        <p:nvSpPr>
          <p:cNvPr id="17419" name="Rounded Rectangle 17418">
            <a:hlinkClick r:id="rId6"/>
          </p:cNvPr>
          <p:cNvSpPr/>
          <p:nvPr/>
        </p:nvSpPr>
        <p:spPr>
          <a:xfrm>
            <a:off x="8330183" y="1335024"/>
            <a:ext cx="3703320" cy="1627632"/>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0" name="Rectangle 17419"/>
          <p:cNvSpPr/>
          <p:nvPr/>
        </p:nvSpPr>
        <p:spPr>
          <a:xfrm>
            <a:off x="8330183" y="1335024"/>
            <a:ext cx="3703320" cy="6400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TextBox 17420"/>
          <p:cNvSpPr txBox="1"/>
          <p:nvPr/>
        </p:nvSpPr>
        <p:spPr>
          <a:xfrm>
            <a:off x="8476488" y="1463040"/>
            <a:ext cx="3410712" cy="120700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C77700"/>
                </a:solidFill>
                <a:latin typeface="Arial"/>
              </a:rPr>
              <a:t>The Indian basket</a:t>
            </a:r>
          </a:p>
          <a:p>
            <a:pPr>
              <a:lnSpc>
                <a:spcPct val="95000"/>
              </a:lnSpc>
              <a:spcBef>
                <a:spcPts val="400"/>
              </a:spcBef>
              <a:spcAft>
                <a:spcPts val="0"/>
              </a:spcAft>
            </a:pPr>
            <a:r>
              <a:rPr sz="1150" b="0">
                <a:solidFill>
                  <a:srgbClr val="262B33"/>
                </a:solidFill>
                <a:latin typeface="Arial"/>
              </a:rPr>
              <a:t>DGCA city-pair statistics: 164 m domestic passengers, IndiGo 64.2%. Our own 1,000-fare sample returned 68.2% — arrived at independently.</a:t>
            </a:r>
          </a:p>
        </p:txBody>
      </p:sp>
      <p:sp>
        <p:nvSpPr>
          <p:cNvPr id="17422" name="TextBox 17421"/>
          <p:cNvSpPr txBox="1"/>
          <p:nvPr/>
        </p:nvSpPr>
        <p:spPr>
          <a:xfrm>
            <a:off x="9875520" y="2706624"/>
            <a:ext cx="2011680" cy="219456"/>
          </a:xfrm>
          <a:prstGeom prst="rect">
            <a:avLst/>
          </a:prstGeom>
          <a:noFill/>
        </p:spPr>
        <p:txBody>
          <a:bodyPr wrap="none" lIns="0" rIns="0" tIns="0" bIns="0">
            <a:spAutoFit/>
          </a:bodyPr>
          <a:lstStyle/>
          <a:p>
            <a:pPr algn="r"/>
            <a:r>
              <a:rPr sz="1050" b="1" u="sng">
                <a:solidFill>
                  <a:srgbClr val="C77700"/>
                </a:solidFill>
                <a:latin typeface="Arial"/>
                <a:hlinkClick r:id="rId6"/>
              </a:rPr>
              <a:t>DGCA statistics</a:t>
            </a:r>
          </a:p>
        </p:txBody>
      </p:sp>
      <p:sp>
        <p:nvSpPr>
          <p:cNvPr id="17423" name="Rounded Rectangle 17422">
            <a:hlinkClick r:id="rId7"/>
          </p:cNvPr>
          <p:cNvSpPr/>
          <p:nvPr/>
        </p:nvSpPr>
        <p:spPr>
          <a:xfrm>
            <a:off x="411480" y="3108960"/>
            <a:ext cx="3703320" cy="1627632"/>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4" name="Rectangle 17423"/>
          <p:cNvSpPr/>
          <p:nvPr/>
        </p:nvSpPr>
        <p:spPr>
          <a:xfrm>
            <a:off x="411480" y="3108960"/>
            <a:ext cx="3703320" cy="64008"/>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5" name="TextBox 17424"/>
          <p:cNvSpPr txBox="1"/>
          <p:nvPr/>
        </p:nvSpPr>
        <p:spPr>
          <a:xfrm>
            <a:off x="557784" y="3236976"/>
            <a:ext cx="3410712" cy="120700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4B3F8C"/>
                </a:solidFill>
                <a:latin typeface="Arial"/>
              </a:rPr>
              <a:t>Standards we hold to</a:t>
            </a:r>
          </a:p>
          <a:p>
            <a:pPr>
              <a:lnSpc>
                <a:spcPct val="95000"/>
              </a:lnSpc>
              <a:spcBef>
                <a:spcPts val="400"/>
              </a:spcBef>
              <a:spcAft>
                <a:spcPts val="0"/>
              </a:spcAft>
            </a:pPr>
            <a:r>
              <a:rPr sz="1150" b="0">
                <a:solidFill>
                  <a:srgbClr val="262B33"/>
                </a:solidFill>
                <a:latin typeface="Arial"/>
              </a:rPr>
              <a:t>RFC 9309, the Robots Exclusion Protocol. We implemented it ourselves after finding Python's standard parser reports disallowed paths as allowed.</a:t>
            </a:r>
          </a:p>
        </p:txBody>
      </p:sp>
      <p:sp>
        <p:nvSpPr>
          <p:cNvPr id="17426" name="TextBox 17425"/>
          <p:cNvSpPr txBox="1"/>
          <p:nvPr/>
        </p:nvSpPr>
        <p:spPr>
          <a:xfrm>
            <a:off x="1956816" y="4480559"/>
            <a:ext cx="2011680" cy="219456"/>
          </a:xfrm>
          <a:prstGeom prst="rect">
            <a:avLst/>
          </a:prstGeom>
          <a:noFill/>
        </p:spPr>
        <p:txBody>
          <a:bodyPr wrap="none" lIns="0" rIns="0" tIns="0" bIns="0">
            <a:spAutoFit/>
          </a:bodyPr>
          <a:lstStyle/>
          <a:p>
            <a:pPr algn="r"/>
            <a:r>
              <a:rPr sz="1050" b="1" u="sng">
                <a:solidFill>
                  <a:srgbClr val="4B3F8C"/>
                </a:solidFill>
                <a:latin typeface="Arial"/>
                <a:hlinkClick r:id="rId7"/>
              </a:rPr>
              <a:t>RFC 9309</a:t>
            </a:r>
          </a:p>
        </p:txBody>
      </p:sp>
      <p:sp>
        <p:nvSpPr>
          <p:cNvPr id="17427" name="Rounded Rectangle 17426">
            <a:hlinkClick r:id="rId8"/>
          </p:cNvPr>
          <p:cNvSpPr/>
          <p:nvPr/>
        </p:nvSpPr>
        <p:spPr>
          <a:xfrm>
            <a:off x="4370832" y="3108960"/>
            <a:ext cx="3703320" cy="1627632"/>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8" name="Rectangle 17427"/>
          <p:cNvSpPr/>
          <p:nvPr/>
        </p:nvSpPr>
        <p:spPr>
          <a:xfrm>
            <a:off x="4370832" y="3108960"/>
            <a:ext cx="3703320" cy="6400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TextBox 17428"/>
          <p:cNvSpPr txBox="1"/>
          <p:nvPr/>
        </p:nvSpPr>
        <p:spPr>
          <a:xfrm>
            <a:off x="4517136" y="3236976"/>
            <a:ext cx="3410712" cy="120700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0E7C86"/>
                </a:solidFill>
                <a:latin typeface="Arial"/>
              </a:rPr>
              <a:t>CPI methodology</a:t>
            </a:r>
          </a:p>
          <a:p>
            <a:pPr>
              <a:lnSpc>
                <a:spcPct val="95000"/>
              </a:lnSpc>
              <a:spcBef>
                <a:spcPts val="400"/>
              </a:spcBef>
              <a:spcAft>
                <a:spcPts val="0"/>
              </a:spcAft>
            </a:pPr>
            <a:r>
              <a:rPr sz="1150" b="0">
                <a:solidFill>
                  <a:srgbClr val="262B33"/>
                </a:solidFill>
                <a:latin typeface="Arial"/>
              </a:rPr>
              <a:t>MoSPI moved the CPI to base 2024=100 in February 2026, aligned to COICOP 2018. Air fares are still priced by hand — the process this augments.</a:t>
            </a:r>
          </a:p>
        </p:txBody>
      </p:sp>
      <p:sp>
        <p:nvSpPr>
          <p:cNvPr id="17430" name="TextBox 17429"/>
          <p:cNvSpPr txBox="1"/>
          <p:nvPr/>
        </p:nvSpPr>
        <p:spPr>
          <a:xfrm>
            <a:off x="5916168" y="4480559"/>
            <a:ext cx="2011680" cy="219456"/>
          </a:xfrm>
          <a:prstGeom prst="rect">
            <a:avLst/>
          </a:prstGeom>
          <a:noFill/>
        </p:spPr>
        <p:txBody>
          <a:bodyPr wrap="none" lIns="0" rIns="0" tIns="0" bIns="0">
            <a:spAutoFit/>
          </a:bodyPr>
          <a:lstStyle/>
          <a:p>
            <a:pPr algn="r"/>
            <a:r>
              <a:rPr sz="1050" b="1" u="sng">
                <a:solidFill>
                  <a:srgbClr val="0E7C86"/>
                </a:solidFill>
                <a:latin typeface="Arial"/>
                <a:hlinkClick r:id="rId8"/>
              </a:rPr>
              <a:t>The 2024=100 series</a:t>
            </a:r>
          </a:p>
        </p:txBody>
      </p:sp>
      <p:sp>
        <p:nvSpPr>
          <p:cNvPr id="17431" name="Rounded Rectangle 17430">
            <a:hlinkClick r:id="rId9"/>
          </p:cNvPr>
          <p:cNvSpPr/>
          <p:nvPr/>
        </p:nvSpPr>
        <p:spPr>
          <a:xfrm>
            <a:off x="8330183" y="3108960"/>
            <a:ext cx="3703320" cy="1627632"/>
          </a:xfrm>
          <a:prstGeom prst="roundRect">
            <a:avLst>
              <a:gd name="adj" fmla="val 6000"/>
            </a:avLst>
          </a:prstGeom>
          <a:solidFill>
            <a:srgbClr val="F4EA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2" name="Rectangle 17431"/>
          <p:cNvSpPr/>
          <p:nvPr/>
        </p:nvSpPr>
        <p:spPr>
          <a:xfrm>
            <a:off x="8330183" y="3108960"/>
            <a:ext cx="3703320" cy="64008"/>
          </a:xfrm>
          <a:prstGeom prst="rect">
            <a:avLst/>
          </a:prstGeom>
          <a:solidFill>
            <a:srgbClr val="7A3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TextBox 17432"/>
          <p:cNvSpPr txBox="1"/>
          <p:nvPr/>
        </p:nvSpPr>
        <p:spPr>
          <a:xfrm>
            <a:off x="8476488" y="3236976"/>
            <a:ext cx="3410712" cy="120700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7A3E6B"/>
                </a:solidFill>
                <a:latin typeface="Arial"/>
              </a:rPr>
              <a:t>Our code and full method</a:t>
            </a:r>
          </a:p>
          <a:p>
            <a:pPr>
              <a:lnSpc>
                <a:spcPct val="95000"/>
              </a:lnSpc>
              <a:spcBef>
                <a:spcPts val="400"/>
              </a:spcBef>
              <a:spcAft>
                <a:spcPts val="0"/>
              </a:spcAft>
            </a:pPr>
            <a:r>
              <a:rPr sz="1150" b="0">
                <a:solidFill>
                  <a:srgbClr val="262B33"/>
                </a:solidFill>
                <a:latin typeface="Arial"/>
              </a:rPr>
              <a:t>Collector, index engine, export API and portal. The README documents the method and the publication threshold.
github.com/BradCage-afk/sih-2026-airfare-index</a:t>
            </a:r>
          </a:p>
        </p:txBody>
      </p:sp>
      <p:sp>
        <p:nvSpPr>
          <p:cNvPr id="17434" name="TextBox 17433"/>
          <p:cNvSpPr txBox="1"/>
          <p:nvPr/>
        </p:nvSpPr>
        <p:spPr>
          <a:xfrm>
            <a:off x="9875520" y="4480559"/>
            <a:ext cx="2011680" cy="219456"/>
          </a:xfrm>
          <a:prstGeom prst="rect">
            <a:avLst/>
          </a:prstGeom>
          <a:noFill/>
        </p:spPr>
        <p:txBody>
          <a:bodyPr wrap="none" lIns="0" rIns="0" tIns="0" bIns="0">
            <a:spAutoFit/>
          </a:bodyPr>
          <a:lstStyle/>
          <a:p>
            <a:pPr algn="r"/>
            <a:r>
              <a:rPr sz="1050" b="1" u="sng">
                <a:solidFill>
                  <a:srgbClr val="7A3E6B"/>
                </a:solidFill>
                <a:latin typeface="Arial"/>
                <a:hlinkClick r:id="rId9"/>
              </a:rPr>
              <a:t>Open the repo</a:t>
            </a:r>
          </a:p>
        </p:txBody>
      </p:sp>
      <p:pic>
        <p:nvPicPr>
          <p:cNvPr id="17435" name="Picture 17434" descr="chart-survey.png"/>
          <p:cNvPicPr>
            <a:picLocks noChangeAspect="1"/>
          </p:cNvPicPr>
          <p:nvPr/>
        </p:nvPicPr>
        <p:blipFill>
          <a:blip r:embed="rId10"/>
          <a:stretch>
            <a:fillRect/>
          </a:stretch>
        </p:blipFill>
        <p:spPr>
          <a:xfrm>
            <a:off x="411480" y="4754880"/>
            <a:ext cx="4160520" cy="1550487"/>
          </a:xfrm>
          <a:prstGeom prst="rect">
            <a:avLst/>
          </a:prstGeom>
        </p:spPr>
      </p:pic>
      <p:sp>
        <p:nvSpPr>
          <p:cNvPr id="17436" name="TextBox 17435"/>
          <p:cNvSpPr txBox="1"/>
          <p:nvPr/>
        </p:nvSpPr>
        <p:spPr>
          <a:xfrm>
            <a:off x="4800600" y="4791456"/>
            <a:ext cx="6949440" cy="1188720"/>
          </a:xfrm>
          <a:prstGeom prst="rect">
            <a:avLst/>
          </a:prstGeom>
          <a:noFill/>
        </p:spPr>
        <p:txBody>
          <a:bodyPr wrap="square" lIns="36576" rIns="36576">
            <a:spAutoFit/>
          </a:bodyPr>
          <a:lstStyle/>
          <a:p>
            <a:pPr>
              <a:lnSpc>
                <a:spcPct val="100000"/>
              </a:lnSpc>
              <a:spcBef>
                <a:spcPts val="0"/>
              </a:spcBef>
              <a:spcAft>
                <a:spcPts val="0"/>
              </a:spcAft>
            </a:pPr>
            <a:r>
              <a:rPr sz="1300" b="1">
                <a:solidFill>
                  <a:srgbClr val="1F497D"/>
                </a:solidFill>
                <a:latin typeface="Arial"/>
              </a:rPr>
              <a:t>Everything above is reproducible.</a:t>
            </a:r>
          </a:p>
          <a:p>
            <a:pPr>
              <a:lnSpc>
                <a:spcPct val="100000"/>
              </a:lnSpc>
              <a:spcBef>
                <a:spcPts val="400"/>
              </a:spcBef>
              <a:spcAft>
                <a:spcPts val="0"/>
              </a:spcAft>
            </a:pPr>
            <a:r>
              <a:rPr sz="1150" b="0">
                <a:solidFill>
                  <a:srgbClr val="262B33"/>
                </a:solidFill>
                <a:latin typeface="Arial"/>
              </a:rPr>
              <a:t>The index, every chart in this deck and every figure on the portal are regenerated from the database by scripts in the repository. Nothing is transcribed by hand, so no number here can drift from what the system holds.</a:t>
            </a:r>
          </a:p>
          <a:p>
            <a:pPr>
              <a:lnSpc>
                <a:spcPct val="100000"/>
              </a:lnSpc>
              <a:spcBef>
                <a:spcPts val="600"/>
              </a:spcBef>
              <a:spcAft>
                <a:spcPts val="0"/>
              </a:spcAft>
            </a:pPr>
            <a:r>
              <a:rPr sz="1150" b="1">
                <a:solidFill>
                  <a:srgbClr val="1F497D"/>
                </a:solidFill>
                <a:latin typeface="Arial"/>
              </a:rPr>
              <a:t>Everything in this deck is checkable against a live system:</a:t>
            </a:r>
          </a:p>
        </p:txBody>
      </p:sp>
      <p:sp>
        <p:nvSpPr>
          <p:cNvPr id="17437" name="TextBox 17436"/>
          <p:cNvSpPr txBox="1"/>
          <p:nvPr/>
        </p:nvSpPr>
        <p:spPr>
          <a:xfrm>
            <a:off x="4800600" y="5907024"/>
            <a:ext cx="1641348" cy="219456"/>
          </a:xfrm>
          <a:prstGeom prst="rect">
            <a:avLst/>
          </a:prstGeom>
          <a:noFill/>
        </p:spPr>
        <p:txBody>
          <a:bodyPr wrap="none" lIns="0" rIns="0" tIns="0" bIns="0">
            <a:spAutoFit/>
          </a:bodyPr>
          <a:lstStyle/>
          <a:p>
            <a:pPr algn="l"/>
            <a:r>
              <a:rPr sz="1050" b="1" u="sng">
                <a:solidFill>
                  <a:srgbClr val="1F497D"/>
                </a:solidFill>
                <a:latin typeface="Arial"/>
                <a:hlinkClick r:id="rId11"/>
              </a:rPr>
              <a:t>Live API docs</a:t>
            </a:r>
          </a:p>
        </p:txBody>
      </p:sp>
      <p:sp>
        <p:nvSpPr>
          <p:cNvPr id="17438" name="TextBox 17437"/>
          <p:cNvSpPr txBox="1"/>
          <p:nvPr/>
        </p:nvSpPr>
        <p:spPr>
          <a:xfrm>
            <a:off x="6569964" y="5907024"/>
            <a:ext cx="1641348" cy="219456"/>
          </a:xfrm>
          <a:prstGeom prst="rect">
            <a:avLst/>
          </a:prstGeom>
          <a:noFill/>
        </p:spPr>
        <p:txBody>
          <a:bodyPr wrap="none" lIns="0" rIns="0" tIns="0" bIns="0">
            <a:spAutoFit/>
          </a:bodyPr>
          <a:lstStyle/>
          <a:p>
            <a:pPr algn="l"/>
            <a:r>
              <a:rPr sz="1050" b="1" u="sng">
                <a:solidFill>
                  <a:srgbClr val="1B8A5A"/>
                </a:solidFill>
                <a:latin typeface="Arial"/>
                <a:hlinkClick r:id="rId12"/>
              </a:rPr>
              <a:t>Release portal</a:t>
            </a:r>
          </a:p>
        </p:txBody>
      </p:sp>
      <p:sp>
        <p:nvSpPr>
          <p:cNvPr id="17439" name="TextBox 17438"/>
          <p:cNvSpPr txBox="1"/>
          <p:nvPr/>
        </p:nvSpPr>
        <p:spPr>
          <a:xfrm>
            <a:off x="8339328" y="5907024"/>
            <a:ext cx="1641348" cy="219456"/>
          </a:xfrm>
          <a:prstGeom prst="rect">
            <a:avLst/>
          </a:prstGeom>
          <a:noFill/>
        </p:spPr>
        <p:txBody>
          <a:bodyPr wrap="none" lIns="0" rIns="0" tIns="0" bIns="0">
            <a:spAutoFit/>
          </a:bodyPr>
          <a:lstStyle/>
          <a:p>
            <a:pPr algn="l"/>
            <a:r>
              <a:rPr sz="1050" b="1" u="sng">
                <a:solidFill>
                  <a:srgbClr val="4B3F8C"/>
                </a:solidFill>
                <a:latin typeface="Arial"/>
                <a:hlinkClick r:id="rId13"/>
              </a:rPr>
              <a:t>README + method</a:t>
            </a:r>
          </a:p>
        </p:txBody>
      </p:sp>
      <p:sp>
        <p:nvSpPr>
          <p:cNvPr id="17440" name="TextBox 17439"/>
          <p:cNvSpPr txBox="1"/>
          <p:nvPr/>
        </p:nvSpPr>
        <p:spPr>
          <a:xfrm>
            <a:off x="10108692" y="5907024"/>
            <a:ext cx="1641348" cy="219456"/>
          </a:xfrm>
          <a:prstGeom prst="rect">
            <a:avLst/>
          </a:prstGeom>
          <a:noFill/>
        </p:spPr>
        <p:txBody>
          <a:bodyPr wrap="none" lIns="0" rIns="0" tIns="0" bIns="0">
            <a:spAutoFit/>
          </a:bodyPr>
          <a:lstStyle/>
          <a:p>
            <a:pPr algn="l"/>
            <a:r>
              <a:rPr sz="1050" b="1" u="sng">
                <a:solidFill>
                  <a:srgbClr val="0E7C86"/>
                </a:solidFill>
                <a:latin typeface="Arial"/>
                <a:hlinkClick r:id="rId14"/>
              </a:rPr>
              <a:t>Aviation market</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