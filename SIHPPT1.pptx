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pib.gov.in/PressReleasePage.aspx?PRID=2227012&amp;reg=3&amp;lang=1"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 Id="rId12" Type="http://schemas.openxmlformats.org/officeDocument/2006/relationships/hyperlink" Target="https://apix-portal.pages.dev" TargetMode="External"/><Relationship Id="rId13" Type="http://schemas.openxmlformats.org/officeDocument/2006/relationships/hyperlink" Target="https://github.com/BradCage-afk/sih-2026-airfare-index#readme" TargetMode="External"/><Relationship Id="rId14" Type="http://schemas.openxmlformats.org/officeDocument/2006/relationships/hyperlink" Target="https://www.ibef.org/industry/indian-avi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9184" y="2075688"/>
            <a:ext cx="5925312" cy="4700016"/>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2000" b="1">
                <a:solidFill>
                  <a:srgbClr val="262B33"/>
                </a:solidFill>
                <a:latin typeface="Arial"/>
              </a:rPr>
              <a:t>Problem Statement ID - SIH26056</a:t>
            </a:r>
            <a:endParaRPr lang="en-US" dirty="0"/>
          </a:p>
          <a:p>
            <a:pPr algn="just">
              <a:lnSpc>
                <a:spcPct val="106000"/>
              </a:lnSpc>
              <a:spcBef>
                <a:spcPts val="800"/>
              </a:spcBef>
              <a:spcAft>
                <a:spcPts val="0"/>
              </a:spcAft>
            </a:pPr>
            <a:r>
              <a:rPr sz="20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800"/>
              </a:spcBef>
              <a:spcAft>
                <a:spcPts val="0"/>
              </a:spcAft>
            </a:pPr>
            <a:r>
              <a:rPr sz="2000" b="1">
                <a:solidFill>
                  <a:srgbClr val="262B33"/>
                </a:solidFill>
                <a:latin typeface="Arial"/>
              </a:rPr>
              <a:t>Theme - Travel &amp; Tourism</a:t>
            </a:r>
          </a:p>
          <a:p>
            <a:pPr algn="just">
              <a:lnSpc>
                <a:spcPct val="106000"/>
              </a:lnSpc>
              <a:spcBef>
                <a:spcPts val="800"/>
              </a:spcBef>
              <a:spcAft>
                <a:spcPts val="0"/>
              </a:spcAft>
            </a:pPr>
            <a:r>
              <a:rPr sz="2000" b="1">
                <a:solidFill>
                  <a:srgbClr val="262B33"/>
                </a:solidFill>
                <a:latin typeface="Arial"/>
              </a:rPr>
              <a:t>PS Category - Software</a:t>
            </a:r>
          </a:p>
          <a:p>
            <a:pPr algn="just">
              <a:lnSpc>
                <a:spcPct val="106000"/>
              </a:lnSpc>
              <a:spcBef>
                <a:spcPts val="800"/>
              </a:spcBef>
              <a:spcAft>
                <a:spcPts val="0"/>
              </a:spcAft>
            </a:pPr>
            <a:r>
              <a:rPr sz="2000" b="1">
                <a:solidFill>
                  <a:srgbClr val="262B33"/>
                </a:solidFill>
                <a:latin typeface="Arial"/>
              </a:rPr>
              <a:t>Team ID - ‹TEAM ID›</a:t>
            </a:r>
          </a:p>
          <a:p>
            <a:pPr algn="just">
              <a:lnSpc>
                <a:spcPct val="106000"/>
              </a:lnSpc>
              <a:spcBef>
                <a:spcPts val="800"/>
              </a:spcBef>
              <a:spcAft>
                <a:spcPts val="0"/>
              </a:spcAft>
            </a:pPr>
            <a:r>
              <a:rPr sz="20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3600" b="1">
                <a:solidFill>
                  <a:srgbClr val="1F497D"/>
                </a:solidFill>
                <a:latin typeface="Times New Roman"/>
              </a:rPr>
              <a:t>APIx — AIRFARE PRICE INDEX</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Fare Enough 101 - @SIH Idea submission</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914400"/>
            <a:ext cx="7726679" cy="914400"/>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PROPOSED SOLUTION</a:t>
            </a:r>
          </a:p>
          <a:p>
            <a:pPr>
              <a:lnSpc>
                <a:spcPct val="95000"/>
              </a:lnSpc>
              <a:spcBef>
                <a:spcPts val="200"/>
              </a:spcBef>
              <a:spcAft>
                <a:spcPts val="0"/>
              </a:spcAft>
            </a:pPr>
            <a:r>
              <a:rPr sz="1450" b="1">
                <a:solidFill>
                  <a:srgbClr val="1F497D"/>
                </a:solidFill>
                <a:latin typeface="Arial"/>
              </a:rPr>
              <a:t>A daily airfare inflation index for the CPI</a:t>
            </a:r>
          </a:p>
          <a:p>
            <a:pPr>
              <a:lnSpc>
                <a:spcPct val="95000"/>
              </a:lnSpc>
              <a:spcBef>
                <a:spcPts val="500"/>
              </a:spcBef>
              <a:spcAft>
                <a:spcPts val="0"/>
              </a:spcAft>
            </a:pPr>
            <a:r>
              <a:rPr sz="1200" b="0">
                <a:solidFill>
                  <a:srgbClr val="5A626C"/>
                </a:solidFill>
                <a:latin typeface="Arial"/>
              </a:rPr>
              <a:t>MoSPI prices air travel by hand, once a month, for one departure date. APIx reads the same public pages every ten minutes and delivers one weighted index number through an API.</a:t>
            </a:r>
          </a:p>
        </p:txBody>
      </p:sp>
      <p:sp>
        <p:nvSpPr>
          <p:cNvPr id="15363" name="Rounded Rectangle 15362"/>
          <p:cNvSpPr/>
          <p:nvPr/>
        </p:nvSpPr>
        <p:spPr>
          <a:xfrm>
            <a:off x="8275320" y="932688"/>
            <a:ext cx="3474720" cy="82296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050" b="1">
                <a:solidFill>
                  <a:srgbClr val="1B8A5A"/>
                </a:solidFill>
                <a:latin typeface="Arial"/>
              </a:rPr>
              <a:t>BUILT AND RUNNING</a:t>
            </a:r>
          </a:p>
          <a:p>
            <a:pPr>
              <a:lnSpc>
                <a:spcPct val="95000"/>
              </a:lnSpc>
              <a:spcBef>
                <a:spcPts val="400"/>
              </a:spcBef>
              <a:spcAft>
                <a:spcPts val="0"/>
              </a:spcAft>
            </a:pPr>
            <a:r>
              <a:rPr sz="1050" b="0">
                <a:solidFill>
                  <a:srgbClr val="262B33"/>
                </a:solidFill>
                <a:latin typeface="Arial"/>
              </a:rPr>
              <a:t>53,000+ fares collected · 15 city pairs × 5 lead times · every 10 minutes · ₹0 a month to run</a:t>
            </a:r>
          </a:p>
        </p:txBody>
      </p:sp>
      <p:sp>
        <p:nvSpPr>
          <p:cNvPr id="15364" name="Rounded Rectangle 15363"/>
          <p:cNvSpPr/>
          <p:nvPr/>
        </p:nvSpPr>
        <p:spPr>
          <a:xfrm>
            <a:off x="411480" y="1975104"/>
            <a:ext cx="6355080" cy="179222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65" name="TextBox 15364"/>
          <p:cNvSpPr txBox="1"/>
          <p:nvPr/>
        </p:nvSpPr>
        <p:spPr>
          <a:xfrm>
            <a:off x="548640" y="2039112"/>
            <a:ext cx="38404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WHAT CHANGES FOR THE CPI</a:t>
            </a:r>
          </a:p>
        </p:txBody>
      </p:sp>
      <p:sp>
        <p:nvSpPr>
          <p:cNvPr id="15366" name="TextBox 15365"/>
          <p:cNvSpPr txBox="1"/>
          <p:nvPr/>
        </p:nvSpPr>
        <p:spPr>
          <a:xfrm>
            <a:off x="2148840" y="233172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5A626C"/>
                </a:solidFill>
                <a:latin typeface="Arial"/>
              </a:rPr>
              <a:t>TODAY</a:t>
            </a:r>
          </a:p>
        </p:txBody>
      </p:sp>
      <p:sp>
        <p:nvSpPr>
          <p:cNvPr id="15367" name="TextBox 15366"/>
          <p:cNvSpPr txBox="1"/>
          <p:nvPr/>
        </p:nvSpPr>
        <p:spPr>
          <a:xfrm>
            <a:off x="4160520" y="233172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WITH APIx</a:t>
            </a:r>
          </a:p>
        </p:txBody>
      </p:sp>
      <p:sp>
        <p:nvSpPr>
          <p:cNvPr id="15368" name="TextBox 15367"/>
          <p:cNvSpPr txBox="1"/>
          <p:nvPr/>
        </p:nvSpPr>
        <p:spPr>
          <a:xfrm>
            <a:off x="548640" y="2633472"/>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Frequency</a:t>
            </a:r>
          </a:p>
        </p:txBody>
      </p:sp>
      <p:sp>
        <p:nvSpPr>
          <p:cNvPr id="15369" name="TextBox 15368"/>
          <p:cNvSpPr txBox="1"/>
          <p:nvPr/>
        </p:nvSpPr>
        <p:spPr>
          <a:xfrm>
            <a:off x="2148840" y="2633472"/>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once a month</a:t>
            </a:r>
          </a:p>
        </p:txBody>
      </p:sp>
      <p:sp>
        <p:nvSpPr>
          <p:cNvPr id="15370" name="TextBox 15369"/>
          <p:cNvSpPr txBox="1"/>
          <p:nvPr/>
        </p:nvSpPr>
        <p:spPr>
          <a:xfrm>
            <a:off x="4160520" y="2633472"/>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every 10 minutes</a:t>
            </a:r>
          </a:p>
        </p:txBody>
      </p:sp>
      <p:sp>
        <p:nvSpPr>
          <p:cNvPr id="15371" name="TextBox 15370"/>
          <p:cNvSpPr txBox="1"/>
          <p:nvPr/>
        </p:nvSpPr>
        <p:spPr>
          <a:xfrm>
            <a:off x="548640" y="2916936"/>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Coverage</a:t>
            </a:r>
          </a:p>
        </p:txBody>
      </p:sp>
      <p:sp>
        <p:nvSpPr>
          <p:cNvPr id="15372" name="TextBox 15371"/>
          <p:cNvSpPr txBox="1"/>
          <p:nvPr/>
        </p:nvSpPr>
        <p:spPr>
          <a:xfrm>
            <a:off x="2148840" y="291693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a handful of quotes</a:t>
            </a:r>
          </a:p>
        </p:txBody>
      </p:sp>
      <p:sp>
        <p:nvSpPr>
          <p:cNvPr id="15373" name="TextBox 15372"/>
          <p:cNvSpPr txBox="1"/>
          <p:nvPr/>
        </p:nvSpPr>
        <p:spPr>
          <a:xfrm>
            <a:off x="4160520" y="291693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75 priced cells</a:t>
            </a:r>
          </a:p>
        </p:txBody>
      </p:sp>
      <p:sp>
        <p:nvSpPr>
          <p:cNvPr id="15374" name="TextBox 15373"/>
          <p:cNvSpPr txBox="1"/>
          <p:nvPr/>
        </p:nvSpPr>
        <p:spPr>
          <a:xfrm>
            <a:off x="548640" y="3200400"/>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Price basis</a:t>
            </a:r>
          </a:p>
        </p:txBody>
      </p:sp>
      <p:sp>
        <p:nvSpPr>
          <p:cNvPr id="15375" name="TextBox 15374"/>
          <p:cNvSpPr txBox="1"/>
          <p:nvPr/>
        </p:nvSpPr>
        <p:spPr>
          <a:xfrm>
            <a:off x="2148840" y="320040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one quoted price</a:t>
            </a:r>
          </a:p>
        </p:txBody>
      </p:sp>
      <p:sp>
        <p:nvSpPr>
          <p:cNvPr id="15376" name="TextBox 15375"/>
          <p:cNvSpPr txBox="1"/>
          <p:nvPr/>
        </p:nvSpPr>
        <p:spPr>
          <a:xfrm>
            <a:off x="4160520" y="320040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minimum logical fare</a:t>
            </a:r>
          </a:p>
        </p:txBody>
      </p:sp>
      <p:sp>
        <p:nvSpPr>
          <p:cNvPr id="15377" name="TextBox 15376"/>
          <p:cNvSpPr txBox="1"/>
          <p:nvPr/>
        </p:nvSpPr>
        <p:spPr>
          <a:xfrm>
            <a:off x="548640" y="3483863"/>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Delivery</a:t>
            </a:r>
          </a:p>
        </p:txBody>
      </p:sp>
      <p:sp>
        <p:nvSpPr>
          <p:cNvPr id="15378" name="TextBox 15377"/>
          <p:cNvSpPr txBox="1"/>
          <p:nvPr/>
        </p:nvSpPr>
        <p:spPr>
          <a:xfrm>
            <a:off x="2148840" y="3483863"/>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typed into a form</a:t>
            </a:r>
          </a:p>
        </p:txBody>
      </p:sp>
      <p:sp>
        <p:nvSpPr>
          <p:cNvPr id="15379" name="TextBox 15378"/>
          <p:cNvSpPr txBox="1"/>
          <p:nvPr/>
        </p:nvSpPr>
        <p:spPr>
          <a:xfrm>
            <a:off x="4160520" y="3483863"/>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authenticated REST API</a:t>
            </a:r>
          </a:p>
        </p:txBody>
      </p:sp>
      <p:sp>
        <p:nvSpPr>
          <p:cNvPr id="15380" name="Rounded Rectangle 15379"/>
          <p:cNvSpPr/>
          <p:nvPr/>
        </p:nvSpPr>
        <p:spPr>
          <a:xfrm>
            <a:off x="6903720" y="1975104"/>
            <a:ext cx="4846320" cy="87782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1" name="TextBox 15380"/>
          <p:cNvSpPr txBox="1"/>
          <p:nvPr/>
        </p:nvSpPr>
        <p:spPr>
          <a:xfrm>
            <a:off x="7040880" y="2020824"/>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B3F8C"/>
                </a:solidFill>
                <a:latin typeface="Arial"/>
              </a:rPr>
              <a:t>THE INDEX IN ONE LINE</a:t>
            </a:r>
          </a:p>
        </p:txBody>
      </p:sp>
      <p:sp>
        <p:nvSpPr>
          <p:cNvPr id="15382" name="TextBox 15381"/>
          <p:cNvSpPr txBox="1"/>
          <p:nvPr/>
        </p:nvSpPr>
        <p:spPr>
          <a:xfrm>
            <a:off x="7040880" y="2249424"/>
            <a:ext cx="457200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APIxₜ = 100 × exp( Σ wᵢ·ln(Pᵢ,ₜ/Pᵢ,₀) / Σ wᵢ )</a:t>
            </a:r>
          </a:p>
        </p:txBody>
      </p:sp>
      <p:sp>
        <p:nvSpPr>
          <p:cNvPr id="15383" name="TextBox 15382"/>
          <p:cNvSpPr txBox="1"/>
          <p:nvPr/>
        </p:nvSpPr>
        <p:spPr>
          <a:xfrm>
            <a:off x="7040880" y="2496312"/>
            <a:ext cx="4572000" cy="310896"/>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Weighted Jevons — the elementary-aggregate formula Eurostat and the ONS use for their own price indices.</a:t>
            </a:r>
          </a:p>
        </p:txBody>
      </p:sp>
      <p:sp>
        <p:nvSpPr>
          <p:cNvPr id="15384" name="Rounded Rectangle 15383"/>
          <p:cNvSpPr/>
          <p:nvPr/>
        </p:nvSpPr>
        <p:spPr>
          <a:xfrm>
            <a:off x="6903720" y="2926080"/>
            <a:ext cx="4846320" cy="8412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5" name="TextBox 15384"/>
          <p:cNvSpPr txBox="1"/>
          <p:nvPr/>
        </p:nvSpPr>
        <p:spPr>
          <a:xfrm>
            <a:off x="7040880" y="2971800"/>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0E7C86"/>
                </a:solidFill>
                <a:latin typeface="Arial"/>
              </a:rPr>
              <a:t>WHAT THE TERMS MEAN</a:t>
            </a:r>
          </a:p>
        </p:txBody>
      </p:sp>
      <p:sp>
        <p:nvSpPr>
          <p:cNvPr id="15386" name="TextBox 15385"/>
          <p:cNvSpPr txBox="1"/>
          <p:nvPr/>
        </p:nvSpPr>
        <p:spPr>
          <a:xfrm>
            <a:off x="7040880" y="3200400"/>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Basket</a:t>
            </a:r>
          </a:p>
        </p:txBody>
      </p:sp>
      <p:sp>
        <p:nvSpPr>
          <p:cNvPr id="15387" name="TextBox 15386"/>
          <p:cNvSpPr txBox="1"/>
          <p:nvPr/>
        </p:nvSpPr>
        <p:spPr>
          <a:xfrm>
            <a:off x="7818120" y="3200400"/>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15 city pairs × 5 lead times = 75 cells</a:t>
            </a:r>
          </a:p>
        </p:txBody>
      </p:sp>
      <p:sp>
        <p:nvSpPr>
          <p:cNvPr id="15388" name="TextBox 15387"/>
          <p:cNvSpPr txBox="1"/>
          <p:nvPr/>
        </p:nvSpPr>
        <p:spPr>
          <a:xfrm>
            <a:off x="7040880" y="3342132"/>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Price</a:t>
            </a:r>
          </a:p>
        </p:txBody>
      </p:sp>
      <p:sp>
        <p:nvSpPr>
          <p:cNvPr id="15389" name="TextBox 15388"/>
          <p:cNvSpPr txBox="1"/>
          <p:nvPr/>
        </p:nvSpPr>
        <p:spPr>
          <a:xfrm>
            <a:off x="7818120" y="3342132"/>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minimum logical fare, no add-ons</a:t>
            </a:r>
          </a:p>
        </p:txBody>
      </p:sp>
      <p:sp>
        <p:nvSpPr>
          <p:cNvPr id="15390" name="TextBox 15389"/>
          <p:cNvSpPr txBox="1"/>
          <p:nvPr/>
        </p:nvSpPr>
        <p:spPr>
          <a:xfrm>
            <a:off x="7040880" y="3483864"/>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Weight</a:t>
            </a:r>
          </a:p>
        </p:txBody>
      </p:sp>
      <p:sp>
        <p:nvSpPr>
          <p:cNvPr id="15391" name="TextBox 15390"/>
          <p:cNvSpPr txBox="1"/>
          <p:nvPr/>
        </p:nvSpPr>
        <p:spPr>
          <a:xfrm>
            <a:off x="7818120" y="3483864"/>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route seat share × lead-time share</a:t>
            </a:r>
          </a:p>
        </p:txBody>
      </p:sp>
      <p:sp>
        <p:nvSpPr>
          <p:cNvPr id="15392" name="TextBox 15391"/>
          <p:cNvSpPr txBox="1"/>
          <p:nvPr/>
        </p:nvSpPr>
        <p:spPr>
          <a:xfrm>
            <a:off x="7040880" y="3625596"/>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Base</a:t>
            </a:r>
          </a:p>
        </p:txBody>
      </p:sp>
      <p:sp>
        <p:nvSpPr>
          <p:cNvPr id="15393" name="TextBox 15392"/>
          <p:cNvSpPr txBox="1"/>
          <p:nvPr/>
        </p:nvSpPr>
        <p:spPr>
          <a:xfrm>
            <a:off x="7818120" y="3625596"/>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August 2026 = 100</a:t>
            </a:r>
          </a:p>
        </p:txBody>
      </p:sp>
      <p:sp>
        <p:nvSpPr>
          <p:cNvPr id="15394" name="TextBox 15393"/>
          <p:cNvSpPr txBox="1"/>
          <p:nvPr/>
        </p:nvSpPr>
        <p:spPr>
          <a:xfrm>
            <a:off x="411480" y="3968496"/>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Why it stands out</a:t>
            </a:r>
          </a:p>
        </p:txBody>
      </p:sp>
      <p:sp>
        <p:nvSpPr>
          <p:cNvPr id="15395" name="Rectangle 15394"/>
          <p:cNvSpPr/>
          <p:nvPr/>
        </p:nvSpPr>
        <p:spPr>
          <a:xfrm>
            <a:off x="429768" y="424281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6" name="Rounded Rectangle 15395"/>
          <p:cNvSpPr/>
          <p:nvPr/>
        </p:nvSpPr>
        <p:spPr>
          <a:xfrm>
            <a:off x="411480" y="4315968"/>
            <a:ext cx="2656332"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F81BD"/>
                </a:solidFill>
                <a:latin typeface="Arial"/>
              </a:rPr>
              <a:t>The standard method</a:t>
            </a:r>
          </a:p>
          <a:p>
            <a:pPr>
              <a:lnSpc>
                <a:spcPct val="95000"/>
              </a:lnSpc>
              <a:spcBef>
                <a:spcPts val="500"/>
              </a:spcBef>
              <a:spcAft>
                <a:spcPts val="0"/>
              </a:spcAft>
            </a:pPr>
            <a:r>
              <a:rPr sz="1050" b="0">
                <a:solidFill>
                  <a:srgbClr val="262B33"/>
                </a:solidFill>
                <a:latin typeface="Arial"/>
              </a:rPr>
              <a:t>Weighted Jevons on minimum logical fares — the elementary-aggregate method Eurostat and the ONS use for their own price indices.</a:t>
            </a:r>
          </a:p>
        </p:txBody>
      </p:sp>
      <p:sp>
        <p:nvSpPr>
          <p:cNvPr id="15397" name="Rectangle 15396"/>
          <p:cNvSpPr/>
          <p:nvPr/>
        </p:nvSpPr>
        <p:spPr>
          <a:xfrm>
            <a:off x="411480" y="4315968"/>
            <a:ext cx="265633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Rounded Rectangle 15397"/>
          <p:cNvSpPr/>
          <p:nvPr/>
        </p:nvSpPr>
        <p:spPr>
          <a:xfrm>
            <a:off x="3305556" y="4315968"/>
            <a:ext cx="2656332"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1B8A5A"/>
                </a:solidFill>
                <a:latin typeface="Arial"/>
              </a:rPr>
              <a:t>Weighting is a matrix</a:t>
            </a:r>
          </a:p>
          <a:p>
            <a:pPr>
              <a:lnSpc>
                <a:spcPct val="95000"/>
              </a:lnSpc>
              <a:spcBef>
                <a:spcPts val="500"/>
              </a:spcBef>
              <a:spcAft>
                <a:spcPts val="0"/>
              </a:spcAft>
            </a:pPr>
            <a:r>
              <a:rPr sz="1050" b="0">
                <a:solidFill>
                  <a:srgbClr val="262B33"/>
                </a:solidFill>
                <a:latin typeface="Arial"/>
              </a:rPr>
              <a:t>Every cell carries route seat share × booking lead time, so Delhi–Mumbai moves the index three times as hard as Delhi–Srinagar.</a:t>
            </a:r>
          </a:p>
        </p:txBody>
      </p:sp>
      <p:sp>
        <p:nvSpPr>
          <p:cNvPr id="15399" name="Rectangle 15398"/>
          <p:cNvSpPr/>
          <p:nvPr/>
        </p:nvSpPr>
        <p:spPr>
          <a:xfrm>
            <a:off x="3305556" y="4315968"/>
            <a:ext cx="265633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Rounded Rectangle 15399"/>
          <p:cNvSpPr/>
          <p:nvPr/>
        </p:nvSpPr>
        <p:spPr>
          <a:xfrm>
            <a:off x="6199632" y="4315968"/>
            <a:ext cx="2656332"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C77700"/>
                </a:solidFill>
                <a:latin typeface="Arial"/>
              </a:rPr>
              <a:t>Admits thin coverage</a:t>
            </a:r>
          </a:p>
          <a:p>
            <a:pPr>
              <a:lnSpc>
                <a:spcPct val="95000"/>
              </a:lnSpc>
              <a:spcBef>
                <a:spcPts val="500"/>
              </a:spcBef>
              <a:spcAft>
                <a:spcPts val="0"/>
              </a:spcAft>
            </a:pPr>
            <a:r>
              <a:rPr sz="1050" b="0">
                <a:solidFill>
                  <a:srgbClr val="262B33"/>
                </a:solidFill>
                <a:latin typeface="Arial"/>
              </a:rPr>
              <a:t>Below 60% basket coverage the figure ships marked provisional, with the reason. An index that admits thin coverage beats one that never does.</a:t>
            </a:r>
          </a:p>
        </p:txBody>
      </p:sp>
      <p:sp>
        <p:nvSpPr>
          <p:cNvPr id="15401" name="Rectangle 15400"/>
          <p:cNvSpPr/>
          <p:nvPr/>
        </p:nvSpPr>
        <p:spPr>
          <a:xfrm>
            <a:off x="6199632" y="4315968"/>
            <a:ext cx="265633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2" name="Rounded Rectangle 15401"/>
          <p:cNvSpPr/>
          <p:nvPr/>
        </p:nvSpPr>
        <p:spPr>
          <a:xfrm>
            <a:off x="9093708" y="4315968"/>
            <a:ext cx="2656332"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B3F8C"/>
                </a:solidFill>
                <a:latin typeface="Arial"/>
              </a:rPr>
              <a:t>Machine-readable</a:t>
            </a:r>
          </a:p>
          <a:p>
            <a:pPr>
              <a:lnSpc>
                <a:spcPct val="95000"/>
              </a:lnSpc>
              <a:spcBef>
                <a:spcPts val="500"/>
              </a:spcBef>
              <a:spcAft>
                <a:spcPts val="0"/>
              </a:spcAft>
            </a:pPr>
            <a:r>
              <a:rPr sz="1050" b="0">
                <a:solidFill>
                  <a:srgbClr val="262B33"/>
                </a:solidFill>
                <a:latin typeface="Arial"/>
              </a:rPr>
              <a:t>One authenticated REST call returns the index with its method, coverage and revision history. Nobody retypes a number off a screen.</a:t>
            </a:r>
          </a:p>
        </p:txBody>
      </p:sp>
      <p:sp>
        <p:nvSpPr>
          <p:cNvPr id="15403" name="Rectangle 15402"/>
          <p:cNvSpPr/>
          <p:nvPr/>
        </p:nvSpPr>
        <p:spPr>
          <a:xfrm>
            <a:off x="9093708" y="4315968"/>
            <a:ext cx="265633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Fare Enough 101 - @SIH Idea submission</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we keep from one results row — and what we drop</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11338560" cy="2340864"/>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11338560" cy="310896"/>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40080" y="3200400"/>
            <a:ext cx="352044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ON THE PAGE</a:t>
            </a:r>
          </a:p>
        </p:txBody>
      </p:sp>
      <p:sp>
        <p:nvSpPr>
          <p:cNvPr id="17434" name="TextBox 17433"/>
          <p:cNvSpPr txBox="1"/>
          <p:nvPr/>
        </p:nvSpPr>
        <p:spPr>
          <a:xfrm>
            <a:off x="4343400" y="3200400"/>
            <a:ext cx="370332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WHAT WE STORE</a:t>
            </a:r>
          </a:p>
        </p:txBody>
      </p:sp>
      <p:sp>
        <p:nvSpPr>
          <p:cNvPr id="17435" name="TextBox 17434"/>
          <p:cNvSpPr txBox="1"/>
          <p:nvPr/>
        </p:nvSpPr>
        <p:spPr>
          <a:xfrm>
            <a:off x="8183879" y="3200400"/>
            <a:ext cx="338328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THE RULE</a:t>
            </a:r>
          </a:p>
        </p:txBody>
      </p:sp>
      <p:sp>
        <p:nvSpPr>
          <p:cNvPr id="17436" name="Rectangle 17435"/>
          <p:cNvSpPr/>
          <p:nvPr/>
        </p:nvSpPr>
        <p:spPr>
          <a:xfrm>
            <a:off x="411480" y="3493008"/>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TextBox 17436"/>
          <p:cNvSpPr txBox="1"/>
          <p:nvPr/>
        </p:nvSpPr>
        <p:spPr>
          <a:xfrm>
            <a:off x="640080" y="3529584"/>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IndiGo · 6E-955 · 20:20 → 22:20</a:t>
            </a:r>
          </a:p>
        </p:txBody>
      </p:sp>
      <p:sp>
        <p:nvSpPr>
          <p:cNvPr id="17438" name="TextBox 17437"/>
          <p:cNvSpPr txBox="1"/>
          <p:nvPr/>
        </p:nvSpPr>
        <p:spPr>
          <a:xfrm>
            <a:off x="4343400" y="3529584"/>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262B33"/>
                </a:solidFill>
                <a:latin typeface="Arial"/>
              </a:rPr>
              <a:t>carrier, flight_number, times</a:t>
            </a:r>
          </a:p>
        </p:txBody>
      </p:sp>
      <p:sp>
        <p:nvSpPr>
          <p:cNvPr id="17439" name="TextBox 17438"/>
          <p:cNvSpPr txBox="1"/>
          <p:nvPr/>
        </p:nvSpPr>
        <p:spPr>
          <a:xfrm>
            <a:off x="8183879" y="3529584"/>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the flight's identity</a:t>
            </a:r>
          </a:p>
        </p:txBody>
      </p:sp>
      <p:sp>
        <p:nvSpPr>
          <p:cNvPr id="17440" name="TextBox 17439"/>
          <p:cNvSpPr txBox="1"/>
          <p:nvPr/>
        </p:nvSpPr>
        <p:spPr>
          <a:xfrm>
            <a:off x="640080" y="3913632"/>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₹6,529</a:t>
            </a:r>
          </a:p>
        </p:txBody>
      </p:sp>
      <p:sp>
        <p:nvSpPr>
          <p:cNvPr id="17441" name="TextBox 17440"/>
          <p:cNvSpPr txBox="1"/>
          <p:nvPr/>
        </p:nvSpPr>
        <p:spPr>
          <a:xfrm>
            <a:off x="4343400" y="3913632"/>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1B8A5A"/>
                </a:solidFill>
                <a:latin typeface="Arial"/>
              </a:rPr>
              <a:t>total_fare = 6529</a:t>
            </a:r>
          </a:p>
        </p:txBody>
      </p:sp>
      <p:sp>
        <p:nvSpPr>
          <p:cNvPr id="17442" name="TextBox 17441"/>
          <p:cNvSpPr txBox="1"/>
          <p:nvPr/>
        </p:nvSpPr>
        <p:spPr>
          <a:xfrm>
            <a:off x="8183879" y="3913632"/>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the price a traveller actually pays</a:t>
            </a:r>
          </a:p>
        </p:txBody>
      </p:sp>
      <p:sp>
        <p:nvSpPr>
          <p:cNvPr id="17443" name="Rectangle 17442"/>
          <p:cNvSpPr/>
          <p:nvPr/>
        </p:nvSpPr>
        <p:spPr>
          <a:xfrm>
            <a:off x="411480" y="4261104"/>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640080" y="4297680"/>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₹480 off with CTFKSBIC</a:t>
            </a:r>
          </a:p>
        </p:txBody>
      </p:sp>
      <p:sp>
        <p:nvSpPr>
          <p:cNvPr id="17445" name="TextBox 17444"/>
          <p:cNvSpPr txBox="1"/>
          <p:nvPr/>
        </p:nvSpPr>
        <p:spPr>
          <a:xfrm>
            <a:off x="4343400" y="4297680"/>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C0504D"/>
                </a:solidFill>
                <a:latin typeface="Arial"/>
              </a:rPr>
              <a:t>dropped</a:t>
            </a:r>
          </a:p>
        </p:txBody>
      </p:sp>
      <p:sp>
        <p:nvSpPr>
          <p:cNvPr id="17446" name="TextBox 17445"/>
          <p:cNvSpPr txBox="1"/>
          <p:nvPr/>
        </p:nvSpPr>
        <p:spPr>
          <a:xfrm>
            <a:off x="8183879" y="4297680"/>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a coupon is not a published fare</a:t>
            </a:r>
          </a:p>
        </p:txBody>
      </p:sp>
      <p:sp>
        <p:nvSpPr>
          <p:cNvPr id="17447" name="TextBox 17446"/>
          <p:cNvSpPr txBox="1"/>
          <p:nvPr/>
        </p:nvSpPr>
        <p:spPr>
          <a:xfrm>
            <a:off x="640080" y="4681728"/>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base fare not shown</a:t>
            </a:r>
          </a:p>
        </p:txBody>
      </p:sp>
      <p:sp>
        <p:nvSpPr>
          <p:cNvPr id="17448" name="TextBox 17447"/>
          <p:cNvSpPr txBox="1"/>
          <p:nvPr/>
        </p:nvSpPr>
        <p:spPr>
          <a:xfrm>
            <a:off x="4343400" y="4681728"/>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C77700"/>
                </a:solidFill>
                <a:latin typeface="Arial"/>
              </a:rPr>
              <a:t>base_fare = NULL</a:t>
            </a:r>
          </a:p>
        </p:txBody>
      </p:sp>
      <p:sp>
        <p:nvSpPr>
          <p:cNvPr id="17449" name="TextBox 17448"/>
          <p:cNvSpPr txBox="1"/>
          <p:nvPr/>
        </p:nvSpPr>
        <p:spPr>
          <a:xfrm>
            <a:off x="8183879" y="4681728"/>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we never estimate what a page omits</a:t>
            </a:r>
          </a:p>
        </p:txBody>
      </p:sp>
      <p:sp>
        <p:nvSpPr>
          <p:cNvPr id="17450" name="Rectangle 17449"/>
          <p:cNvSpPr/>
          <p:nvPr/>
        </p:nvSpPr>
        <p:spPr>
          <a:xfrm>
            <a:off x="411480" y="5029200"/>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40080" y="5065776"/>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 nothing on the page —</a:t>
            </a:r>
          </a:p>
        </p:txBody>
      </p:sp>
      <p:sp>
        <p:nvSpPr>
          <p:cNvPr id="17452" name="TextBox 17451"/>
          <p:cNvSpPr txBox="1"/>
          <p:nvPr/>
        </p:nvSpPr>
        <p:spPr>
          <a:xfrm>
            <a:off x="4343400" y="5065776"/>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4B3F8C"/>
                </a:solidFill>
                <a:latin typeface="Arial"/>
              </a:rPr>
              <a:t>source · scraped_at · model_used</a:t>
            </a:r>
          </a:p>
        </p:txBody>
      </p:sp>
      <p:sp>
        <p:nvSpPr>
          <p:cNvPr id="17453" name="TextBox 17452"/>
          <p:cNvSpPr txBox="1"/>
          <p:nvPr/>
        </p:nvSpPr>
        <p:spPr>
          <a:xfrm>
            <a:off x="8183879" y="5065776"/>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so any index figure traces back</a:t>
            </a:r>
          </a:p>
        </p:txBody>
      </p:sp>
      <p:sp>
        <p:nvSpPr>
          <p:cNvPr id="17454" name="Rounded Rectangle 17453"/>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LLM extraction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760720" cy="11704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68580" cy="11704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640080" y="1225296"/>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F81BD"/>
                </a:solidFill>
                <a:latin typeface="Arial"/>
              </a:rPr>
              <a:t>Technical feasibility</a:t>
            </a:r>
          </a:p>
          <a:p>
            <a:pPr>
              <a:lnSpc>
                <a:spcPct val="95000"/>
              </a:lnSpc>
              <a:spcBef>
                <a:spcPts val="400"/>
              </a:spcBef>
              <a:spcAft>
                <a:spcPts val="0"/>
              </a:spcAft>
            </a:pPr>
            <a:r>
              <a:rPr sz="1150" b="0">
                <a:solidFill>
                  <a:srgbClr val="262B33"/>
                </a:solidFill>
                <a:latin typeface="Arial"/>
              </a:rPr>
              <a:t>Fares are published continuously on public pages and change all day. The data exists; what is missing is a systematic way to read it.</a:t>
            </a:r>
          </a:p>
        </p:txBody>
      </p:sp>
      <p:sp>
        <p:nvSpPr>
          <p:cNvPr id="17413" name="TextBox 17412"/>
          <p:cNvSpPr txBox="1"/>
          <p:nvPr/>
        </p:nvSpPr>
        <p:spPr>
          <a:xfrm>
            <a:off x="4572000" y="1444752"/>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USD 18.1 bn</a:t>
            </a:r>
          </a:p>
          <a:p>
            <a:pPr>
              <a:lnSpc>
                <a:spcPct val="95000"/>
              </a:lnSpc>
              <a:spcBef>
                <a:spcPts val="200"/>
              </a:spcBef>
              <a:spcAft>
                <a:spcPts val="0"/>
              </a:spcAft>
            </a:pPr>
            <a:r>
              <a:rPr sz="900" b="0">
                <a:solidFill>
                  <a:srgbClr val="5A626C"/>
                </a:solidFill>
                <a:latin typeface="Arial"/>
              </a:rPr>
              <a:t>market size, 2026</a:t>
            </a:r>
          </a:p>
        </p:txBody>
      </p:sp>
      <p:sp>
        <p:nvSpPr>
          <p:cNvPr id="17414" name="Rounded Rectangle 17413"/>
          <p:cNvSpPr/>
          <p:nvPr/>
        </p:nvSpPr>
        <p:spPr>
          <a:xfrm>
            <a:off x="411480" y="2377440"/>
            <a:ext cx="5760720" cy="11704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11480" y="2377440"/>
            <a:ext cx="68580" cy="1170432"/>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40080" y="2468880"/>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B8A5A"/>
                </a:solidFill>
                <a:latin typeface="Arial"/>
              </a:rPr>
              <a:t>Operational feasibility</a:t>
            </a:r>
          </a:p>
          <a:p>
            <a:pPr>
              <a:lnSpc>
                <a:spcPct val="95000"/>
              </a:lnSpc>
              <a:spcBef>
                <a:spcPts val="400"/>
              </a:spcBef>
              <a:spcAft>
                <a:spcPts val="0"/>
              </a:spcAft>
            </a:pPr>
            <a:r>
              <a:rPr sz="1150" b="0">
                <a:solidFill>
                  <a:srgbClr val="262B33"/>
                </a:solidFill>
                <a:latin typeface="Arial"/>
              </a:rPr>
              <a:t>A fixed basket of the 15 busiest city pairs across 148 operational airports tracks the traffic that actually moves the index.</a:t>
            </a:r>
          </a:p>
        </p:txBody>
      </p:sp>
      <p:sp>
        <p:nvSpPr>
          <p:cNvPr id="17417" name="TextBox 17416"/>
          <p:cNvSpPr txBox="1"/>
          <p:nvPr/>
        </p:nvSpPr>
        <p:spPr>
          <a:xfrm>
            <a:off x="4572000" y="2688336"/>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164 million</a:t>
            </a:r>
          </a:p>
          <a:p>
            <a:pPr>
              <a:lnSpc>
                <a:spcPct val="95000"/>
              </a:lnSpc>
              <a:spcBef>
                <a:spcPts val="200"/>
              </a:spcBef>
              <a:spcAft>
                <a:spcPts val="0"/>
              </a:spcAft>
            </a:pPr>
            <a:r>
              <a:rPr sz="900" b="0">
                <a:solidFill>
                  <a:srgbClr val="5A626C"/>
                </a:solidFill>
                <a:latin typeface="Arial"/>
              </a:rPr>
              <a:t>domestic passengers</a:t>
            </a:r>
          </a:p>
        </p:txBody>
      </p:sp>
      <p:sp>
        <p:nvSpPr>
          <p:cNvPr id="17418" name="Rounded Rectangle 17417"/>
          <p:cNvSpPr/>
          <p:nvPr/>
        </p:nvSpPr>
        <p:spPr>
          <a:xfrm>
            <a:off x="411480" y="3621024"/>
            <a:ext cx="5760720" cy="11704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411480" y="3621024"/>
            <a:ext cx="68580" cy="1170432"/>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40080" y="3712463"/>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C77700"/>
                </a:solidFill>
                <a:latin typeface="Arial"/>
              </a:rPr>
              <a:t>Economic feasibility</a:t>
            </a:r>
          </a:p>
          <a:p>
            <a:pPr>
              <a:lnSpc>
                <a:spcPct val="95000"/>
              </a:lnSpc>
              <a:spcBef>
                <a:spcPts val="400"/>
              </a:spcBef>
              <a:spcAft>
                <a:spcPts val="0"/>
              </a:spcAft>
            </a:pPr>
            <a:r>
              <a:rPr sz="1150" b="0">
                <a:solidFill>
                  <a:srgbClr val="262B33"/>
                </a:solidFill>
                <a:latin typeface="Arial"/>
              </a:rPr>
              <a:t>Free tiers throughout, about two minutes of compute per cycle. MoSPI visits shops monthly; this observes 144 times a day.</a:t>
            </a:r>
          </a:p>
        </p:txBody>
      </p:sp>
      <p:sp>
        <p:nvSpPr>
          <p:cNvPr id="17421" name="TextBox 17420"/>
          <p:cNvSpPr txBox="1"/>
          <p:nvPr/>
        </p:nvSpPr>
        <p:spPr>
          <a:xfrm>
            <a:off x="4572000" y="3931920"/>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₹0</a:t>
            </a:r>
          </a:p>
          <a:p>
            <a:pPr>
              <a:lnSpc>
                <a:spcPct val="95000"/>
              </a:lnSpc>
              <a:spcBef>
                <a:spcPts val="200"/>
              </a:spcBef>
              <a:spcAft>
                <a:spcPts val="0"/>
              </a:spcAft>
            </a:pPr>
            <a:r>
              <a:rPr sz="900" b="0">
                <a:solidFill>
                  <a:srgbClr val="5A626C"/>
                </a:solidFill>
                <a:latin typeface="Arial"/>
              </a:rPr>
              <a:t>a month to run</a:t>
            </a:r>
          </a:p>
        </p:txBody>
      </p:sp>
      <p:sp>
        <p:nvSpPr>
          <p:cNvPr id="17422" name="Rounded Rectangle 17421"/>
          <p:cNvSpPr/>
          <p:nvPr/>
        </p:nvSpPr>
        <p:spPr>
          <a:xfrm>
            <a:off x="411480" y="4864608"/>
            <a:ext cx="5760720" cy="11704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4864608"/>
            <a:ext cx="68580" cy="1170432"/>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640080" y="4956048"/>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B3F8C"/>
                </a:solidFill>
                <a:latin typeface="Arial"/>
              </a:rPr>
              <a:t>Regulatory feasibility</a:t>
            </a:r>
          </a:p>
          <a:p>
            <a:pPr>
              <a:lnSpc>
                <a:spcPct val="95000"/>
              </a:lnSpc>
              <a:spcBef>
                <a:spcPts val="400"/>
              </a:spcBef>
              <a:spcAft>
                <a:spcPts val="0"/>
              </a:spcAft>
            </a:pPr>
            <a:r>
              <a:rPr sz="1150" b="0">
                <a:solidFill>
                  <a:srgbClr val="262B33"/>
                </a:solidFill>
                <a:latin typeface="Arial"/>
              </a:rPr>
              <a:t>Eurostat's HICP guidance names air fares as a scrapeable category and the ONS has published on it since 2014 — precedented, not experimental.</a:t>
            </a:r>
          </a:p>
        </p:txBody>
      </p:sp>
      <p:sp>
        <p:nvSpPr>
          <p:cNvPr id="17425" name="TextBox 17424"/>
          <p:cNvSpPr txBox="1"/>
          <p:nvPr/>
        </p:nvSpPr>
        <p:spPr>
          <a:xfrm>
            <a:off x="4572000" y="5175504"/>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since 2014</a:t>
            </a:r>
          </a:p>
          <a:p>
            <a:pPr>
              <a:lnSpc>
                <a:spcPct val="95000"/>
              </a:lnSpc>
              <a:spcBef>
                <a:spcPts val="200"/>
              </a:spcBef>
              <a:spcAft>
                <a:spcPts val="0"/>
              </a:spcAft>
            </a:pPr>
            <a:r>
              <a:rPr sz="900" b="0">
                <a:solidFill>
                  <a:srgbClr val="5A626C"/>
                </a:solidFill>
                <a:latin typeface="Arial"/>
              </a:rPr>
              <a:t>ONS precedent</a:t>
            </a:r>
          </a:p>
        </p:txBody>
      </p:sp>
      <p:sp>
        <p:nvSpPr>
          <p:cNvPr id="17426" name="TextBox 17425"/>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27" name="Rectangle 17426"/>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6400800" y="1554480"/>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9" name="Rectangle 17428"/>
          <p:cNvSpPr/>
          <p:nvPr/>
        </p:nvSpPr>
        <p:spPr>
          <a:xfrm>
            <a:off x="6400800" y="1554480"/>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6583680" y="1636776"/>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16 portals surveyed, one is usable</a:t>
            </a:r>
          </a:p>
          <a:p>
            <a:pPr>
              <a:lnSpc>
                <a:spcPct val="95000"/>
              </a:lnSpc>
              <a:spcBef>
                <a:spcPts val="400"/>
              </a:spcBef>
              <a:spcAft>
                <a:spcPts val="0"/>
              </a:spcAft>
            </a:pPr>
            <a:r>
              <a:rPr sz="1150" b="0">
                <a:solidFill>
                  <a:srgbClr val="262B33"/>
                </a:solidFill>
                <a:latin typeface="Arial"/>
              </a:rPr>
              <a:t>Ten disallow us, four block us, airlines refuse automation entirely.</a:t>
            </a:r>
          </a:p>
        </p:txBody>
      </p:sp>
      <p:sp>
        <p:nvSpPr>
          <p:cNvPr id="17431" name="Rounded Rectangle 17430"/>
          <p:cNvSpPr/>
          <p:nvPr/>
        </p:nvSpPr>
        <p:spPr>
          <a:xfrm>
            <a:off x="6400800" y="2432304"/>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6400800" y="2432304"/>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583680" y="2514600"/>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Cloud IPs are blocked too</a:t>
            </a:r>
          </a:p>
          <a:p>
            <a:pPr>
              <a:lnSpc>
                <a:spcPct val="95000"/>
              </a:lnSpc>
              <a:spcBef>
                <a:spcPts val="400"/>
              </a:spcBef>
              <a:spcAft>
                <a:spcPts val="0"/>
              </a:spcAft>
            </a:pPr>
            <a:r>
              <a:rPr sz="1150" b="0">
                <a:solidFill>
                  <a:srgbClr val="262B33"/>
                </a:solidFill>
                <a:latin typeface="Arial"/>
              </a:rPr>
              <a:t>Verified in CI — so collection runs from a residential host.</a:t>
            </a:r>
          </a:p>
        </p:txBody>
      </p:sp>
      <p:sp>
        <p:nvSpPr>
          <p:cNvPr id="17434" name="Rounded Rectangle 17433"/>
          <p:cNvSpPr/>
          <p:nvPr/>
        </p:nvSpPr>
        <p:spPr>
          <a:xfrm>
            <a:off x="6400800" y="3310128"/>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5" name="Rectangle 17434"/>
          <p:cNvSpPr/>
          <p:nvPr/>
        </p:nvSpPr>
        <p:spPr>
          <a:xfrm>
            <a:off x="6400800" y="3310128"/>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583680" y="3392424"/>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Models get retired without notice</a:t>
            </a:r>
          </a:p>
          <a:p>
            <a:pPr>
              <a:lnSpc>
                <a:spcPct val="95000"/>
              </a:lnSpc>
              <a:spcBef>
                <a:spcPts val="400"/>
              </a:spcBef>
              <a:spcAft>
                <a:spcPts val="0"/>
              </a:spcAft>
            </a:pPr>
            <a:r>
              <a:rPr sz="1150" b="0">
                <a:solidFill>
                  <a:srgbClr val="262B33"/>
                </a:solidFill>
                <a:latin typeface="Arial"/>
              </a:rPr>
              <a:t>Three died during this build. Extraction now fails over automatically.</a:t>
            </a:r>
          </a:p>
        </p:txBody>
      </p:sp>
      <p:sp>
        <p:nvSpPr>
          <p:cNvPr id="17437" name="Rounded Rectangle 17436"/>
          <p:cNvSpPr/>
          <p:nvPr/>
        </p:nvSpPr>
        <p:spPr>
          <a:xfrm>
            <a:off x="6400800" y="4187952"/>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Rectangle 17437"/>
          <p:cNvSpPr/>
          <p:nvPr/>
        </p:nvSpPr>
        <p:spPr>
          <a:xfrm>
            <a:off x="6400800" y="4187952"/>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583680" y="4270248"/>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Thin coverage would mislead</a:t>
            </a:r>
          </a:p>
          <a:p>
            <a:pPr>
              <a:lnSpc>
                <a:spcPct val="95000"/>
              </a:lnSpc>
              <a:spcBef>
                <a:spcPts val="400"/>
              </a:spcBef>
              <a:spcAft>
                <a:spcPts val="0"/>
              </a:spcAft>
            </a:pPr>
            <a:r>
              <a:rPr sz="1150" b="0">
                <a:solidFill>
                  <a:srgbClr val="262B33"/>
                </a:solidFill>
                <a:latin typeface="Arial"/>
              </a:rPr>
              <a:t>Days below 60% basket weight publish as provisional, with the reason.</a:t>
            </a:r>
          </a:p>
        </p:txBody>
      </p:sp>
      <p:sp>
        <p:nvSpPr>
          <p:cNvPr id="17440" name="TextBox 17439"/>
          <p:cNvSpPr txBox="1"/>
          <p:nvPr/>
        </p:nvSpPr>
        <p:spPr>
          <a:xfrm>
            <a:off x="6400800" y="5102352"/>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What it costs to run</a:t>
            </a:r>
          </a:p>
        </p:txBody>
      </p:sp>
      <p:sp>
        <p:nvSpPr>
          <p:cNvPr id="17441" name="Rectangle 17440"/>
          <p:cNvSpPr/>
          <p:nvPr/>
        </p:nvSpPr>
        <p:spPr>
          <a:xfrm>
            <a:off x="6419088" y="53766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ounded Rectangle 17441"/>
          <p:cNvSpPr/>
          <p:nvPr/>
        </p:nvSpPr>
        <p:spPr>
          <a:xfrm>
            <a:off x="6400800" y="5449824"/>
            <a:ext cx="5394960" cy="87782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3" name="TextBox 17442"/>
          <p:cNvSpPr txBox="1"/>
          <p:nvPr/>
        </p:nvSpPr>
        <p:spPr>
          <a:xfrm>
            <a:off x="6547104" y="5504688"/>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Collection · Playwright</a:t>
            </a:r>
          </a:p>
        </p:txBody>
      </p:sp>
      <p:sp>
        <p:nvSpPr>
          <p:cNvPr id="17444" name="TextBox 17443"/>
          <p:cNvSpPr txBox="1"/>
          <p:nvPr/>
        </p:nvSpPr>
        <p:spPr>
          <a:xfrm>
            <a:off x="9921240" y="5504688"/>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5" name="TextBox 17444"/>
          <p:cNvSpPr txBox="1"/>
          <p:nvPr/>
        </p:nvSpPr>
        <p:spPr>
          <a:xfrm>
            <a:off x="6547104" y="5660136"/>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Extraction · NVIDIA NIM LLM</a:t>
            </a:r>
          </a:p>
        </p:txBody>
      </p:sp>
      <p:sp>
        <p:nvSpPr>
          <p:cNvPr id="17446" name="TextBox 17445"/>
          <p:cNvSpPr txBox="1"/>
          <p:nvPr/>
        </p:nvSpPr>
        <p:spPr>
          <a:xfrm>
            <a:off x="9921240" y="5660136"/>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7" name="TextBox 17446"/>
          <p:cNvSpPr txBox="1"/>
          <p:nvPr/>
        </p:nvSpPr>
        <p:spPr>
          <a:xfrm>
            <a:off x="6547104" y="5815583"/>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Storage · Supabase Postgres</a:t>
            </a:r>
          </a:p>
        </p:txBody>
      </p:sp>
      <p:sp>
        <p:nvSpPr>
          <p:cNvPr id="17448" name="TextBox 17447"/>
          <p:cNvSpPr txBox="1"/>
          <p:nvPr/>
        </p:nvSpPr>
        <p:spPr>
          <a:xfrm>
            <a:off x="9921240" y="5815583"/>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9" name="TextBox 17448"/>
          <p:cNvSpPr txBox="1"/>
          <p:nvPr/>
        </p:nvSpPr>
        <p:spPr>
          <a:xfrm>
            <a:off x="6547104" y="5971031"/>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Publication · Render + Cloudflare</a:t>
            </a:r>
          </a:p>
        </p:txBody>
      </p:sp>
      <p:sp>
        <p:nvSpPr>
          <p:cNvPr id="17450" name="TextBox 17449"/>
          <p:cNvSpPr txBox="1"/>
          <p:nvPr/>
        </p:nvSpPr>
        <p:spPr>
          <a:xfrm>
            <a:off x="9921240" y="5971031"/>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51" name="TextBox 17450"/>
          <p:cNvSpPr txBox="1"/>
          <p:nvPr/>
        </p:nvSpPr>
        <p:spPr>
          <a:xfrm>
            <a:off x="6547104" y="6126479"/>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Total · 144 cycles a day</a:t>
            </a:r>
          </a:p>
        </p:txBody>
      </p:sp>
      <p:sp>
        <p:nvSpPr>
          <p:cNvPr id="17452" name="TextBox 17451"/>
          <p:cNvSpPr txBox="1"/>
          <p:nvPr/>
        </p:nvSpPr>
        <p:spPr>
          <a:xfrm>
            <a:off x="9921240" y="6126479"/>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₹0 a month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Read every 10 minutes, robots-checked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logical fare per route × lead time</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and coverage</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from 144 daily reads</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52160"/>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method on one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defensible transport input, recomputable from stored micro-data</a:t>
            </a:r>
          </a:p>
        </p:txBody>
      </p:sp>
      <p:sp>
        <p:nvSpPr>
          <p:cNvPr id="17429" name="Rounded Rectangle 17428"/>
          <p:cNvSpPr/>
          <p:nvPr/>
        </p:nvSpPr>
        <p:spPr>
          <a:xfrm>
            <a:off x="6400800" y="3913631"/>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895344"/>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Route-level fare behaviour nobody currently publishes</a:t>
            </a:r>
          </a:p>
        </p:txBody>
      </p:sp>
      <p:sp>
        <p:nvSpPr>
          <p:cNvPr id="17431" name="Rounded Rectangle 17430"/>
          <p:cNvSpPr/>
          <p:nvPr/>
        </p:nvSpPr>
        <p:spPr>
          <a:xfrm>
            <a:off x="6400800" y="4389119"/>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370831"/>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public record of what air travel actually costs over time</a:t>
            </a:r>
          </a:p>
        </p:txBody>
      </p:sp>
      <p:sp>
        <p:nvSpPr>
          <p:cNvPr id="17433" name="Rounded Rectangle 17432"/>
          <p:cNvSpPr/>
          <p:nvPr/>
        </p:nvSpPr>
        <p:spPr>
          <a:xfrm>
            <a:off x="6400800" y="4864607"/>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4846319"/>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An open, reproducible price series for a market that has none</a:t>
            </a:r>
          </a:p>
        </p:txBody>
      </p:sp>
      <p:sp>
        <p:nvSpPr>
          <p:cNvPr id="17435" name="Rounded Rectangle 17434"/>
          <p:cNvSpPr/>
          <p:nvPr/>
        </p:nvSpPr>
        <p:spPr>
          <a:xfrm>
            <a:off x="6400800" y="5303520"/>
            <a:ext cx="1700784" cy="5669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6" name="TextBox 17435"/>
          <p:cNvSpPr txBox="1"/>
          <p:nvPr/>
        </p:nvSpPr>
        <p:spPr>
          <a:xfrm>
            <a:off x="6492240"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B8A5A"/>
                </a:solidFill>
                <a:latin typeface="Arial"/>
              </a:rPr>
              <a:t>144 ×</a:t>
            </a:r>
          </a:p>
          <a:p>
            <a:pPr>
              <a:lnSpc>
                <a:spcPct val="95000"/>
              </a:lnSpc>
              <a:spcBef>
                <a:spcPts val="100"/>
              </a:spcBef>
              <a:spcAft>
                <a:spcPts val="0"/>
              </a:spcAft>
            </a:pPr>
            <a:r>
              <a:rPr sz="850" b="0">
                <a:solidFill>
                  <a:srgbClr val="5A626C"/>
                </a:solidFill>
                <a:latin typeface="Arial"/>
              </a:rPr>
              <a:t>observations a day, not one a month</a:t>
            </a:r>
          </a:p>
        </p:txBody>
      </p:sp>
      <p:sp>
        <p:nvSpPr>
          <p:cNvPr id="17437" name="Rounded Rectangle 17436"/>
          <p:cNvSpPr/>
          <p:nvPr/>
        </p:nvSpPr>
        <p:spPr>
          <a:xfrm>
            <a:off x="8247888" y="5303520"/>
            <a:ext cx="1700784" cy="5669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TextBox 17437"/>
          <p:cNvSpPr txBox="1"/>
          <p:nvPr/>
        </p:nvSpPr>
        <p:spPr>
          <a:xfrm>
            <a:off x="8339327"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4B3F8C"/>
                </a:solidFill>
                <a:latin typeface="Arial"/>
              </a:rPr>
              <a:t>75</a:t>
            </a:r>
          </a:p>
          <a:p>
            <a:pPr>
              <a:lnSpc>
                <a:spcPct val="95000"/>
              </a:lnSpc>
              <a:spcBef>
                <a:spcPts val="100"/>
              </a:spcBef>
              <a:spcAft>
                <a:spcPts val="0"/>
              </a:spcAft>
            </a:pPr>
            <a:r>
              <a:rPr sz="850" b="0">
                <a:solidFill>
                  <a:srgbClr val="5A626C"/>
                </a:solidFill>
                <a:latin typeface="Arial"/>
              </a:rPr>
              <a:t>priced cells behind every figure</a:t>
            </a:r>
          </a:p>
        </p:txBody>
      </p:sp>
      <p:sp>
        <p:nvSpPr>
          <p:cNvPr id="17439" name="Rounded Rectangle 17438"/>
          <p:cNvSpPr/>
          <p:nvPr/>
        </p:nvSpPr>
        <p:spPr>
          <a:xfrm>
            <a:off x="10094976" y="5303520"/>
            <a:ext cx="1700784" cy="5669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0" name="TextBox 17439"/>
          <p:cNvSpPr txBox="1"/>
          <p:nvPr/>
        </p:nvSpPr>
        <p:spPr>
          <a:xfrm>
            <a:off x="10186415"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0E7C86"/>
                </a:solidFill>
                <a:latin typeface="Arial"/>
              </a:rPr>
              <a:t>T+0</a:t>
            </a:r>
          </a:p>
          <a:p>
            <a:pPr>
              <a:lnSpc>
                <a:spcPct val="95000"/>
              </a:lnSpc>
              <a:spcBef>
                <a:spcPts val="100"/>
              </a:spcBef>
              <a:spcAft>
                <a:spcPts val="0"/>
              </a:spcAft>
            </a:pPr>
            <a:r>
              <a:rPr sz="850" b="0">
                <a:solidFill>
                  <a:srgbClr val="5A626C"/>
                </a:solidFill>
                <a:latin typeface="Arial"/>
              </a:rPr>
              <a:t>same-day index, not a two-week lag</a:t>
            </a:r>
          </a:p>
        </p:txBody>
      </p:sp>
      <p:sp>
        <p:nvSpPr>
          <p:cNvPr id="17441" name="Rounded Rectangle 17440"/>
          <p:cNvSpPr/>
          <p:nvPr/>
        </p:nvSpPr>
        <p:spPr>
          <a:xfrm>
            <a:off x="6400800" y="5925312"/>
            <a:ext cx="5394960" cy="40233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00" b="0">
                <a:solidFill>
                  <a:srgbClr val="262B33"/>
                </a:solidFill>
                <a:latin typeface="Arial"/>
              </a:rPr>
              <a:t>Our promise — replace one manual price visit a month with 144 automated observations a day,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5486400" cy="219456"/>
          </a:xfrm>
          <a:prstGeom prst="rect">
            <a:avLst/>
          </a:prstGeom>
          <a:noFill/>
        </p:spPr>
        <p:txBody>
          <a:bodyPr wrap="square" lIns="36576" rIns="36576" tIns="18288" bIns="18288">
            <a:spAutoFit/>
          </a:bodyPr>
          <a:lstStyle/>
          <a:p>
            <a:pPr>
              <a:lnSpc>
                <a:spcPct val="95000"/>
              </a:lnSpc>
              <a:spcBef>
                <a:spcPts val="0"/>
              </a:spcBef>
              <a:spcAft>
                <a:spcPts val="0"/>
              </a:spcAft>
            </a:pPr>
            <a:r>
              <a:rPr sz="950" b="1">
                <a:solidFill>
                  <a:srgbClr val="5A626C"/>
                </a:solidFill>
                <a:latin typeface="Arial"/>
              </a:rPr>
              <a:t>EVERY CARD IS CLICKABLE — THE UNDERLINED LINK OPENS THE SOURCE</a:t>
            </a:r>
          </a:p>
        </p:txBody>
      </p:sp>
      <p:sp>
        <p:nvSpPr>
          <p:cNvPr id="17411" name="Rounded Rectangle 17410">
            <a:hlinkClick r:id="rId4"/>
          </p:cNvPr>
          <p:cNvSpPr/>
          <p:nvPr/>
        </p:nvSpPr>
        <p:spPr>
          <a:xfrm>
            <a:off x="411480" y="1335024"/>
            <a:ext cx="3703320"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2" name="Rectangle 17411"/>
          <p:cNvSpPr/>
          <p:nvPr/>
        </p:nvSpPr>
        <p:spPr>
          <a:xfrm>
            <a:off x="411480" y="1335024"/>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57784"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Method — why Jevons</a:t>
            </a:r>
          </a:p>
          <a:p>
            <a:pPr>
              <a:lnSpc>
                <a:spcPct val="95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p:txBody>
      </p:sp>
      <p:sp>
        <p:nvSpPr>
          <p:cNvPr id="17414" name="TextBox 17413"/>
          <p:cNvSpPr txBox="1"/>
          <p:nvPr/>
        </p:nvSpPr>
        <p:spPr>
          <a:xfrm>
            <a:off x="1956816" y="2706624"/>
            <a:ext cx="2011680" cy="219456"/>
          </a:xfrm>
          <a:prstGeom prst="rect">
            <a:avLst/>
          </a:prstGeom>
          <a:noFill/>
        </p:spPr>
        <p:txBody>
          <a:bodyPr wrap="none" lIns="0" rIns="0" tIns="0" bIns="0">
            <a:spAutoFit/>
          </a:bodyPr>
          <a:lstStyle/>
          <a:p>
            <a:pPr algn="r"/>
            <a:r>
              <a:rPr sz="1050" b="1" u="sng">
                <a:solidFill>
                  <a:srgbClr val="4F81BD"/>
                </a:solidFill>
                <a:latin typeface="Arial"/>
                <a:hlinkClick r:id="rId4"/>
              </a:rPr>
              <a:t>Eurostat guidance</a:t>
            </a:r>
          </a:p>
        </p:txBody>
      </p:sp>
      <p:sp>
        <p:nvSpPr>
          <p:cNvPr id="17415" name="Rounded Rectangle 17414">
            <a:hlinkClick r:id="rId5"/>
          </p:cNvPr>
          <p:cNvSpPr/>
          <p:nvPr/>
        </p:nvSpPr>
        <p:spPr>
          <a:xfrm>
            <a:off x="4370832" y="1335024"/>
            <a:ext cx="3703320"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6" name="Rectangle 17415"/>
          <p:cNvSpPr/>
          <p:nvPr/>
        </p:nvSpPr>
        <p:spPr>
          <a:xfrm>
            <a:off x="4370832" y="1335024"/>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4517136"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Precedent — already done</a:t>
            </a:r>
          </a:p>
          <a:p>
            <a:pPr>
              <a:lnSpc>
                <a:spcPct val="95000"/>
              </a:lnSpc>
              <a:spcBef>
                <a:spcPts val="400"/>
              </a:spcBef>
              <a:spcAft>
                <a:spcPts val="0"/>
              </a:spcAft>
            </a:pPr>
            <a:r>
              <a:rPr sz="1150" b="0">
                <a:solidFill>
                  <a:srgbClr val="262B33"/>
                </a:solidFill>
                <a:latin typeface="Arial"/>
              </a:rPr>
              <a:t>ONS ran a web-scraping programme for consumer prices from 2014, Eurostat-funded from 2015.</a:t>
            </a:r>
          </a:p>
        </p:txBody>
      </p:sp>
      <p:sp>
        <p:nvSpPr>
          <p:cNvPr id="17418" name="TextBox 17417"/>
          <p:cNvSpPr txBox="1"/>
          <p:nvPr/>
        </p:nvSpPr>
        <p:spPr>
          <a:xfrm>
            <a:off x="5916168" y="2706624"/>
            <a:ext cx="2011680" cy="219456"/>
          </a:xfrm>
          <a:prstGeom prst="rect">
            <a:avLst/>
          </a:prstGeom>
          <a:noFill/>
        </p:spPr>
        <p:txBody>
          <a:bodyPr wrap="none" lIns="0" rIns="0" tIns="0" bIns="0">
            <a:spAutoFit/>
          </a:bodyPr>
          <a:lstStyle/>
          <a:p>
            <a:pPr algn="r"/>
            <a:r>
              <a:rPr sz="1050" b="1" u="sng">
                <a:solidFill>
                  <a:srgbClr val="1B8A5A"/>
                </a:solidFill>
                <a:latin typeface="Arial"/>
                <a:hlinkClick r:id="rId5"/>
              </a:rPr>
              <a:t>ONS study</a:t>
            </a:r>
          </a:p>
        </p:txBody>
      </p:sp>
      <p:sp>
        <p:nvSpPr>
          <p:cNvPr id="17419" name="Rounded Rectangle 17418">
            <a:hlinkClick r:id="rId6"/>
          </p:cNvPr>
          <p:cNvSpPr/>
          <p:nvPr/>
        </p:nvSpPr>
        <p:spPr>
          <a:xfrm>
            <a:off x="8330183" y="1335024"/>
            <a:ext cx="3703320"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8330183" y="1335024"/>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8476488"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The Indian basket</a:t>
            </a:r>
          </a:p>
          <a:p>
            <a:pPr>
              <a:lnSpc>
                <a:spcPct val="95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p:txBody>
      </p:sp>
      <p:sp>
        <p:nvSpPr>
          <p:cNvPr id="17422" name="TextBox 17421"/>
          <p:cNvSpPr txBox="1"/>
          <p:nvPr/>
        </p:nvSpPr>
        <p:spPr>
          <a:xfrm>
            <a:off x="9875520" y="2706624"/>
            <a:ext cx="2011680" cy="219456"/>
          </a:xfrm>
          <a:prstGeom prst="rect">
            <a:avLst/>
          </a:prstGeom>
          <a:noFill/>
        </p:spPr>
        <p:txBody>
          <a:bodyPr wrap="none" lIns="0" rIns="0" tIns="0" bIns="0">
            <a:spAutoFit/>
          </a:bodyPr>
          <a:lstStyle/>
          <a:p>
            <a:pPr algn="r"/>
            <a:r>
              <a:rPr sz="1050" b="1" u="sng">
                <a:solidFill>
                  <a:srgbClr val="C77700"/>
                </a:solidFill>
                <a:latin typeface="Arial"/>
                <a:hlinkClick r:id="rId6"/>
              </a:rPr>
              <a:t>DGCA statistics</a:t>
            </a:r>
          </a:p>
        </p:txBody>
      </p:sp>
      <p:sp>
        <p:nvSpPr>
          <p:cNvPr id="17423" name="Rounded Rectangle 17422">
            <a:hlinkClick r:id="rId7"/>
          </p:cNvPr>
          <p:cNvSpPr/>
          <p:nvPr/>
        </p:nvSpPr>
        <p:spPr>
          <a:xfrm>
            <a:off x="411480" y="3108960"/>
            <a:ext cx="3703320"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411480" y="3108960"/>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557784"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Standards we hold to</a:t>
            </a:r>
          </a:p>
          <a:p>
            <a:pPr>
              <a:lnSpc>
                <a:spcPct val="95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p:txBody>
      </p:sp>
      <p:sp>
        <p:nvSpPr>
          <p:cNvPr id="17426" name="TextBox 17425"/>
          <p:cNvSpPr txBox="1"/>
          <p:nvPr/>
        </p:nvSpPr>
        <p:spPr>
          <a:xfrm>
            <a:off x="1956816" y="4480559"/>
            <a:ext cx="2011680" cy="219456"/>
          </a:xfrm>
          <a:prstGeom prst="rect">
            <a:avLst/>
          </a:prstGeom>
          <a:noFill/>
        </p:spPr>
        <p:txBody>
          <a:bodyPr wrap="none" lIns="0" rIns="0" tIns="0" bIns="0">
            <a:spAutoFit/>
          </a:bodyPr>
          <a:lstStyle/>
          <a:p>
            <a:pPr algn="r"/>
            <a:r>
              <a:rPr sz="1050" b="1" u="sng">
                <a:solidFill>
                  <a:srgbClr val="4B3F8C"/>
                </a:solidFill>
                <a:latin typeface="Arial"/>
                <a:hlinkClick r:id="rId7"/>
              </a:rPr>
              <a:t>RFC 9309</a:t>
            </a:r>
          </a:p>
        </p:txBody>
      </p:sp>
      <p:sp>
        <p:nvSpPr>
          <p:cNvPr id="17427" name="Rounded Rectangle 17426">
            <a:hlinkClick r:id="rId8"/>
          </p:cNvPr>
          <p:cNvSpPr/>
          <p:nvPr/>
        </p:nvSpPr>
        <p:spPr>
          <a:xfrm>
            <a:off x="4370832" y="3108960"/>
            <a:ext cx="3703320" cy="1627632"/>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8" name="Rectangle 17427"/>
          <p:cNvSpPr/>
          <p:nvPr/>
        </p:nvSpPr>
        <p:spPr>
          <a:xfrm>
            <a:off x="4370832" y="3108960"/>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517136"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0E7C86"/>
                </a:solidFill>
                <a:latin typeface="Arial"/>
              </a:rPr>
              <a:t>CPI methodology</a:t>
            </a:r>
          </a:p>
          <a:p>
            <a:pPr>
              <a:lnSpc>
                <a:spcPct val="95000"/>
              </a:lnSpc>
              <a:spcBef>
                <a:spcPts val="400"/>
              </a:spcBef>
              <a:spcAft>
                <a:spcPts val="0"/>
              </a:spcAft>
            </a:pPr>
            <a:r>
              <a:rPr sz="1150" b="0">
                <a:solidFill>
                  <a:srgbClr val="262B33"/>
                </a:solidFill>
                <a:latin typeface="Arial"/>
              </a:rPr>
              <a:t>MoSPI moved the CPI to base 2024=100 in February 2026, aligned to COICOP 2018. Air fares are still priced by hand — the process this augments.</a:t>
            </a:r>
          </a:p>
        </p:txBody>
      </p:sp>
      <p:sp>
        <p:nvSpPr>
          <p:cNvPr id="17430" name="TextBox 17429"/>
          <p:cNvSpPr txBox="1"/>
          <p:nvPr/>
        </p:nvSpPr>
        <p:spPr>
          <a:xfrm>
            <a:off x="5916168" y="4480559"/>
            <a:ext cx="2011680" cy="219456"/>
          </a:xfrm>
          <a:prstGeom prst="rect">
            <a:avLst/>
          </a:prstGeom>
          <a:noFill/>
        </p:spPr>
        <p:txBody>
          <a:bodyPr wrap="none" lIns="0" rIns="0" tIns="0" bIns="0">
            <a:spAutoFit/>
          </a:bodyPr>
          <a:lstStyle/>
          <a:p>
            <a:pPr algn="r"/>
            <a:r>
              <a:rPr sz="1050" b="1" u="sng">
                <a:solidFill>
                  <a:srgbClr val="0E7C86"/>
                </a:solidFill>
                <a:latin typeface="Arial"/>
                <a:hlinkClick r:id="rId8"/>
              </a:rPr>
              <a:t>The 2024=100 series</a:t>
            </a:r>
          </a:p>
        </p:txBody>
      </p:sp>
      <p:sp>
        <p:nvSpPr>
          <p:cNvPr id="17431" name="Rounded Rectangle 17430">
            <a:hlinkClick r:id="rId9"/>
          </p:cNvPr>
          <p:cNvSpPr/>
          <p:nvPr/>
        </p:nvSpPr>
        <p:spPr>
          <a:xfrm>
            <a:off x="8330183" y="3108960"/>
            <a:ext cx="3703320" cy="1627632"/>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8330183" y="3108960"/>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8476488"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7A3E6B"/>
                </a:solidFill>
                <a:latin typeface="Arial"/>
              </a:rPr>
              <a:t>Our code and full method</a:t>
            </a:r>
          </a:p>
          <a:p>
            <a:pPr>
              <a:lnSpc>
                <a:spcPct val="95000"/>
              </a:lnSpc>
              <a:spcBef>
                <a:spcPts val="400"/>
              </a:spcBef>
              <a:spcAft>
                <a:spcPts val="0"/>
              </a:spcAft>
            </a:pPr>
            <a:r>
              <a:rPr sz="1150" b="0">
                <a:solidFill>
                  <a:srgbClr val="262B33"/>
                </a:solidFill>
                <a:latin typeface="Arial"/>
              </a:rPr>
              <a:t>Collector, index engine, export API and portal. The README documents the method and the publication threshold.
github.com/BradCage-afk/sih-2026-airfare-index</a:t>
            </a:r>
          </a:p>
        </p:txBody>
      </p:sp>
      <p:sp>
        <p:nvSpPr>
          <p:cNvPr id="17434" name="TextBox 17433"/>
          <p:cNvSpPr txBox="1"/>
          <p:nvPr/>
        </p:nvSpPr>
        <p:spPr>
          <a:xfrm>
            <a:off x="9875520" y="4480559"/>
            <a:ext cx="2011680" cy="219456"/>
          </a:xfrm>
          <a:prstGeom prst="rect">
            <a:avLst/>
          </a:prstGeom>
          <a:noFill/>
        </p:spPr>
        <p:txBody>
          <a:bodyPr wrap="none" lIns="0" rIns="0" tIns="0" bIns="0">
            <a:spAutoFit/>
          </a:bodyPr>
          <a:lstStyle/>
          <a:p>
            <a:pPr algn="r"/>
            <a:r>
              <a:rPr sz="1050" b="1" u="sng">
                <a:solidFill>
                  <a:srgbClr val="7A3E6B"/>
                </a:solidFill>
                <a:latin typeface="Arial"/>
                <a:hlinkClick r:id="rId9"/>
              </a:rPr>
              <a:t>Open the repo</a:t>
            </a:r>
          </a:p>
        </p:txBody>
      </p:sp>
      <p:pic>
        <p:nvPicPr>
          <p:cNvPr id="17435" name="Picture 17434" descr="chart-survey.png"/>
          <p:cNvPicPr>
            <a:picLocks noChangeAspect="1"/>
          </p:cNvPicPr>
          <p:nvPr/>
        </p:nvPicPr>
        <p:blipFill>
          <a:blip r:embed="rId10"/>
          <a:stretch>
            <a:fillRect/>
          </a:stretch>
        </p:blipFill>
        <p:spPr>
          <a:xfrm>
            <a:off x="411480" y="4754880"/>
            <a:ext cx="4160520" cy="1550487"/>
          </a:xfrm>
          <a:prstGeom prst="rect">
            <a:avLst/>
          </a:prstGeom>
        </p:spPr>
      </p:pic>
      <p:sp>
        <p:nvSpPr>
          <p:cNvPr id="17436" name="TextBox 17435"/>
          <p:cNvSpPr txBox="1"/>
          <p:nvPr/>
        </p:nvSpPr>
        <p:spPr>
          <a:xfrm>
            <a:off x="4800600" y="4791456"/>
            <a:ext cx="6949440" cy="118872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600"/>
              </a:spcBef>
              <a:spcAft>
                <a:spcPts val="0"/>
              </a:spcAft>
            </a:pPr>
            <a:r>
              <a:rPr sz="1150" b="1">
                <a:solidFill>
                  <a:srgbClr val="1F497D"/>
                </a:solidFill>
                <a:latin typeface="Arial"/>
              </a:rPr>
              <a:t>Everything in this deck is checkable against a live system:</a:t>
            </a:r>
          </a:p>
        </p:txBody>
      </p:sp>
      <p:sp>
        <p:nvSpPr>
          <p:cNvPr id="17437" name="TextBox 17436"/>
          <p:cNvSpPr txBox="1"/>
          <p:nvPr/>
        </p:nvSpPr>
        <p:spPr>
          <a:xfrm>
            <a:off x="4800600" y="5907024"/>
            <a:ext cx="1641348" cy="219456"/>
          </a:xfrm>
          <a:prstGeom prst="rect">
            <a:avLst/>
          </a:prstGeom>
          <a:noFill/>
        </p:spPr>
        <p:txBody>
          <a:bodyPr wrap="none" lIns="0" rIns="0" tIns="0" bIns="0">
            <a:spAutoFit/>
          </a:bodyPr>
          <a:lstStyle/>
          <a:p>
            <a:pPr algn="l"/>
            <a:r>
              <a:rPr sz="1050" b="1" u="sng">
                <a:solidFill>
                  <a:srgbClr val="1F497D"/>
                </a:solidFill>
                <a:latin typeface="Arial"/>
                <a:hlinkClick r:id="rId11"/>
              </a:rPr>
              <a:t>Live API docs</a:t>
            </a:r>
          </a:p>
        </p:txBody>
      </p:sp>
      <p:sp>
        <p:nvSpPr>
          <p:cNvPr id="17438" name="TextBox 17437"/>
          <p:cNvSpPr txBox="1"/>
          <p:nvPr/>
        </p:nvSpPr>
        <p:spPr>
          <a:xfrm>
            <a:off x="6569964" y="5907024"/>
            <a:ext cx="1641348" cy="219456"/>
          </a:xfrm>
          <a:prstGeom prst="rect">
            <a:avLst/>
          </a:prstGeom>
          <a:noFill/>
        </p:spPr>
        <p:txBody>
          <a:bodyPr wrap="none" lIns="0" rIns="0" tIns="0" bIns="0">
            <a:spAutoFit/>
          </a:bodyPr>
          <a:lstStyle/>
          <a:p>
            <a:pPr algn="l"/>
            <a:r>
              <a:rPr sz="1050" b="1" u="sng">
                <a:solidFill>
                  <a:srgbClr val="1B8A5A"/>
                </a:solidFill>
                <a:latin typeface="Arial"/>
                <a:hlinkClick r:id="rId12"/>
              </a:rPr>
              <a:t>Release portal</a:t>
            </a:r>
          </a:p>
        </p:txBody>
      </p:sp>
      <p:sp>
        <p:nvSpPr>
          <p:cNvPr id="17439" name="TextBox 17438"/>
          <p:cNvSpPr txBox="1"/>
          <p:nvPr/>
        </p:nvSpPr>
        <p:spPr>
          <a:xfrm>
            <a:off x="8339328" y="5907024"/>
            <a:ext cx="1641348" cy="219456"/>
          </a:xfrm>
          <a:prstGeom prst="rect">
            <a:avLst/>
          </a:prstGeom>
          <a:noFill/>
        </p:spPr>
        <p:txBody>
          <a:bodyPr wrap="none" lIns="0" rIns="0" tIns="0" bIns="0">
            <a:spAutoFit/>
          </a:bodyPr>
          <a:lstStyle/>
          <a:p>
            <a:pPr algn="l"/>
            <a:r>
              <a:rPr sz="1050" b="1" u="sng">
                <a:solidFill>
                  <a:srgbClr val="4B3F8C"/>
                </a:solidFill>
                <a:latin typeface="Arial"/>
                <a:hlinkClick r:id="rId13"/>
              </a:rPr>
              <a:t>README + method</a:t>
            </a:r>
          </a:p>
        </p:txBody>
      </p:sp>
      <p:sp>
        <p:nvSpPr>
          <p:cNvPr id="17440" name="TextBox 17439"/>
          <p:cNvSpPr txBox="1"/>
          <p:nvPr/>
        </p:nvSpPr>
        <p:spPr>
          <a:xfrm>
            <a:off x="10108692" y="5907024"/>
            <a:ext cx="1641348" cy="219456"/>
          </a:xfrm>
          <a:prstGeom prst="rect">
            <a:avLst/>
          </a:prstGeom>
          <a:noFill/>
        </p:spPr>
        <p:txBody>
          <a:bodyPr wrap="none" lIns="0" rIns="0" tIns="0" bIns="0">
            <a:spAutoFit/>
          </a:bodyPr>
          <a:lstStyle/>
          <a:p>
            <a:pPr algn="l"/>
            <a:r>
              <a:rPr sz="1050" b="1" u="sng">
                <a:solidFill>
                  <a:srgbClr val="0E7C86"/>
                </a:solidFill>
                <a:latin typeface="Arial"/>
                <a:hlinkClick r:id="rId14"/>
              </a:rPr>
              <a:t>Aviation market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