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4048" y="1965960"/>
            <a:ext cx="5806440" cy="4526280"/>
          </a:xfrm>
          <a:prstGeom prst="rect">
            <a:avLst/>
          </a:prstGeom>
          <a:noFill/>
        </p:spPr>
        <p:txBody>
          <a:bodyPr wrap="square" rtlCol="0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ID</a:t>
            </a:r>
            <a:endParaRPr lang="en-US" dirty="0"/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SIH26056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TITLE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262B33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THEME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Travel &amp; Tourism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PS CATEGORY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Software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SPONSORING MINISTRY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MoSPI — Ministry of Statistics and Programme Implementation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ID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ID›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NAME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NAME›  (as registered on portal)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AIRFARE PRICE INDEX  —  IDEA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11480" y="1170432"/>
            <a:ext cx="45720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Proposed Solution</a:t>
            </a:r>
          </a:p>
        </p:txBody>
      </p:sp>
      <p:sp>
        <p:nvSpPr>
          <p:cNvPr id="15363" name="Rectangle 15362"/>
          <p:cNvSpPr/>
          <p:nvPr/>
        </p:nvSpPr>
        <p:spPr>
          <a:xfrm>
            <a:off x="429768" y="1444752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TextBox 15363"/>
          <p:cNvSpPr txBox="1"/>
          <p:nvPr/>
        </p:nvSpPr>
        <p:spPr>
          <a:xfrm>
            <a:off x="411480" y="1536192"/>
            <a:ext cx="5623560" cy="1828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62B33"/>
                </a:solidFill>
                <a:latin typeface="Arial"/>
              </a:rPr>
              <a:t>•  A daily, machine-collected airfare price index for MoSPI.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Fixed basket: 6 city pairs × 5 booking lead times × multiple portals, re-priced every 4 hours by an automated pipeline.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An airfare is not one price — it is a price surface over how early you book. Fixed lead-time windows make the series comparable day to day.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Output: a CPI-ready index series plus the fare micro-data behind every point.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411480" y="3520440"/>
            <a:ext cx="45720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The basket, fixed by design</a:t>
            </a:r>
          </a:p>
        </p:txBody>
      </p:sp>
      <p:sp>
        <p:nvSpPr>
          <p:cNvPr id="15366" name="Rectangle 15365"/>
          <p:cNvSpPr/>
          <p:nvPr/>
        </p:nvSpPr>
        <p:spPr>
          <a:xfrm>
            <a:off x="429768" y="379476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7" name="Rounded Rectangle 15366"/>
          <p:cNvSpPr/>
          <p:nvPr/>
        </p:nvSpPr>
        <p:spPr>
          <a:xfrm>
            <a:off x="411480" y="3913632"/>
            <a:ext cx="877824" cy="29260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DEL–BOM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1353312" y="3913632"/>
            <a:ext cx="877824" cy="29260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DEL–BLR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2295144" y="3913632"/>
            <a:ext cx="877824" cy="29260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BOM–BLR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3236976" y="3913632"/>
            <a:ext cx="877824" cy="29260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DEL–CCU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4178808" y="3913632"/>
            <a:ext cx="877824" cy="29260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BLR–HYD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5120640" y="3913632"/>
            <a:ext cx="877824" cy="29260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MAA–DEL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411480" y="4297680"/>
            <a:ext cx="877824" cy="2926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1F497D"/>
                </a:solidFill>
                <a:latin typeface="Arial"/>
              </a:rPr>
              <a:t>T+1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1353312" y="4297680"/>
            <a:ext cx="877824" cy="2926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1F497D"/>
                </a:solidFill>
                <a:latin typeface="Arial"/>
              </a:rPr>
              <a:t>T+7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2295144" y="4297680"/>
            <a:ext cx="877824" cy="2926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1F497D"/>
                </a:solidFill>
                <a:latin typeface="Arial"/>
              </a:rPr>
              <a:t>T+15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3236976" y="4297680"/>
            <a:ext cx="877824" cy="2926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1F497D"/>
                </a:solidFill>
                <a:latin typeface="Arial"/>
              </a:rPr>
              <a:t>T+30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4178808" y="4297680"/>
            <a:ext cx="877824" cy="2926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50" b="1">
                <a:solidFill>
                  <a:srgbClr val="1F497D"/>
                </a:solidFill>
                <a:latin typeface="Arial"/>
              </a:rPr>
              <a:t>T+45</a:t>
            </a:r>
          </a:p>
        </p:txBody>
      </p:sp>
      <p:sp>
        <p:nvSpPr>
          <p:cNvPr id="15378" name="TextBox 15377"/>
          <p:cNvSpPr txBox="1"/>
          <p:nvPr/>
        </p:nvSpPr>
        <p:spPr>
          <a:xfrm>
            <a:off x="411480" y="4645152"/>
            <a:ext cx="562356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26C"/>
                </a:solidFill>
                <a:latin typeface="Arial"/>
              </a:rPr>
              <a:t>Routes above · advance-booking windows below — 60 observations per run, ~360 per day.</a:t>
            </a:r>
          </a:p>
        </p:txBody>
      </p:sp>
      <p:sp>
        <p:nvSpPr>
          <p:cNvPr id="15379" name="Rounded Rectangle 15378"/>
          <p:cNvSpPr/>
          <p:nvPr/>
        </p:nvSpPr>
        <p:spPr>
          <a:xfrm>
            <a:off x="411480" y="5074920"/>
            <a:ext cx="5623560" cy="102412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WHAT IS STORED — ONE ROW PER FLIGHT, NOT JUST THE INDEX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00" b="0">
                <a:solidFill>
                  <a:srgbClr val="262B33"/>
                </a:solidFill>
                <a:latin typeface="Arial"/>
              </a:rPr>
              <a:t>origin · destination · carrier · source · advance_window_days · base_fare · taxes · udf · convenience_fee · total_fare · model_used · scraped_at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The index is recomputed from this micro-data, so a revision never means re-collecting.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6446520" y="1170432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81" name="Rectangle 15380"/>
          <p:cNvSpPr/>
          <p:nvPr/>
        </p:nvSpPr>
        <p:spPr>
          <a:xfrm>
            <a:off x="6464807" y="1444752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2" name="TextBox 15381"/>
          <p:cNvSpPr txBox="1"/>
          <p:nvPr/>
        </p:nvSpPr>
        <p:spPr>
          <a:xfrm>
            <a:off x="6446520" y="1536192"/>
            <a:ext cx="5349240" cy="1737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CPI air-fare collection is manual, infrequent and quotes a single price; it cannot see the booking-window dimension that drives what people pay.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This pipeline replaces field collection with a reproducible daily series, auditable back to the exact page and timestamp it came from.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Same basket, same windows, every day — the comparability a price index needs.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6446520" y="3310128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Innovation and uniqueness</a:t>
            </a:r>
          </a:p>
        </p:txBody>
      </p:sp>
      <p:sp>
        <p:nvSpPr>
          <p:cNvPr id="15384" name="Rectangle 15383"/>
          <p:cNvSpPr/>
          <p:nvPr/>
        </p:nvSpPr>
        <p:spPr>
          <a:xfrm>
            <a:off x="6464807" y="358444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5" name="TextBox 15384"/>
          <p:cNvSpPr txBox="1"/>
          <p:nvPr/>
        </p:nvSpPr>
        <p:spPr>
          <a:xfrm>
            <a:off x="6446520" y="3675887"/>
            <a:ext cx="5349240" cy="23774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Structure-based extraction, not CSS selectors.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Fare rows are found by their shape — a time and a ₹ price repeating — so a site redesign does not break the scraper.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Model-agnostic LLM parsing.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One OpenAI-compatible client; the model id is configuration. Every row stores model_used, so extraction quality is auditable in SQL.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Compliance built in, not bolted on.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RFC 9309 robots gate, rate limiting and randomised delays before any fetch.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3000" b="1">
                <a:solidFill>
                  <a:srgbClr val="1F497D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15568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Technologies to be used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38988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51790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Language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1554480" y="1531619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Python 3.11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181508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Fetch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1554480" y="1828799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Playwright — headless Chromium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11480" y="211226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Extraction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1554480" y="2125980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LLM over an OpenAI-compatible endpoint — model is config, with failover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11480" y="240944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Validation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1554480" y="2423160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Pydantic v2 — strict schema, no invented values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11480" y="270662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Storage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1554480" y="2720340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Supabase / PostgreSQL — insert-only time series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411480" y="300380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Scheduling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1554480" y="3017520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cron on a residential host; CI kept for manual runs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11480" y="3300984"/>
            <a:ext cx="1060704" cy="2468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900" b="1">
                <a:solidFill>
                  <a:srgbClr val="1F497D"/>
                </a:solidFill>
                <a:latin typeface="Arial"/>
              </a:rPr>
              <a:t>Front end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554480" y="3314700"/>
            <a:ext cx="32461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HTML + SVG index dashboard, light/dark, no framework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11480" y="3840480"/>
            <a:ext cx="4389120" cy="969264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CADENCE AND VOLUME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Every 4 hours → 6 runs a day → 60 pages a run → ~360 pages and roughly 2,000 validated fare rows a day, at ~4 minutes of compute per run.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411480" y="5010912"/>
            <a:ext cx="43891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Extending it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429768" y="5285232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411480" y="5358384"/>
            <a:ext cx="438912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A new city pair: one line in config.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A new portal: one entry in the source registry.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A different model: change one environment variable.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5074920" y="1115568"/>
            <a:ext cx="66751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Methodology — the pipeline, one route × one window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5093207" y="138988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Rounded Rectangle 17431"/>
          <p:cNvSpPr/>
          <p:nvPr/>
        </p:nvSpPr>
        <p:spPr>
          <a:xfrm>
            <a:off x="5074920" y="1554480"/>
            <a:ext cx="1042415" cy="84124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1  Robots gate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5A626C"/>
                </a:solidFill>
                <a:latin typeface="Arial"/>
              </a:rPr>
              <a:t>RFC 9309 check
per host, cached</a:t>
            </a:r>
          </a:p>
        </p:txBody>
      </p:sp>
      <p:sp>
        <p:nvSpPr>
          <p:cNvPr id="17433" name="Right Arrow 17432"/>
          <p:cNvSpPr/>
          <p:nvPr/>
        </p:nvSpPr>
        <p:spPr>
          <a:xfrm>
            <a:off x="6128308" y="1856231"/>
            <a:ext cx="160020" cy="219456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Rounded Rectangle 17433"/>
          <p:cNvSpPr/>
          <p:nvPr/>
        </p:nvSpPr>
        <p:spPr>
          <a:xfrm>
            <a:off x="6254496" y="1554480"/>
            <a:ext cx="1042415" cy="84124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2  Fetch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5A626C"/>
                </a:solidFill>
                <a:latin typeface="Arial"/>
              </a:rPr>
              <a:t>Playwright renders
the results page</a:t>
            </a:r>
          </a:p>
        </p:txBody>
      </p:sp>
      <p:sp>
        <p:nvSpPr>
          <p:cNvPr id="17435" name="Right Arrow 17434"/>
          <p:cNvSpPr/>
          <p:nvPr/>
        </p:nvSpPr>
        <p:spPr>
          <a:xfrm>
            <a:off x="7307884" y="1856231"/>
            <a:ext cx="160020" cy="219456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Rounded Rectangle 17435"/>
          <p:cNvSpPr/>
          <p:nvPr/>
        </p:nvSpPr>
        <p:spPr>
          <a:xfrm>
            <a:off x="7434071" y="1554480"/>
            <a:ext cx="1042415" cy="84124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3  Trim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5A626C"/>
                </a:solidFill>
                <a:latin typeface="Arial"/>
              </a:rPr>
              <a:t>Keep only the
fare rows</a:t>
            </a:r>
          </a:p>
        </p:txBody>
      </p:sp>
      <p:sp>
        <p:nvSpPr>
          <p:cNvPr id="17437" name="Right Arrow 17436"/>
          <p:cNvSpPr/>
          <p:nvPr/>
        </p:nvSpPr>
        <p:spPr>
          <a:xfrm>
            <a:off x="8487460" y="1856231"/>
            <a:ext cx="160020" cy="219456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Rounded Rectangle 17437"/>
          <p:cNvSpPr/>
          <p:nvPr/>
        </p:nvSpPr>
        <p:spPr>
          <a:xfrm>
            <a:off x="8613647" y="1554480"/>
            <a:ext cx="1042415" cy="84124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4  Extract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5A626C"/>
                </a:solidFill>
                <a:latin typeface="Arial"/>
              </a:rPr>
              <a:t>LLM → strict JSON
1 retry, then skip</a:t>
            </a:r>
          </a:p>
        </p:txBody>
      </p:sp>
      <p:sp>
        <p:nvSpPr>
          <p:cNvPr id="17439" name="Right Arrow 17438"/>
          <p:cNvSpPr/>
          <p:nvPr/>
        </p:nvSpPr>
        <p:spPr>
          <a:xfrm>
            <a:off x="9667036" y="1856231"/>
            <a:ext cx="160020" cy="219456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Rounded Rectangle 17439"/>
          <p:cNvSpPr/>
          <p:nvPr/>
        </p:nvSpPr>
        <p:spPr>
          <a:xfrm>
            <a:off x="9793224" y="1554480"/>
            <a:ext cx="1042415" cy="84124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5  Validate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5A626C"/>
                </a:solidFill>
                <a:latin typeface="Arial"/>
              </a:rPr>
              <a:t>Pydantic schema
+ sanity ranges</a:t>
            </a:r>
          </a:p>
        </p:txBody>
      </p:sp>
      <p:sp>
        <p:nvSpPr>
          <p:cNvPr id="17441" name="Right Arrow 17440"/>
          <p:cNvSpPr/>
          <p:nvPr/>
        </p:nvSpPr>
        <p:spPr>
          <a:xfrm>
            <a:off x="10846612" y="1856231"/>
            <a:ext cx="160020" cy="219456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Rounded Rectangle 17441"/>
          <p:cNvSpPr/>
          <p:nvPr/>
        </p:nvSpPr>
        <p:spPr>
          <a:xfrm>
            <a:off x="10972800" y="1554480"/>
            <a:ext cx="1042415" cy="841248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6  Store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5A626C"/>
                </a:solidFill>
                <a:latin typeface="Arial"/>
              </a:rPr>
              <a:t>INSERT into fares
with model_used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5074920" y="2450592"/>
            <a:ext cx="66751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26C"/>
                </a:solidFill>
                <a:latin typeface="Arial"/>
              </a:rPr>
              <a:t>Retry with backoff (max 2) · randomised 3–5 s between requests · shared rate limiter on LLM calls · one failure never ends the run.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5074920" y="2907792"/>
            <a:ext cx="6675120" cy="93268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497D"/>
                </a:solidFill>
                <a:latin typeface="Arial"/>
              </a:rPr>
              <a:t>RUNNING, NOT PROPOSED  ·  1 Sep 2026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109 live fares scraped, parsed and written to Postgres in one 5-minute run — zero failed fetches, zero failed extractions. Results page trimmed from 13,000 to 3,700 characters before the model sees it. The dashboard reads the database directly at real-time-airfare.vercel.app.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5074920" y="4041648"/>
            <a:ext cx="66751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Why the trim matters</a:t>
            </a:r>
          </a:p>
        </p:txBody>
      </p:sp>
      <p:sp>
        <p:nvSpPr>
          <p:cNvPr id="17446" name="Rectangle 17445"/>
          <p:cNvSpPr/>
          <p:nvPr/>
        </p:nvSpPr>
        <p:spPr>
          <a:xfrm>
            <a:off x="5093207" y="431596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7" name="TextBox 17446"/>
          <p:cNvSpPr txBox="1"/>
          <p:nvPr/>
        </p:nvSpPr>
        <p:spPr>
          <a:xfrm>
            <a:off x="5074920" y="4407408"/>
            <a:ext cx="667512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•  A results page is ~13,000 characters of navigation, filters and offers; the fares are ~3,700 of them.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•  Sending only the fare block keeps the prompt short — which is what stops a model truncating its JSON half way through the list.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•  Longer listings are split across calls rather than sent as one long prompt.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3000" b="1">
                <a:solidFill>
                  <a:srgbClr val="1F497D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15568"/>
            <a:ext cx="42062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Feasibility of the idea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38988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481328"/>
            <a:ext cx="4343400" cy="22860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A working prototype exists today.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Fetch → extract → validate → store runs end to end against a live portal.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Runs at zero marginal cost.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GitHub Actions free tier, Supabase free tier, free-tier LLM inference.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Volume is small and predictable.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60 pages per run × 6 runs a day; ~90 model calls per run, inside a 40-requests-per-minute limit.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•  Scales by configuration, not code.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 A new city pair is one line; a new portal is one dictionary entry.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3977639"/>
            <a:ext cx="4343400" cy="868680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497D"/>
                </a:solidFill>
                <a:latin typeface="Arial"/>
              </a:rPr>
              <a:t>RUNNING COST AT FULL BASKET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₹0 / month on free tiers · ~4 minutes of compute per run · no field staff, no travel, no manual keying.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11480" y="5010912"/>
            <a:ext cx="43891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Manual collection vs this pipeline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429768" y="5285232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411480" y="5340096"/>
            <a:ext cx="9601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Frequency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1389888" y="5340096"/>
            <a:ext cx="120700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6C"/>
                </a:solidFill>
                <a:latin typeface="Arial"/>
              </a:rPr>
              <a:t>periodic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2615184" y="5340096"/>
            <a:ext cx="219456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F7A3A"/>
                </a:solidFill>
                <a:latin typeface="Arial"/>
              </a:rPr>
              <a:t>→ every 4 hours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11480" y="5554980"/>
            <a:ext cx="9601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Coverage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1389888" y="5554980"/>
            <a:ext cx="120700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6C"/>
                </a:solidFill>
                <a:latin typeface="Arial"/>
              </a:rPr>
              <a:t>one quoted price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2615184" y="5554980"/>
            <a:ext cx="219456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F7A3A"/>
                </a:solidFill>
                <a:latin typeface="Arial"/>
              </a:rPr>
              <a:t>→ 5 lead times × portals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11480" y="5769864"/>
            <a:ext cx="9601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Audit trail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1389888" y="5769864"/>
            <a:ext cx="120700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6C"/>
                </a:solidFill>
                <a:latin typeface="Arial"/>
              </a:rPr>
              <a:t>field records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2615184" y="5769864"/>
            <a:ext cx="219456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F7A3A"/>
                </a:solidFill>
                <a:latin typeface="Arial"/>
              </a:rPr>
              <a:t>→ URL, timestamp, model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11480" y="5984748"/>
            <a:ext cx="9601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F497D"/>
                </a:solidFill>
                <a:latin typeface="Arial"/>
              </a:rPr>
              <a:t>Marginal cost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1389888" y="5984748"/>
            <a:ext cx="120700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6C"/>
                </a:solidFill>
                <a:latin typeface="Arial"/>
              </a:rPr>
              <a:t>staff time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2615184" y="5984748"/>
            <a:ext cx="219456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F7A3A"/>
                </a:solidFill>
                <a:latin typeface="Arial"/>
              </a:rPr>
              <a:t>→ ≈ zero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5074920" y="1115568"/>
            <a:ext cx="66751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Potential challenges, risks and strategies</a:t>
            </a:r>
          </a:p>
        </p:txBody>
      </p:sp>
      <p:sp>
        <p:nvSpPr>
          <p:cNvPr id="17429" name="Rectangle 17428"/>
          <p:cNvSpPr/>
          <p:nvPr/>
        </p:nvSpPr>
        <p:spPr>
          <a:xfrm>
            <a:off x="5093207" y="138988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5074920" y="1444752"/>
            <a:ext cx="6675120" cy="722376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1" name="Rectangle 17430"/>
          <p:cNvSpPr/>
          <p:nvPr/>
        </p:nvSpPr>
        <p:spPr>
          <a:xfrm>
            <a:off x="5074920" y="1444752"/>
            <a:ext cx="45720" cy="722376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5230368" y="1508760"/>
            <a:ext cx="640080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Airline portals block headless browsers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IndiGo, Air India and Akasa refuse automated traffic. Basket is OTA-first; residential proxy or an official airline/GDS feed via the Ministry closes the gap.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5074920" y="2217420"/>
            <a:ext cx="6675120" cy="7223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4" name="Rectangle 17433"/>
          <p:cNvSpPr/>
          <p:nvPr/>
        </p:nvSpPr>
        <p:spPr>
          <a:xfrm>
            <a:off x="5074920" y="2217420"/>
            <a:ext cx="45720" cy="722376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TextBox 17434"/>
          <p:cNvSpPr txBox="1"/>
          <p:nvPr/>
        </p:nvSpPr>
        <p:spPr>
          <a:xfrm>
            <a:off x="5230368" y="2281428"/>
            <a:ext cx="640080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Portals block cloud IPs, so CI cannot scrape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Cleartrip serves a home connection normally but answers GitHub's runners with HTTP 403. Scheduling therefore runs from a residential host under cron with a lock file; the CI workflows are kept for manual and self-hosted runs.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5074920" y="2990088"/>
            <a:ext cx="6675120" cy="722376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7" name="Rectangle 17436"/>
          <p:cNvSpPr/>
          <p:nvPr/>
        </p:nvSpPr>
        <p:spPr>
          <a:xfrm>
            <a:off x="5074920" y="2990088"/>
            <a:ext cx="45720" cy="722376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TextBox 17437"/>
          <p:cNvSpPr txBox="1"/>
          <p:nvPr/>
        </p:nvSpPr>
        <p:spPr>
          <a:xfrm>
            <a:off x="5230368" y="3054096"/>
            <a:ext cx="640080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Some portals disallow their search paths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Ixigo's robots.txt forbids /search/result/. The gate detects it and skips the source automatically — we only ever crawl what we are permitted to.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5074920" y="3762756"/>
            <a:ext cx="6675120" cy="7223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0" name="Rectangle 17439"/>
          <p:cNvSpPr/>
          <p:nvPr/>
        </p:nvSpPr>
        <p:spPr>
          <a:xfrm>
            <a:off x="5074920" y="3762756"/>
            <a:ext cx="45720" cy="72237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5230368" y="3826764"/>
            <a:ext cx="640080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Model availability is unreliable — the pipeline now routes around it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Three models died during this build: two were already end-of-life at design time, and a third was retired mid-run (410 Gone). Extraction now fails over to the next configured model automatically, and model_used is stored per row so every switch is auditable.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5074920" y="4535424"/>
            <a:ext cx="6675120" cy="722376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3" name="Rectangle 17442"/>
          <p:cNvSpPr/>
          <p:nvPr/>
        </p:nvSpPr>
        <p:spPr>
          <a:xfrm>
            <a:off x="5074920" y="4535424"/>
            <a:ext cx="45720" cy="72237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TextBox 17443"/>
          <p:cNvSpPr txBox="1"/>
          <p:nvPr/>
        </p:nvSpPr>
        <p:spPr>
          <a:xfrm>
            <a:off x="5230368" y="4599432"/>
            <a:ext cx="640080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Sites redesign their markup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Extraction keys off structure (a time next to a price), not class names, so a redesign changes nothing. An explicit selector can still be pinned per source.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5074920" y="5308092"/>
            <a:ext cx="6675120" cy="7223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6" name="Rectangle 17445"/>
          <p:cNvSpPr/>
          <p:nvPr/>
        </p:nvSpPr>
        <p:spPr>
          <a:xfrm>
            <a:off x="5074920" y="5308092"/>
            <a:ext cx="45720" cy="722376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7" name="TextBox 17446"/>
          <p:cNvSpPr txBox="1"/>
          <p:nvPr/>
        </p:nvSpPr>
        <p:spPr>
          <a:xfrm>
            <a:off x="5230368" y="5372100"/>
            <a:ext cx="640080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A model could invent a fare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Strict schema, plausible-range checks, and components left NULL when the page does not show them — the pipeline never estimates a number.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3000" b="1">
                <a:solidFill>
                  <a:srgbClr val="1F497D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37160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499616"/>
            <a:ext cx="2724912" cy="530352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MoSPI / NSO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CPI transport sub-index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64408" y="1499616"/>
            <a:ext cx="2724912" cy="530352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DGCA &amp; policy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fare behaviour evidence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2103120"/>
            <a:ext cx="2724912" cy="530352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Airlines &amp; OTAs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market benchmark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64408" y="2103120"/>
            <a:ext cx="2724912" cy="530352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497D"/>
                </a:solidFill>
                <a:latin typeface="Arial"/>
              </a:rPr>
              <a:t>Citizens &amp; press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when to book, what is normal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11480" y="2761488"/>
            <a:ext cx="5577840" cy="1371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•  Replaces a slow, manual, partial fare collection with a daily series that can be recomputed and audited from stored micro-data.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•  Adds the dimension CPI cannot currently see: how much of a fare is the ticket and how much is booking late.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•  Every index point traces to a source, a URL, a timestamp and the model that read it — a statistical office can defend it.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11480" y="4224528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Benefits of the solution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429768" y="449884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411480" y="4608576"/>
            <a:ext cx="960120" cy="237744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Economic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1463040" y="4599432"/>
            <a:ext cx="45262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Sharper CPI input for monetary policy and indexation; a public benchmark for a market with no published price series.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11480" y="5120640"/>
            <a:ext cx="960120" cy="237744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Social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1463040" y="5111496"/>
            <a:ext cx="45262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Transparency on festival and disaster-time surges; households can see what booking earlier is worth.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11480" y="5632704"/>
            <a:ext cx="960120" cy="237744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Operational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1463040" y="5623560"/>
            <a:ext cx="452628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62B33"/>
                </a:solidFill>
                <a:latin typeface="Arial"/>
              </a:rPr>
              <a:t>No field enumeration, no manual entry, near-zero cost, reproducible on demand.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355080" y="10972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Working index dashboard (prototype)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6373368" y="137160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7" name="Picture 17426" descr="dash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517904"/>
            <a:ext cx="5394960" cy="3332181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6355080" y="4956048"/>
            <a:ext cx="539496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497D"/>
                </a:solidFill>
                <a:latin typeface="Arial"/>
              </a:rPr>
              <a:t>Live at real-time-airfare.vercel.app, reading the database on every load.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Two audiences, one dataset: the index for MoSPI, and a plain-language “should I book?” view for travellers. Verdicts are withheld until enough history exists rather than guessed.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3000" b="1">
                <a:solidFill>
                  <a:srgbClr val="1F497D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15568"/>
            <a:ext cx="8275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Price-statistics methodology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38988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426464"/>
            <a:ext cx="8275320" cy="79369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Consumer Price Index Manual: Concepts and Methods (IMF / ILO, 2020) — treatment of reservation-based prices such as airfares.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MoSPI / NSO — CPI (Base 2012=100) methodology and Transport sub-index — mospi.gov.in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Eurostat — guidance on using web-scraped data in HICP compilation.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ONS (UK) — using web-scraped and scanner data in consumer price statistics.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2293315"/>
            <a:ext cx="8275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Standards and compliance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429768" y="2567635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411480" y="2604211"/>
            <a:ext cx="8275320" cy="60441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RFC 9309 — Robots Exclusion Protocol — rfc-editor.org/rfc/rfc9309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Robots.txt of each portal, re-checked at run time before any fetch.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DGCA monthly domestic air traffic reports — route-level volumes used to justify the six-route basket.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11480" y="3281781"/>
            <a:ext cx="8275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Technology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29768" y="3556101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411480" y="3592677"/>
            <a:ext cx="8275320" cy="415137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Playwright — playwright.dev  ·  NVIDIA NIM (OpenAI-compatible API) — build.nvidia.com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Pydantic v2 — docs.pydantic.dev  ·  Supabase / PostgreSQL — supabase.com/docs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11480" y="4080967"/>
            <a:ext cx="8275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497D"/>
                </a:solidFill>
                <a:latin typeface="Arial"/>
              </a:rPr>
              <a:t>Our own field research  (31 Aug 2026)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429768" y="4355287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411480" y="4391863"/>
            <a:ext cx="8275320" cy="142280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Portal survey: Cleartrip permits /flights/results and renders 61 fare rows headless; Ixigo disallows its search path; IndiGo, Air India and Akasa block headless traffic outright.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Robots parsing: Python's standard robotparser follows the 1994 draft — it ends a group at a blank line and returns the first matching rule, which wrongly permits paths Ixigo and Cleartrip disallow. We implemented RFC 9309 instead.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Model availability: of 56 free-tier chat models, six answered at all, and three reached end-of-life during this build — one mid-run. Catalogue sweeping and failover are now part of the system.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•  Prompt sizing: a small model returned 1 of 40 fares from a full page, but all 38 once split into 800-character chunks — quality is as much how much you ask for as who you ask.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9006840" y="1115568"/>
            <a:ext cx="2743200" cy="21214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F497D"/>
                </a:solidFill>
                <a:latin typeface="Arial"/>
              </a:rPr>
              <a:t>PROTOTYPE STATUS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Built and running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262B33"/>
                </a:solidFill>
                <a:latin typeface="Arial"/>
              </a:rPr>
              <a:t>fetcher · extractor · validator · database writer · orchestrator · model comparison · scheduled workflow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Running end to end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262B33"/>
                </a:solidFill>
                <a:latin typeface="Arial"/>
              </a:rPr>
              <a:t>Live fares in Supabase Postgres, a public dashboard reading them, and scheduled runs every 4 hours.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Offline test suite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>
                <a:solidFill>
                  <a:srgbClr val="262B33"/>
                </a:solidFill>
                <a:latin typeface="Arial"/>
              </a:rPr>
              <a:t>13 checks covering fenced, truncated, malformed and failed model replies — all passing.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