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84048" y="1965960"/>
            <a:ext cx="5806440" cy="4526280"/>
          </a:xfrm>
          <a:prstGeom prst="rect">
            <a:avLst/>
          </a:prstGeom>
          <a:noFill/>
        </p:spPr>
        <p:txBody>
          <a:bodyPr wrap="square" rtlCol="0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PROBLEM STATEMENT ID</a:t>
            </a:r>
            <a:endParaRPr lang="en-US" dirty="0"/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SIH26056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PROBLEM STATEMENT TITLE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200" b="1">
                <a:solidFill>
                  <a:srgbClr val="262B33"/>
                </a:solidFill>
                <a:latin typeface="Arial"/>
              </a:rPr>
              <a:t>Development of a Real-time Airfare Price Index for India through Automated Web Scraping of Airline and Online Travel Aggregator Portals for Augmentation of the Consumer Price Index (CPI)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THEME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Travel &amp; Tourism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PS CATEGORY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Software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SPONSORING MINISTRY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MoSPI — Ministry of Statistics and Programme Implementation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TEAM ID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‹TEAM ID›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TEAM NAME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‹TEAM NAME›  (as registered on portal)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 algn="ctr"/>
            <a:r>
              <a:rPr sz="2600" b="1">
                <a:solidFill>
                  <a:srgbClr val="1F497D"/>
                </a:solidFill>
                <a:latin typeface="Times New Roman"/>
              </a:rPr>
              <a:t>A DAILY AIRFARE PRICE INDEX FOR INDIA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411480" y="1133856"/>
            <a:ext cx="5669280" cy="1371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Arial"/>
              </a:rPr>
              <a:t>Proposed Solution</a:t>
            </a:r>
          </a:p>
          <a:p>
            <a:pPr>
              <a:lnSpc>
                <a:spcPct val="95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0">
                <a:solidFill>
                  <a:srgbClr val="262B33"/>
                </a:solidFill>
                <a:latin typeface="Arial"/>
              </a:rPr>
              <a:t>A fixed basket of routes, re-priced every 10 minutes, published as a price index — and as a plain answer for travellers: is today a good day to book?</a:t>
            </a:r>
          </a:p>
        </p:txBody>
      </p:sp>
      <p:sp>
        <p:nvSpPr>
          <p:cNvPr id="15363" name="Rectangle 15362"/>
          <p:cNvSpPr/>
          <p:nvPr/>
        </p:nvSpPr>
        <p:spPr>
          <a:xfrm>
            <a:off x="429768" y="1408176"/>
            <a:ext cx="1371600" cy="274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4" name="TextBox 15363"/>
          <p:cNvSpPr txBox="1"/>
          <p:nvPr/>
        </p:nvSpPr>
        <p:spPr>
          <a:xfrm>
            <a:off x="411480" y="2670048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How it addresses the problem</a:t>
            </a:r>
          </a:p>
        </p:txBody>
      </p:sp>
      <p:sp>
        <p:nvSpPr>
          <p:cNvPr id="15365" name="Rectangle 15364"/>
          <p:cNvSpPr/>
          <p:nvPr/>
        </p:nvSpPr>
        <p:spPr>
          <a:xfrm>
            <a:off x="429768" y="2944368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6" name="TextBox 15365"/>
          <p:cNvSpPr txBox="1"/>
          <p:nvPr/>
        </p:nvSpPr>
        <p:spPr>
          <a:xfrm>
            <a:off x="411480" y="3063240"/>
            <a:ext cx="5669280" cy="10515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CPI prices air travel from manual quotes.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A fare depends on how early you book.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Same basket, same lead times, every day.</a:t>
            </a:r>
          </a:p>
        </p:txBody>
      </p:sp>
      <p:sp>
        <p:nvSpPr>
          <p:cNvPr id="15367" name="TextBox 15366"/>
          <p:cNvSpPr txBox="1"/>
          <p:nvPr/>
        </p:nvSpPr>
        <p:spPr>
          <a:xfrm>
            <a:off x="411480" y="4315968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Innovation</a:t>
            </a:r>
          </a:p>
        </p:txBody>
      </p:sp>
      <p:sp>
        <p:nvSpPr>
          <p:cNvPr id="15368" name="Rectangle 15367"/>
          <p:cNvSpPr/>
          <p:nvPr/>
        </p:nvSpPr>
        <p:spPr>
          <a:xfrm>
            <a:off x="429768" y="4590288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9" name="TextBox 15368"/>
          <p:cNvSpPr txBox="1"/>
          <p:nvPr/>
        </p:nvSpPr>
        <p:spPr>
          <a:xfrm>
            <a:off x="411480" y="4709160"/>
            <a:ext cx="5669280" cy="10515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Fares found by shape, not by CSS selectors.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The model is config — it fails over when one dies.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Robots-checked before every fetch.</a:t>
            </a:r>
          </a:p>
        </p:txBody>
      </p:sp>
      <p:pic>
        <p:nvPicPr>
          <p:cNvPr id="15370" name="Picture 15369" descr="chart-cur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417320"/>
            <a:ext cx="5394960" cy="2624057"/>
          </a:xfrm>
          <a:prstGeom prst="rect">
            <a:avLst/>
          </a:prstGeom>
        </p:spPr>
      </p:pic>
      <p:sp>
        <p:nvSpPr>
          <p:cNvPr id="15371" name="TextBox 15370"/>
          <p:cNvSpPr txBox="1"/>
          <p:nvPr/>
        </p:nvSpPr>
        <p:spPr>
          <a:xfrm>
            <a:off x="6400800" y="5138928"/>
            <a:ext cx="539496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Real fares, collected 1 Sep 2026.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5A626C"/>
                </a:solidFill>
                <a:latin typeface="Arial"/>
              </a:rPr>
              <a:t>Booking a month ahead saves 40% on BLR–HYD and 2% on DEL–BOM. That spread is the finding — and the reason to measure.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2800" b="1">
                <a:solidFill>
                  <a:srgbClr val="1F497D"/>
                </a:solidFill>
                <a:latin typeface="Times New Roman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33856"/>
            <a:ext cx="113385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Arial"/>
              </a:rPr>
              <a:t>Methodology — one route, one booking window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29768" y="1408176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1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Robots gate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RFC 9309 check
before any fetch</a:t>
            </a:r>
          </a:p>
        </p:txBody>
      </p:sp>
      <p:sp>
        <p:nvSpPr>
          <p:cNvPr id="17413" name="Right Arrow 17412"/>
          <p:cNvSpPr/>
          <p:nvPr/>
        </p:nvSpPr>
        <p:spPr>
          <a:xfrm>
            <a:off x="2130552" y="2212848"/>
            <a:ext cx="182879" cy="201168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Rounded Rectangle 17413"/>
          <p:cNvSpPr/>
          <p:nvPr/>
        </p:nvSpPr>
        <p:spPr>
          <a:xfrm>
            <a:off x="233172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2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Fetch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Headless browser
renders the page</a:t>
            </a:r>
          </a:p>
        </p:txBody>
      </p:sp>
      <p:sp>
        <p:nvSpPr>
          <p:cNvPr id="17415" name="Right Arrow 17414"/>
          <p:cNvSpPr/>
          <p:nvPr/>
        </p:nvSpPr>
        <p:spPr>
          <a:xfrm>
            <a:off x="4050791" y="2212848"/>
            <a:ext cx="182879" cy="201168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Rounded Rectangle 17415"/>
          <p:cNvSpPr/>
          <p:nvPr/>
        </p:nvSpPr>
        <p:spPr>
          <a:xfrm>
            <a:off x="425196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3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Trim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13,000 chars
down to 3,700</a:t>
            </a:r>
          </a:p>
        </p:txBody>
      </p:sp>
      <p:sp>
        <p:nvSpPr>
          <p:cNvPr id="17417" name="Right Arrow 17416"/>
          <p:cNvSpPr/>
          <p:nvPr/>
        </p:nvSpPr>
        <p:spPr>
          <a:xfrm>
            <a:off x="5971032" y="2212848"/>
            <a:ext cx="182879" cy="201168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617220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4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Extract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LLM → strict JSON
retry, then fail over</a:t>
            </a:r>
          </a:p>
        </p:txBody>
      </p:sp>
      <p:sp>
        <p:nvSpPr>
          <p:cNvPr id="17419" name="Right Arrow 17418"/>
          <p:cNvSpPr/>
          <p:nvPr/>
        </p:nvSpPr>
        <p:spPr>
          <a:xfrm>
            <a:off x="7891272" y="2212848"/>
            <a:ext cx="182879" cy="201168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Rounded Rectangle 17419"/>
          <p:cNvSpPr/>
          <p:nvPr/>
        </p:nvSpPr>
        <p:spPr>
          <a:xfrm>
            <a:off x="809244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5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Validate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Schema + range
never estimates</a:t>
            </a:r>
          </a:p>
        </p:txBody>
      </p:sp>
      <p:sp>
        <p:nvSpPr>
          <p:cNvPr id="17421" name="Right Arrow 17420"/>
          <p:cNvSpPr/>
          <p:nvPr/>
        </p:nvSpPr>
        <p:spPr>
          <a:xfrm>
            <a:off x="9811511" y="2212848"/>
            <a:ext cx="182879" cy="201168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Rounded Rectangle 17421"/>
          <p:cNvSpPr/>
          <p:nvPr/>
        </p:nvSpPr>
        <p:spPr>
          <a:xfrm>
            <a:off x="1001268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6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Store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INSERT with the
model that read it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411480" y="3246120"/>
            <a:ext cx="11338560" cy="84124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97D"/>
                </a:solidFill>
                <a:latin typeface="Arial"/>
              </a:rPr>
              <a:t>BUILT AND RUNNING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1,000+ live fares in Postgres · 6 routes × 5 booking windows · zero failed extractions on the last full run · public dashboard reading the database directly.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411480" y="4315968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Technologies</a:t>
            </a:r>
          </a:p>
        </p:txBody>
      </p:sp>
      <p:sp>
        <p:nvSpPr>
          <p:cNvPr id="17425" name="Rectangle 17424"/>
          <p:cNvSpPr/>
          <p:nvPr/>
        </p:nvSpPr>
        <p:spPr>
          <a:xfrm>
            <a:off x="429768" y="4590288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TextBox 17425"/>
          <p:cNvSpPr txBox="1"/>
          <p:nvPr/>
        </p:nvSpPr>
        <p:spPr>
          <a:xfrm>
            <a:off x="411480" y="4709160"/>
            <a:ext cx="5486400" cy="1463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Python · Playwright headless Chromium</a:t>
            </a:r>
          </a:p>
          <a:p>
            <a:pPr>
              <a:lnSpc>
                <a:spcPct val="95000"/>
              </a:lnSpc>
              <a:spcBef>
                <a:spcPts val="6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LLM over an OpenAI-compatible endpoint</a:t>
            </a:r>
          </a:p>
          <a:p>
            <a:pPr>
              <a:lnSpc>
                <a:spcPct val="95000"/>
              </a:lnSpc>
              <a:spcBef>
                <a:spcPts val="6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Pydantic validation · Supabase Postgres</a:t>
            </a:r>
          </a:p>
          <a:p>
            <a:pPr>
              <a:lnSpc>
                <a:spcPct val="95000"/>
              </a:lnSpc>
              <a:spcBef>
                <a:spcPts val="6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cron on a residential host · HTML/SVG dashboard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6400800" y="4315968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Why the trim matters</a:t>
            </a:r>
          </a:p>
        </p:txBody>
      </p:sp>
      <p:sp>
        <p:nvSpPr>
          <p:cNvPr id="17428" name="Rectangle 17427"/>
          <p:cNvSpPr/>
          <p:nvPr/>
        </p:nvSpPr>
        <p:spPr>
          <a:xfrm>
            <a:off x="6419088" y="4590288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TextBox 17428"/>
          <p:cNvSpPr txBox="1"/>
          <p:nvPr/>
        </p:nvSpPr>
        <p:spPr>
          <a:xfrm>
            <a:off x="6400800" y="4709160"/>
            <a:ext cx="5394960" cy="1463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A results page is mostly navigation and offers.</a:t>
            </a:r>
          </a:p>
          <a:p>
            <a:pPr>
              <a:lnSpc>
                <a:spcPct val="95000"/>
              </a:lnSpc>
              <a:spcBef>
                <a:spcPts val="6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Sending only the fare rows keeps the prompt short —</a:t>
            </a:r>
          </a:p>
          <a:p>
            <a:pPr>
              <a:lnSpc>
                <a:spcPct val="95000"/>
              </a:lnSpc>
              <a:spcBef>
                <a:spcPts val="6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which is what stops a model truncating its JSON.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2800" b="1">
                <a:solidFill>
                  <a:srgbClr val="1F497D"/>
                </a:solidFill>
                <a:latin typeface="Times New Roman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33856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Arial"/>
              </a:rPr>
              <a:t>Feasibility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29768" y="1408176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411480" y="1554480"/>
            <a:ext cx="5486400" cy="2011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A working prototype exists and is collecting now.</a:t>
            </a:r>
          </a:p>
          <a:p>
            <a:pPr>
              <a:lnSpc>
                <a:spcPct val="95000"/>
              </a:lnSpc>
              <a:spcBef>
                <a:spcPts val="10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₹0 a month: free tiers end to end.</a:t>
            </a:r>
          </a:p>
          <a:p>
            <a:pPr>
              <a:lnSpc>
                <a:spcPct val="95000"/>
              </a:lnSpc>
              <a:spcBef>
                <a:spcPts val="10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~2 minutes of compute per 10-minute cycle.</a:t>
            </a:r>
          </a:p>
          <a:p>
            <a:pPr>
              <a:lnSpc>
                <a:spcPct val="95000"/>
              </a:lnSpc>
              <a:spcBef>
                <a:spcPts val="10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A new route is one line; a new portal, one entry.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11480" y="3794760"/>
            <a:ext cx="5486400" cy="1051560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97D"/>
                </a:solidFill>
                <a:latin typeface="Arial"/>
              </a:rPr>
              <a:t>MANUAL COLLECTION vs THIS PIPELINE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periodic → every 10 minutes   ·   one quoted price → 5 lead times   ·   field records → URL, timestamp and model stored per fare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6400800" y="1133856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Arial"/>
              </a:rPr>
              <a:t>Risks, and what we did</a:t>
            </a:r>
          </a:p>
        </p:txBody>
      </p:sp>
      <p:sp>
        <p:nvSpPr>
          <p:cNvPr id="17415" name="Rectangle 17414"/>
          <p:cNvSpPr/>
          <p:nvPr/>
        </p:nvSpPr>
        <p:spPr>
          <a:xfrm>
            <a:off x="6419088" y="1408176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Rounded Rectangle 17415"/>
          <p:cNvSpPr/>
          <p:nvPr/>
        </p:nvSpPr>
        <p:spPr>
          <a:xfrm>
            <a:off x="6400800" y="1554480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17" name="Rectangle 17416"/>
          <p:cNvSpPr/>
          <p:nvPr/>
        </p:nvSpPr>
        <p:spPr>
          <a:xfrm>
            <a:off x="6400800" y="1554480"/>
            <a:ext cx="50292" cy="86868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TextBox 17417"/>
          <p:cNvSpPr txBox="1"/>
          <p:nvPr/>
        </p:nvSpPr>
        <p:spPr>
          <a:xfrm>
            <a:off x="6583680" y="1664207"/>
            <a:ext cx="512064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Airline sites block automation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Basket is OTA-first; an official feed closes the gap.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6400800" y="2496312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0" name="Rectangle 17419"/>
          <p:cNvSpPr/>
          <p:nvPr/>
        </p:nvSpPr>
        <p:spPr>
          <a:xfrm>
            <a:off x="6400800" y="2496312"/>
            <a:ext cx="50292" cy="86868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6583680" y="2606040"/>
            <a:ext cx="512064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Cloud IPs are blocked too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Verified in CI — so collection runs from a residential host.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6400800" y="3438144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3" name="Rectangle 17422"/>
          <p:cNvSpPr/>
          <p:nvPr/>
        </p:nvSpPr>
        <p:spPr>
          <a:xfrm>
            <a:off x="6400800" y="3438144"/>
            <a:ext cx="50292" cy="86868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TextBox 17423"/>
          <p:cNvSpPr txBox="1"/>
          <p:nvPr/>
        </p:nvSpPr>
        <p:spPr>
          <a:xfrm>
            <a:off x="6583680" y="3547872"/>
            <a:ext cx="512064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Models get retired without notice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Three died during this build. Extraction now fails over.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6400800" y="4379976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6" name="Rectangle 17425"/>
          <p:cNvSpPr/>
          <p:nvPr/>
        </p:nvSpPr>
        <p:spPr>
          <a:xfrm>
            <a:off x="6400800" y="4379976"/>
            <a:ext cx="50292" cy="86868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TextBox 17426"/>
          <p:cNvSpPr txBox="1"/>
          <p:nvPr/>
        </p:nvSpPr>
        <p:spPr>
          <a:xfrm>
            <a:off x="6583680" y="4489704"/>
            <a:ext cx="512064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A model could invent a fare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Strict schema; components stay NULL rather than guessed.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2800" b="1">
                <a:solidFill>
                  <a:srgbClr val="1F497D"/>
                </a:solidFill>
                <a:latin typeface="Times New Roman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chart-premiu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188720"/>
            <a:ext cx="5760720" cy="257327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411480" y="4343400"/>
            <a:ext cx="57607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Who it serves</a:t>
            </a:r>
          </a:p>
        </p:txBody>
      </p:sp>
      <p:sp>
        <p:nvSpPr>
          <p:cNvPr id="17412" name="Rectangle 17411"/>
          <p:cNvSpPr/>
          <p:nvPr/>
        </p:nvSpPr>
        <p:spPr>
          <a:xfrm>
            <a:off x="429768" y="4617720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411480" y="4736592"/>
            <a:ext cx="5760720" cy="1371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MoSPI / NSO — a defensible CPI transport input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DGCA and policy — evidence on fare behaviour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Citizens — when to book, and what is normal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6400800" y="1133856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Arial"/>
              </a:rPr>
              <a:t>What changes</a:t>
            </a:r>
          </a:p>
        </p:txBody>
      </p:sp>
      <p:sp>
        <p:nvSpPr>
          <p:cNvPr id="17415" name="Rectangle 17414"/>
          <p:cNvSpPr/>
          <p:nvPr/>
        </p:nvSpPr>
        <p:spPr>
          <a:xfrm>
            <a:off x="6419088" y="1408176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6400800" y="1554480"/>
            <a:ext cx="5394960" cy="1554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A daily series, not occasional manual quotes.</a:t>
            </a:r>
          </a:p>
          <a:p>
            <a:pPr>
              <a:lnSpc>
                <a:spcPct val="95000"/>
              </a:lnSpc>
              <a:spcBef>
                <a:spcPts val="10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The booking-window dimension CPI cannot see.</a:t>
            </a:r>
          </a:p>
          <a:p>
            <a:pPr>
              <a:lnSpc>
                <a:spcPct val="95000"/>
              </a:lnSpc>
              <a:spcBef>
                <a:spcPts val="10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Every point traceable to source, time and model.</a:t>
            </a:r>
          </a:p>
        </p:txBody>
      </p:sp>
      <p:pic>
        <p:nvPicPr>
          <p:cNvPr id="17417" name="Picture 17416" descr="dash-li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493008"/>
            <a:ext cx="4800600" cy="2466062"/>
          </a:xfrm>
          <a:prstGeom prst="rect">
            <a:avLst/>
          </a:prstGeom>
        </p:spPr>
      </p:pic>
      <p:sp>
        <p:nvSpPr>
          <p:cNvPr id="17418" name="TextBox 17417"/>
          <p:cNvSpPr txBox="1"/>
          <p:nvPr/>
        </p:nvSpPr>
        <p:spPr>
          <a:xfrm>
            <a:off x="6400800" y="5961888"/>
            <a:ext cx="539496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497D"/>
                </a:solidFill>
                <a:latin typeface="Arial"/>
              </a:rPr>
              <a:t>Live at real-time-airfare.vercel.app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2800" b="1">
                <a:solidFill>
                  <a:srgbClr val="1F497D"/>
                </a:solidFill>
                <a:latin typeface="Times New Roman"/>
              </a:rP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33856"/>
            <a:ext cx="55778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Methodology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29768" y="1408176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411480" y="1527048"/>
            <a:ext cx="5577840" cy="17373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CPI Manual: Concepts and Methods (IMF / ILO, 2020)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MoSPI — CPI (Base 2012=100), Transport sub-index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Eurostat — web-scraped data in HICP compilation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ONS (UK) — web-scraped data in consumer prices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11480" y="3520440"/>
            <a:ext cx="55778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Standards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429768" y="3794760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TextBox 17414"/>
          <p:cNvSpPr txBox="1"/>
          <p:nvPr/>
        </p:nvSpPr>
        <p:spPr>
          <a:xfrm>
            <a:off x="411480" y="3913632"/>
            <a:ext cx="5577840" cy="1371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RFC 9309 — Robots Exclusion Protocol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Each portal's robots.txt, re-checked at run time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DGCA monthly domestic traffic — basket selection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6400800" y="1133856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Our own field research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6419088" y="1408176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TextBox 17417"/>
          <p:cNvSpPr txBox="1"/>
          <p:nvPr/>
        </p:nvSpPr>
        <p:spPr>
          <a:xfrm>
            <a:off x="6400800" y="1527048"/>
            <a:ext cx="5394960" cy="3108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Portal survey: one OTA permits and serves us; two disallow or block outright.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Python's standard robots parser wrongly permits paths these sites disallow — we implemented RFC 9309.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Of 56 free-tier models, six answered; three reached end-of-life during the build, one mid-run.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Splitting the prompt into 800-character chunks took a small model from 1 of 40 fares to 38.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