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50976"/>
            <a:ext cx="7726679" cy="896112"/>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fare pages every ten minutes, turns them into one weighted index number, and delivers it to MoSPI through an API instead of a form.</a:t>
            </a:r>
          </a:p>
        </p:txBody>
      </p:sp>
      <p:sp>
        <p:nvSpPr>
          <p:cNvPr id="15363" name="Rounded Rectangle 15362"/>
          <p:cNvSpPr/>
          <p:nvPr/>
        </p:nvSpPr>
        <p:spPr>
          <a:xfrm>
            <a:off x="8275320" y="987552"/>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36,000+ fares collected · 15 city pairs × 5 lead times · every 10 minutes · ₹0 a month to run</a:t>
            </a:r>
          </a:p>
        </p:txBody>
      </p:sp>
      <p:sp>
        <p:nvSpPr>
          <p:cNvPr id="15364" name="Rounded Rectangle 15363"/>
          <p:cNvSpPr/>
          <p:nvPr/>
        </p:nvSpPr>
        <p:spPr>
          <a:xfrm>
            <a:off x="411480" y="1920240"/>
            <a:ext cx="6355080" cy="173736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1975104"/>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2311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2311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50545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50545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50545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77063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77063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77063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035808"/>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035808"/>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035808"/>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300984"/>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300984"/>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300984"/>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20240"/>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19568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176272"/>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14016"/>
            <a:ext cx="4572000" cy="32918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834640"/>
            <a:ext cx="4846320" cy="82296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8712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07238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07238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218688"/>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218688"/>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364991"/>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364991"/>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5112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5112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730752"/>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0050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078224"/>
            <a:ext cx="3621024" cy="106070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F81BD"/>
                </a:solidFill>
                <a:latin typeface="Arial"/>
              </a:rPr>
              <a:t>The standard method</a:t>
            </a:r>
          </a:p>
          <a:p>
            <a:pPr>
              <a:lnSpc>
                <a:spcPct val="95000"/>
              </a:lnSpc>
              <a:spcBef>
                <a:spcPts val="500"/>
              </a:spcBef>
              <a:spcAft>
                <a:spcPts val="0"/>
              </a:spcAft>
            </a:pPr>
            <a:r>
              <a:rPr sz="1100" b="0">
                <a:solidFill>
                  <a:srgbClr val="262B33"/>
                </a:solidFill>
                <a:latin typeface="Arial"/>
              </a:rPr>
              <a:t>Weighted Jevons on minimum logical fares — the elementary-aggregate method Eurostat and ONS use for their own price indices.</a:t>
            </a:r>
          </a:p>
        </p:txBody>
      </p:sp>
      <p:sp>
        <p:nvSpPr>
          <p:cNvPr id="15397" name="Rectangle 15396"/>
          <p:cNvSpPr/>
          <p:nvPr/>
        </p:nvSpPr>
        <p:spPr>
          <a:xfrm>
            <a:off x="411480" y="4078224"/>
            <a:ext cx="3621024"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4270248" y="4078224"/>
            <a:ext cx="3621024" cy="106070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1B8A5A"/>
                </a:solidFill>
                <a:latin typeface="Arial"/>
              </a:rPr>
              <a:t>Weighting is a matrix</a:t>
            </a:r>
          </a:p>
          <a:p>
            <a:pPr>
              <a:lnSpc>
                <a:spcPct val="95000"/>
              </a:lnSpc>
              <a:spcBef>
                <a:spcPts val="500"/>
              </a:spcBef>
              <a:spcAft>
                <a:spcPts val="0"/>
              </a:spcAft>
            </a:pPr>
            <a:r>
              <a:rPr sz="110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4270248" y="4078224"/>
            <a:ext cx="3621024"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8129015" y="4078224"/>
            <a:ext cx="3621024" cy="106070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C77700"/>
                </a:solidFill>
                <a:latin typeface="Arial"/>
              </a:rPr>
              <a:t>It knows when not to publish</a:t>
            </a:r>
          </a:p>
          <a:p>
            <a:pPr>
              <a:lnSpc>
                <a:spcPct val="95000"/>
              </a:lnSpc>
              <a:spcBef>
                <a:spcPts val="500"/>
              </a:spcBef>
              <a:spcAft>
                <a:spcPts val="0"/>
              </a:spcAft>
            </a:pPr>
            <a:r>
              <a:rPr sz="1100" b="0">
                <a:solidFill>
                  <a:srgbClr val="262B33"/>
                </a:solidFill>
                <a:latin typeface="Arial"/>
              </a:rPr>
              <a:t>Below 60% basket coverage the figure ships marked provisional, with the reason attached. An index that admits thin coverage beats one that never does.</a:t>
            </a:r>
          </a:p>
        </p:txBody>
      </p:sp>
      <p:sp>
        <p:nvSpPr>
          <p:cNvPr id="15401" name="Rectangle 15400"/>
          <p:cNvSpPr/>
          <p:nvPr/>
        </p:nvSpPr>
        <p:spPr>
          <a:xfrm>
            <a:off x="8129015" y="4078224"/>
            <a:ext cx="3621024"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411480" y="5248656"/>
            <a:ext cx="3621024" cy="106070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B3F8C"/>
                </a:solidFill>
                <a:latin typeface="Arial"/>
              </a:rPr>
              <a:t>Machine-readable for MoSPI</a:t>
            </a:r>
          </a:p>
          <a:p>
            <a:pPr>
              <a:lnSpc>
                <a:spcPct val="95000"/>
              </a:lnSpc>
              <a:spcBef>
                <a:spcPts val="500"/>
              </a:spcBef>
              <a:spcAft>
                <a:spcPts val="0"/>
              </a:spcAft>
            </a:pPr>
            <a:r>
              <a:rPr sz="110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411480" y="5248656"/>
            <a:ext cx="3621024"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4" name="Rounded Rectangle 15403"/>
          <p:cNvSpPr/>
          <p:nvPr/>
        </p:nvSpPr>
        <p:spPr>
          <a:xfrm>
            <a:off x="4270248" y="5248656"/>
            <a:ext cx="3621024" cy="106070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0E7C86"/>
                </a:solidFill>
                <a:latin typeface="Arial"/>
              </a:rPr>
              <a:t>Compliance by construction</a:t>
            </a:r>
          </a:p>
          <a:p>
            <a:pPr>
              <a:lnSpc>
                <a:spcPct val="95000"/>
              </a:lnSpc>
              <a:spcBef>
                <a:spcPts val="500"/>
              </a:spcBef>
              <a:spcAft>
                <a:spcPts val="0"/>
              </a:spcAft>
            </a:pPr>
            <a:r>
              <a:rPr sz="1100" b="0">
                <a:solidFill>
                  <a:srgbClr val="262B33"/>
                </a:solidFill>
                <a:latin typeface="Arial"/>
              </a:rPr>
              <a:t>robots.txt is re-checked to RFC 9309 before every request. We wrote the parser ourselves because Python's standard one gets it wrong.</a:t>
            </a:r>
          </a:p>
        </p:txBody>
      </p:sp>
      <p:sp>
        <p:nvSpPr>
          <p:cNvPr id="15405" name="Rectangle 15404"/>
          <p:cNvSpPr/>
          <p:nvPr/>
        </p:nvSpPr>
        <p:spPr>
          <a:xfrm>
            <a:off x="4270248" y="5248656"/>
            <a:ext cx="3621024"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6" name="Rounded Rectangle 15405"/>
          <p:cNvSpPr/>
          <p:nvPr/>
        </p:nvSpPr>
        <p:spPr>
          <a:xfrm>
            <a:off x="8129015" y="5248656"/>
            <a:ext cx="3621024" cy="106070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7A3E6B"/>
                </a:solidFill>
                <a:latin typeface="Arial"/>
              </a:rPr>
              <a:t>It never estimates</a:t>
            </a:r>
          </a:p>
          <a:p>
            <a:pPr>
              <a:lnSpc>
                <a:spcPct val="95000"/>
              </a:lnSpc>
              <a:spcBef>
                <a:spcPts val="500"/>
              </a:spcBef>
              <a:spcAft>
                <a:spcPts val="0"/>
              </a:spcAft>
            </a:pPr>
            <a:r>
              <a:rPr sz="1100" b="0">
                <a:solidFill>
                  <a:srgbClr val="262B33"/>
                </a:solidFill>
                <a:latin typeface="Arial"/>
              </a:rPr>
              <a:t>Fields a portal does not publish stay NULL. Cells with too few observations are excluded, not filled in — the system says when it does not know.</a:t>
            </a:r>
          </a:p>
        </p:txBody>
      </p:sp>
      <p:sp>
        <p:nvSpPr>
          <p:cNvPr id="15407" name="Rectangle 15406"/>
          <p:cNvSpPr/>
          <p:nvPr/>
        </p:nvSpPr>
        <p:spPr>
          <a:xfrm>
            <a:off x="8129015" y="5248656"/>
            <a:ext cx="3621024"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68112"/>
            <a:ext cx="5394960" cy="8412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2297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2297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78424"/>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78424"/>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33872"/>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33872"/>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89320"/>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89320"/>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4476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4476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CPI (Base 2012=100). Field collectors visit shops and markets monthly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MoSPI CPI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379303"/>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