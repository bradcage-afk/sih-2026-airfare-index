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84048" y="1965960"/>
            <a:ext cx="5806440" cy="4526280"/>
          </a:xfrm>
          <a:prstGeom prst="rect">
            <a:avLst/>
          </a:prstGeom>
          <a:noFill/>
        </p:spPr>
        <p:txBody>
          <a:bodyPr wrap="square" rtlCol="0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PROBLEM STATEMENT ID</a:t>
            </a:r>
            <a:endParaRPr lang="en-US" dirty="0"/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SIH26056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PROBLEM STATEMENT TITLE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200" b="1">
                <a:solidFill>
                  <a:srgbClr val="262B33"/>
                </a:solidFill>
                <a:latin typeface="Arial"/>
              </a:rPr>
              <a:t>Development of a Real-time Airfare Price Index for India through Automated Web Scraping of Airline and Online Travel Aggregator Portals for Augmentation of the Consumer Price Index (CPI)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THEME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Travel &amp; Tourism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PS CATEGORY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Software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SPONSORING MINISTRY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MoSPI — Ministry of Statistics and Programme Implementation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TEAM ID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‹TEAM ID›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TEAM NAME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‹TEAM NAME›  (as registered on portal)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 algn="ctr"/>
            <a:r>
              <a:rPr sz="2600" b="1">
                <a:solidFill>
                  <a:srgbClr val="1F497D"/>
                </a:solidFill>
                <a:latin typeface="Times New Roman"/>
              </a:rPr>
              <a:t>A DAILY AIRFARE PRICE INDEX FOR INDIA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ounded Rectangle 15361"/>
          <p:cNvSpPr/>
          <p:nvPr/>
        </p:nvSpPr>
        <p:spPr>
          <a:xfrm>
            <a:off x="411480" y="1115568"/>
            <a:ext cx="5669280" cy="74980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F497D"/>
                </a:solidFill>
                <a:latin typeface="Arial"/>
              </a:rPr>
              <a:t>THE PROBLEM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CPI prices air travel from occasional manual quotes — but an airfare is not one price. It depends on when you book.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411480" y="2066543"/>
            <a:ext cx="5669280" cy="12801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Proposed Solution</a:t>
            </a:r>
          </a:p>
          <a:p>
            <a:pPr>
              <a:lnSpc>
                <a:spcPct val="95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0">
                <a:solidFill>
                  <a:srgbClr val="262B33"/>
                </a:solidFill>
                <a:latin typeface="Arial"/>
              </a:rPr>
              <a:t>A fixed basket of routes, re-priced every 10 minutes and published as a price index.</a:t>
            </a:r>
          </a:p>
        </p:txBody>
      </p:sp>
      <p:sp>
        <p:nvSpPr>
          <p:cNvPr id="15364" name="Rectangle 15363"/>
          <p:cNvSpPr/>
          <p:nvPr/>
        </p:nvSpPr>
        <p:spPr>
          <a:xfrm>
            <a:off x="429768" y="2340864"/>
            <a:ext cx="1371600" cy="274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65" name="Picture 15364" descr="chart-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063240"/>
            <a:ext cx="5257800" cy="2930577"/>
          </a:xfrm>
          <a:prstGeom prst="rect">
            <a:avLst/>
          </a:prstGeom>
        </p:spPr>
      </p:pic>
      <p:pic>
        <p:nvPicPr>
          <p:cNvPr id="15366" name="Picture 15365" descr="chart-cur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1133856"/>
            <a:ext cx="5394960" cy="2624057"/>
          </a:xfrm>
          <a:prstGeom prst="rect">
            <a:avLst/>
          </a:prstGeom>
        </p:spPr>
      </p:pic>
      <p:sp>
        <p:nvSpPr>
          <p:cNvPr id="15367" name="TextBox 15366"/>
          <p:cNvSpPr txBox="1"/>
          <p:nvPr/>
        </p:nvSpPr>
        <p:spPr>
          <a:xfrm>
            <a:off x="6400800" y="4224528"/>
            <a:ext cx="5394960" cy="7772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Real fares from our own scraper.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5A626C"/>
                </a:solidFill>
                <a:latin typeface="Arial"/>
              </a:rPr>
              <a:t>Booking a month ahead saves 40% on BLR–HYD and nothing on DEL–BOM. Nobody publishes that spread — so it has to be measured.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6400800" y="5102352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Innovation</a:t>
            </a:r>
          </a:p>
        </p:txBody>
      </p:sp>
      <p:sp>
        <p:nvSpPr>
          <p:cNvPr id="15369" name="Rectangle 15368"/>
          <p:cNvSpPr/>
          <p:nvPr/>
        </p:nvSpPr>
        <p:spPr>
          <a:xfrm>
            <a:off x="6419088" y="5376672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0" name="TextBox 15369"/>
          <p:cNvSpPr txBox="1"/>
          <p:nvPr/>
        </p:nvSpPr>
        <p:spPr>
          <a:xfrm>
            <a:off x="6400800" y="5486400"/>
            <a:ext cx="5394960" cy="7315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•  Fares found by shape, not by CSS selectors.</a:t>
            </a:r>
          </a:p>
          <a:p>
            <a:pPr>
              <a:lnSpc>
                <a:spcPct val="9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•  The model is config; it fails over automatically.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2800" b="1">
                <a:solidFill>
                  <a:srgbClr val="1F497D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33856"/>
            <a:ext cx="113385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Methodology — one route, one booking window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976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1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Robots gate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RFC 9309 check
before any fetch</a:t>
            </a:r>
          </a:p>
        </p:txBody>
      </p:sp>
      <p:sp>
        <p:nvSpPr>
          <p:cNvPr id="17413" name="Right Arrow 17412"/>
          <p:cNvSpPr/>
          <p:nvPr/>
        </p:nvSpPr>
        <p:spPr>
          <a:xfrm>
            <a:off x="2130552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233172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2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Fetch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Headless browser
renders the page</a:t>
            </a:r>
          </a:p>
        </p:txBody>
      </p:sp>
      <p:sp>
        <p:nvSpPr>
          <p:cNvPr id="17415" name="Right Arrow 17414"/>
          <p:cNvSpPr/>
          <p:nvPr/>
        </p:nvSpPr>
        <p:spPr>
          <a:xfrm>
            <a:off x="4050791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Rounded Rectangle 17415"/>
          <p:cNvSpPr/>
          <p:nvPr/>
        </p:nvSpPr>
        <p:spPr>
          <a:xfrm>
            <a:off x="425196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3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Trim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13,000 chars
down to 3,700</a:t>
            </a:r>
          </a:p>
        </p:txBody>
      </p:sp>
      <p:sp>
        <p:nvSpPr>
          <p:cNvPr id="17417" name="Right Arrow 17416"/>
          <p:cNvSpPr/>
          <p:nvPr/>
        </p:nvSpPr>
        <p:spPr>
          <a:xfrm>
            <a:off x="5971032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617220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4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Extract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LLM → strict JSON
retry, then fail over</a:t>
            </a:r>
          </a:p>
        </p:txBody>
      </p:sp>
      <p:sp>
        <p:nvSpPr>
          <p:cNvPr id="17419" name="Right Arrow 17418"/>
          <p:cNvSpPr/>
          <p:nvPr/>
        </p:nvSpPr>
        <p:spPr>
          <a:xfrm>
            <a:off x="7891272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ounded Rectangle 17419"/>
          <p:cNvSpPr/>
          <p:nvPr/>
        </p:nvSpPr>
        <p:spPr>
          <a:xfrm>
            <a:off x="809244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5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Validate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Schema + range
never estimates</a:t>
            </a:r>
          </a:p>
        </p:txBody>
      </p:sp>
      <p:sp>
        <p:nvSpPr>
          <p:cNvPr id="17421" name="Right Arrow 17420"/>
          <p:cNvSpPr/>
          <p:nvPr/>
        </p:nvSpPr>
        <p:spPr>
          <a:xfrm>
            <a:off x="9811511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Rounded Rectangle 17421"/>
          <p:cNvSpPr/>
          <p:nvPr/>
        </p:nvSpPr>
        <p:spPr>
          <a:xfrm>
            <a:off x="1001268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6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Store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INSERT with the
model that read it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411480" y="3246120"/>
            <a:ext cx="11338560" cy="84124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97D"/>
                </a:solidFill>
                <a:latin typeface="Arial"/>
              </a:rPr>
              <a:t>BUILT AND RUNNING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2,342 live fares in Postgres · 14 scheduled runs · zero failed extractions · a public dashboard reading the database on every load.</a:t>
            </a:r>
          </a:p>
        </p:txBody>
      </p:sp>
      <p:pic>
        <p:nvPicPr>
          <p:cNvPr id="17424" name="Picture 17423" descr="chart-reco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187952"/>
            <a:ext cx="4069080" cy="2044781"/>
          </a:xfrm>
          <a:prstGeom prst="rect">
            <a:avLst/>
          </a:prstGeom>
        </p:spPr>
      </p:pic>
      <p:sp>
        <p:nvSpPr>
          <p:cNvPr id="17425" name="TextBox 17424"/>
          <p:cNvSpPr txBox="1"/>
          <p:nvPr/>
        </p:nvSpPr>
        <p:spPr>
          <a:xfrm>
            <a:off x="6400800" y="4224528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Technologies</a:t>
            </a:r>
          </a:p>
        </p:txBody>
      </p:sp>
      <p:sp>
        <p:nvSpPr>
          <p:cNvPr id="17426" name="Rectangle 17425"/>
          <p:cNvSpPr/>
          <p:nvPr/>
        </p:nvSpPr>
        <p:spPr>
          <a:xfrm>
            <a:off x="6419088" y="449884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TextBox 17426"/>
          <p:cNvSpPr txBox="1"/>
          <p:nvPr/>
        </p:nvSpPr>
        <p:spPr>
          <a:xfrm>
            <a:off x="6400800" y="4617720"/>
            <a:ext cx="5394960" cy="1554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Python · Playwright headless Chromium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LLM over an OpenAI-compatible endpoint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Pydantic validation · Supabase Postgres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cron on a residential host · HTML + SVG dashboard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2800" b="1">
                <a:solidFill>
                  <a:srgbClr val="1F497D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33856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Feasibility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976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411480" y="1554480"/>
            <a:ext cx="5486400" cy="1828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A working prototype, collecting right now.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₹0 a month: free tiers end to end.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~2 minutes of compute per 10-minute cycle.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A new route is one line; a new portal, one entry.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11480" y="3611880"/>
            <a:ext cx="5486400" cy="868680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97D"/>
                </a:solidFill>
                <a:latin typeface="Arial"/>
              </a:rPr>
              <a:t>MANUAL COLLECTION vs THIS PIPELINE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periodic → every 10 minutes  ·  one quoted price → 5 lead times  ·  field notes → URL, timestamp and model stored per fare</a:t>
            </a:r>
          </a:p>
        </p:txBody>
      </p:sp>
      <p:pic>
        <p:nvPicPr>
          <p:cNvPr id="17414" name="Picture 17413" descr="chart-carri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45152"/>
            <a:ext cx="5486400" cy="1498488"/>
          </a:xfrm>
          <a:prstGeom prst="rect">
            <a:avLst/>
          </a:prstGeom>
        </p:spPr>
      </p:pic>
      <p:sp>
        <p:nvSpPr>
          <p:cNvPr id="17415" name="TextBox 17414"/>
          <p:cNvSpPr txBox="1"/>
          <p:nvPr/>
        </p:nvSpPr>
        <p:spPr>
          <a:xfrm>
            <a:off x="6400800" y="1133856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Risks, and what we did</a:t>
            </a:r>
          </a:p>
        </p:txBody>
      </p:sp>
      <p:sp>
        <p:nvSpPr>
          <p:cNvPr id="17416" name="Rectangle 17415"/>
          <p:cNvSpPr/>
          <p:nvPr/>
        </p:nvSpPr>
        <p:spPr>
          <a:xfrm>
            <a:off x="641908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Rounded Rectangle 17416"/>
          <p:cNvSpPr/>
          <p:nvPr/>
        </p:nvSpPr>
        <p:spPr>
          <a:xfrm>
            <a:off x="6400800" y="1554480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8" name="Rectangle 17417"/>
          <p:cNvSpPr/>
          <p:nvPr/>
        </p:nvSpPr>
        <p:spPr>
          <a:xfrm>
            <a:off x="6400800" y="1554480"/>
            <a:ext cx="50292" cy="86868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TextBox 17418"/>
          <p:cNvSpPr txBox="1"/>
          <p:nvPr/>
        </p:nvSpPr>
        <p:spPr>
          <a:xfrm>
            <a:off x="6583680" y="1664207"/>
            <a:ext cx="512064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Airline sites block automation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Basket is OTA-first; an official feed closes the gap.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6400800" y="2496312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1" name="Rectangle 17420"/>
          <p:cNvSpPr/>
          <p:nvPr/>
        </p:nvSpPr>
        <p:spPr>
          <a:xfrm>
            <a:off x="6400800" y="2496312"/>
            <a:ext cx="50292" cy="86868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TextBox 17421"/>
          <p:cNvSpPr txBox="1"/>
          <p:nvPr/>
        </p:nvSpPr>
        <p:spPr>
          <a:xfrm>
            <a:off x="6583680" y="2606040"/>
            <a:ext cx="512064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Cloud IPs are blocked too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Verified in CI — so collection runs from a residential host.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6400800" y="3438144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4" name="Rectangle 17423"/>
          <p:cNvSpPr/>
          <p:nvPr/>
        </p:nvSpPr>
        <p:spPr>
          <a:xfrm>
            <a:off x="6400800" y="3438144"/>
            <a:ext cx="50292" cy="86868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TextBox 17424"/>
          <p:cNvSpPr txBox="1"/>
          <p:nvPr/>
        </p:nvSpPr>
        <p:spPr>
          <a:xfrm>
            <a:off x="6583680" y="3547872"/>
            <a:ext cx="512064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Models get retired without notice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Three died during this build. Extraction now fails over.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6400800" y="4379976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7" name="Rectangle 17426"/>
          <p:cNvSpPr/>
          <p:nvPr/>
        </p:nvSpPr>
        <p:spPr>
          <a:xfrm>
            <a:off x="6400800" y="4379976"/>
            <a:ext cx="50292" cy="86868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TextBox 17427"/>
          <p:cNvSpPr txBox="1"/>
          <p:nvPr/>
        </p:nvSpPr>
        <p:spPr>
          <a:xfrm>
            <a:off x="6583680" y="4489704"/>
            <a:ext cx="512064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A model could invent a fare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Strict schema; components stay NULL rather than guessed.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2800" b="1">
                <a:solidFill>
                  <a:srgbClr val="1F497D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chart-premi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188720"/>
            <a:ext cx="5760720" cy="257327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411480" y="4224528"/>
            <a:ext cx="57607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Who it serves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429768" y="449884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411480" y="4617720"/>
            <a:ext cx="5760720" cy="10972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MoSPI / NSO — a defensible CPI transport input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DGCA and policy — evidence on fare behaviour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Citizens — when to book, and what is normal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11480" y="5577840"/>
            <a:ext cx="5760720" cy="65836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F497D"/>
                </a:solidFill>
                <a:latin typeface="Arial"/>
              </a:rPr>
              <a:t>NEXT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More city pairs, a second permitted portal, and rail and bus on the same pipeline.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400800" y="1133856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What changes</a:t>
            </a:r>
          </a:p>
        </p:txBody>
      </p:sp>
      <p:sp>
        <p:nvSpPr>
          <p:cNvPr id="17416" name="Rectangle 17415"/>
          <p:cNvSpPr/>
          <p:nvPr/>
        </p:nvSpPr>
        <p:spPr>
          <a:xfrm>
            <a:off x="641908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TextBox 17416"/>
          <p:cNvSpPr txBox="1"/>
          <p:nvPr/>
        </p:nvSpPr>
        <p:spPr>
          <a:xfrm>
            <a:off x="6400800" y="1554480"/>
            <a:ext cx="5394960" cy="1554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A daily series, not occasional manual quotes.</a:t>
            </a:r>
          </a:p>
          <a:p>
            <a:pPr>
              <a:lnSpc>
                <a:spcPct val="95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The booking-window dimension CPI cannot see.</a:t>
            </a:r>
          </a:p>
          <a:p>
            <a:pPr>
              <a:lnSpc>
                <a:spcPct val="95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Every point traceable to source, time and model.</a:t>
            </a:r>
          </a:p>
        </p:txBody>
      </p:sp>
      <p:pic>
        <p:nvPicPr>
          <p:cNvPr id="17418" name="Picture 17417" descr="dash-li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493008"/>
            <a:ext cx="4800600" cy="2466062"/>
          </a:xfrm>
          <a:prstGeom prst="rect">
            <a:avLst/>
          </a:prstGeom>
        </p:spPr>
      </p:pic>
      <p:sp>
        <p:nvSpPr>
          <p:cNvPr id="17419" name="TextBox 17418"/>
          <p:cNvSpPr txBox="1"/>
          <p:nvPr/>
        </p:nvSpPr>
        <p:spPr>
          <a:xfrm>
            <a:off x="6400800" y="5961888"/>
            <a:ext cx="539496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497D"/>
                </a:solidFill>
                <a:latin typeface="Arial"/>
              </a:rPr>
              <a:t>Live at real-time-airfare.vercel.app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2800" b="1">
                <a:solidFill>
                  <a:srgbClr val="1F497D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33856"/>
            <a:ext cx="55778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Methodology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976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411480" y="1527048"/>
            <a:ext cx="5577840" cy="17373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CPI Manual: Concepts and Methods (IMF / ILO, 2020)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MoSPI — CPI (Base 2012=100), Transport sub-index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Eurostat — web-scraped data in HICP compilation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ONS (UK) — web-scraped data in consumer prices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11480" y="3520440"/>
            <a:ext cx="55778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Standards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429768" y="3794760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TextBox 17414"/>
          <p:cNvSpPr txBox="1"/>
          <p:nvPr/>
        </p:nvSpPr>
        <p:spPr>
          <a:xfrm>
            <a:off x="411480" y="3913632"/>
            <a:ext cx="5577840" cy="1371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RFC 9309 — Robots Exclusion Protocol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Each portal's robots.txt, re-checked at run time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DGCA monthly domestic traffic — basket selection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6400800" y="1133856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Our own field research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641908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6400800" y="1527048"/>
            <a:ext cx="5394960" cy="3108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Portal survey: one OTA permits and serves us; two disallow or block outright.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Python's standard robots parser wrongly permits paths these sites disallow — we implemented RFC 9309.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Of 56 free-tier models, six answered; three reached end-of-life during the build, one mid-run.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Splitting the prompt into 800-character chunks took a small model from 1 of 40 fares to 38.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