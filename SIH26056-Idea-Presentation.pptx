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apix-portal.pages.dev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ec.europa.eu/eurostat/documents/272892/12032198/Guidelines-web-scraping-HICP-11-2020.pdf" TargetMode="External"/><Relationship Id="rId5" Type="http://schemas.openxmlformats.org/officeDocument/2006/relationships/hyperlink" Target="https://www.ilo.org/publications/consumer-price-index-manual-concepts-and-methods-2020" TargetMode="External"/><Relationship Id="rId6" Type="http://schemas.openxmlformats.org/officeDocument/2006/relationships/hyperlink" Target="https://www.ons.gov.uk/economy/inflationandpriceindices/articles/researchindicesusingwebscrapedpricedata/august2017update/previous/v1/pdf" TargetMode="External"/><Relationship Id="rId7" Type="http://schemas.openxmlformats.org/officeDocument/2006/relationships/hyperlink" Target="https://www.pib.gov.in/PressReleasePage.aspx?PRID=2227012&amp;reg=3&amp;lang=1" TargetMode="External"/><Relationship Id="rId8" Type="http://schemas.openxmlformats.org/officeDocument/2006/relationships/hyperlink" Target="https://www.mospi.gov.in/uploads/documents/documents/1770891066052-Annexure_V.pdf" TargetMode="External"/><Relationship Id="rId9" Type="http://schemas.openxmlformats.org/officeDocument/2006/relationships/hyperlink" Target="https://www.dgca.gov.in/digigov-portal/" TargetMode="External"/><Relationship Id="rId10" Type="http://schemas.openxmlformats.org/officeDocument/2006/relationships/hyperlink" Target="https://www.rfc-editor.org/rfc/rfc9309" TargetMode="External"/><Relationship Id="rId11" Type="http://schemas.openxmlformats.org/officeDocument/2006/relationships/hyperlink" Target="https://www.ibef.org/industry/indian-aviation" TargetMode="External"/><Relationship Id="rId12" Type="http://schemas.openxmlformats.org/officeDocument/2006/relationships/hyperlink" Target="https://github.com/BradCage-afk/sih-2026-airfare-index" TargetMode="External"/><Relationship Id="rId13" Type="http://schemas.openxmlformats.org/officeDocument/2006/relationships/hyperlink" Target="https://apix-api-n5ux.onrender.com/docs" TargetMode="External"/><Relationship Id="rId14" Type="http://schemas.openxmlformats.org/officeDocument/2006/relationships/hyperlink" Target="https://apix-portal.pages.dev" TargetMode="External"/><Relationship Id="rId15" Type="http://schemas.openxmlformats.org/officeDocument/2006/relationships/hyperlink" Target="https://github.com/BradCage-afk/sih-2026-airfare-index#readm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075688"/>
            <a:ext cx="5925312" cy="4700016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 algn="just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Problem Statement ID - SIH26056</a:t>
            </a:r>
            <a:endParaRPr lang="en-US" dirty="0"/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Problem Statement Title - Development of a Real-time Airfare Price Index for India through Automated Web Scraping of Airline and Online Travel Aggregator Portals for Augmentation of the Consumer Price Index (CPI)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Theme - Travel &amp; Tourism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PS Category - Software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Team ID - ‹TEAM ID›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Team Name (Registered on portal) - Fare Enough 101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APIx — AIRFARE PRICE INDEX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896112"/>
            <a:ext cx="7726679" cy="9692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81B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50" b="1">
                <a:solidFill>
                  <a:srgbClr val="1F497D"/>
                </a:solidFill>
                <a:latin typeface="Arial"/>
              </a:rPr>
              <a:t>A daily airfare inflation index for the CPI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5A626C"/>
                </a:solidFill>
                <a:latin typeface="Arial"/>
              </a:rPr>
              <a:t>MoSPI prices air travel by hand, once a month, for one departure date. APIx reads the same public pages every ten minutes and delivers one weighted index number to MoSPI through an API.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8275320" y="932688"/>
            <a:ext cx="3474720" cy="82296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8A5A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51,000+ fares collected · 15 city pairs × 5 lead times · every 10 minutes · ₹0 a month to run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901952"/>
            <a:ext cx="6355080" cy="1719072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965960"/>
            <a:ext cx="3840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81BD"/>
                </a:solidFill>
                <a:latin typeface="Arial"/>
              </a:rPr>
              <a:t>WHAT CHANGES FOR THE CPI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2148840" y="22402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6C"/>
                </a:solidFill>
                <a:latin typeface="Arial"/>
              </a:rPr>
              <a:t>TODAY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60520" y="2240280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8A5A"/>
                </a:solidFill>
                <a:latin typeface="Arial"/>
              </a:rPr>
              <a:t>WITH APIx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48640" y="2532888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Frequency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2148840" y="2532888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once a month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60520" y="2532888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every 10 minutes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548640" y="2798064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Coverage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2148840" y="2798064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a handful of quotes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4160520" y="2798064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75 priced cells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548640" y="3063240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Price basis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148840" y="30632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one quoted price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160520" y="3063240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minimum logical fare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548640" y="3328415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Delivery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2148840" y="3328415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typed into a form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4160520" y="3328415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authenticated REST API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6903720" y="1901952"/>
            <a:ext cx="4846320" cy="89611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7040880" y="1947672"/>
            <a:ext cx="45720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B3F8C"/>
                </a:solidFill>
                <a:latin typeface="Arial"/>
              </a:rPr>
              <a:t>THE INDEX IN ONE LINE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7040880" y="2185416"/>
            <a:ext cx="45720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APIxₜ = 100 × exp( Σ wᵢ·ln(Pᵢ,ₜ/Pᵢ,₀) / Σ wᵢ )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040880" y="2432304"/>
            <a:ext cx="45720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Weighted Jevons — the elementary-aggregate formula Eurostat and the ONS use for their own price indices.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6903720" y="2834640"/>
            <a:ext cx="4846320" cy="78638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7040880" y="2862072"/>
            <a:ext cx="45720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E7C86"/>
                </a:solidFill>
                <a:latin typeface="Arial"/>
              </a:rPr>
              <a:t>WHAT THE TERMS MEAN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040880" y="304495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Basket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7818120" y="304495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15 city pairs × 5 lead times = 75 cells</a:t>
            </a:r>
          </a:p>
        </p:txBody>
      </p:sp>
      <p:sp>
        <p:nvSpPr>
          <p:cNvPr id="15388" name="TextBox 15387"/>
          <p:cNvSpPr txBox="1"/>
          <p:nvPr/>
        </p:nvSpPr>
        <p:spPr>
          <a:xfrm>
            <a:off x="7040880" y="318211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Price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818120" y="318211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minimum logical fare, no add-ons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7040880" y="331927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Weight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7818120" y="331927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route seat share × lead-time share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7040880" y="345643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Base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7818120" y="345643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August 2026 = 100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411480" y="3712463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Why it stands out</a:t>
            </a:r>
          </a:p>
        </p:txBody>
      </p:sp>
      <p:sp>
        <p:nvSpPr>
          <p:cNvPr id="15395" name="Rectangle 15394"/>
          <p:cNvSpPr/>
          <p:nvPr/>
        </p:nvSpPr>
        <p:spPr>
          <a:xfrm>
            <a:off x="429768" y="3986783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6" name="Rounded Rectangle 15395"/>
          <p:cNvSpPr/>
          <p:nvPr/>
        </p:nvSpPr>
        <p:spPr>
          <a:xfrm>
            <a:off x="411480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The standard method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Weighted Jevons on minimum logical fares — the elementary-aggregate method Eurostat and ONS use for their own price indices.</a:t>
            </a:r>
          </a:p>
        </p:txBody>
      </p:sp>
      <p:sp>
        <p:nvSpPr>
          <p:cNvPr id="15397" name="Rectangle 15396"/>
          <p:cNvSpPr/>
          <p:nvPr/>
        </p:nvSpPr>
        <p:spPr>
          <a:xfrm>
            <a:off x="411480" y="4059936"/>
            <a:ext cx="3621024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4270248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Weighting is a matrix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Every cell carries route seat share × booking lead time, so Delhi–Mumbai moves the index three times as hard as Delhi–Srinagar.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4270248" y="4059936"/>
            <a:ext cx="3621024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Rounded Rectangle 15399"/>
          <p:cNvSpPr/>
          <p:nvPr/>
        </p:nvSpPr>
        <p:spPr>
          <a:xfrm>
            <a:off x="8129015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It knows when not to publish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Below 60% basket coverage the figure ships marked provisional, with the reason attached. An index that admits thin coverage beats one that never does.</a:t>
            </a:r>
          </a:p>
        </p:txBody>
      </p:sp>
      <p:sp>
        <p:nvSpPr>
          <p:cNvPr id="15401" name="Rectangle 15400"/>
          <p:cNvSpPr/>
          <p:nvPr/>
        </p:nvSpPr>
        <p:spPr>
          <a:xfrm>
            <a:off x="8129015" y="4059936"/>
            <a:ext cx="3621024" cy="64008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2" name="Rounded Rectangle 15401"/>
          <p:cNvSpPr/>
          <p:nvPr/>
        </p:nvSpPr>
        <p:spPr>
          <a:xfrm>
            <a:off x="411480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B3F8C"/>
                </a:solidFill>
                <a:latin typeface="Arial"/>
              </a:rPr>
              <a:t>Machine-readable for MoSPI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One authenticated REST call returns the index with its method, coverage and revision history. Nobody retypes a number off a screen.</a:t>
            </a:r>
          </a:p>
        </p:txBody>
      </p:sp>
      <p:sp>
        <p:nvSpPr>
          <p:cNvPr id="15403" name="Rectangle 15402"/>
          <p:cNvSpPr/>
          <p:nvPr/>
        </p:nvSpPr>
        <p:spPr>
          <a:xfrm>
            <a:off x="411480" y="5266944"/>
            <a:ext cx="3621024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4" name="Rounded Rectangle 15403"/>
          <p:cNvSpPr/>
          <p:nvPr/>
        </p:nvSpPr>
        <p:spPr>
          <a:xfrm>
            <a:off x="4270248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Arial"/>
              </a:rPr>
              <a:t>Compliance by construction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robots.txt is re-checked to RFC 9309 before every request. We wrote the parser ourselves because Python's standard one gets it wrong.</a:t>
            </a:r>
          </a:p>
        </p:txBody>
      </p:sp>
      <p:sp>
        <p:nvSpPr>
          <p:cNvPr id="15405" name="Rectangle 15404"/>
          <p:cNvSpPr/>
          <p:nvPr/>
        </p:nvSpPr>
        <p:spPr>
          <a:xfrm>
            <a:off x="4270248" y="5266944"/>
            <a:ext cx="362102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Rounded Rectangle 15405"/>
          <p:cNvSpPr/>
          <p:nvPr/>
        </p:nvSpPr>
        <p:spPr>
          <a:xfrm>
            <a:off x="8129015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A3E6B"/>
                </a:solidFill>
                <a:latin typeface="Arial"/>
              </a:rPr>
              <a:t>It never estimates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Fields a portal does not publish stay NULL. Cells with too few observations are excluded, not filled in — the system says when it does not know.</a:t>
            </a:r>
          </a:p>
        </p:txBody>
      </p:sp>
      <p:sp>
        <p:nvSpPr>
          <p:cNvPr id="15407" name="Rectangle 15406"/>
          <p:cNvSpPr/>
          <p:nvPr/>
        </p:nvSpPr>
        <p:spPr>
          <a:xfrm>
            <a:off x="8129015" y="5266944"/>
            <a:ext cx="3621024" cy="64008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How a published fare becomes a published index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35024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F81BD"/>
                </a:solidFill>
                <a:latin typeface="Arial"/>
              </a:rPr>
              <a:t>1  Collect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every 10 min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robots-gated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1444752"/>
            <a:ext cx="1719072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ight Arrow 17413"/>
          <p:cNvSpPr/>
          <p:nvPr/>
        </p:nvSpPr>
        <p:spPr>
          <a:xfrm>
            <a:off x="2144268" y="1947672"/>
            <a:ext cx="173736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233172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8A5A"/>
                </a:solidFill>
                <a:latin typeface="Arial"/>
              </a:rPr>
              <a:t>2  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13,000 → 3,700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chars per page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2331720" y="1444752"/>
            <a:ext cx="1719072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ight Arrow 17416"/>
          <p:cNvSpPr/>
          <p:nvPr/>
        </p:nvSpPr>
        <p:spPr>
          <a:xfrm>
            <a:off x="4064507" y="1947672"/>
            <a:ext cx="173736" cy="182880"/>
          </a:xfrm>
          <a:prstGeom prst="rightArrow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25196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77700"/>
                </a:solidFill>
                <a:latin typeface="Arial"/>
              </a:rPr>
              <a:t>3  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38 of 40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flights kept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251960" y="1444752"/>
            <a:ext cx="1719072" cy="64008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ight Arrow 17419"/>
          <p:cNvSpPr/>
          <p:nvPr/>
        </p:nvSpPr>
        <p:spPr>
          <a:xfrm>
            <a:off x="5984748" y="1947672"/>
            <a:ext cx="173736" cy="182880"/>
          </a:xfrm>
          <a:prstGeom prst="rightArrow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17220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B3F8C"/>
                </a:solidFill>
                <a:latin typeface="Arial"/>
              </a:rPr>
              <a:t>4  Clean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min 3 obs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per priced cell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172200" y="1444752"/>
            <a:ext cx="1719072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ight Arrow 17422"/>
          <p:cNvSpPr/>
          <p:nvPr/>
        </p:nvSpPr>
        <p:spPr>
          <a:xfrm>
            <a:off x="7904988" y="1947672"/>
            <a:ext cx="173736" cy="182880"/>
          </a:xfrm>
          <a:prstGeom prst="rightArrow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809244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7C86"/>
                </a:solidFill>
                <a:latin typeface="Arial"/>
              </a:rPr>
              <a:t>5 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75 cells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weighted Jevons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8092440" y="1444752"/>
            <a:ext cx="1719072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ight Arrow 17425"/>
          <p:cNvSpPr/>
          <p:nvPr/>
        </p:nvSpPr>
        <p:spPr>
          <a:xfrm>
            <a:off x="9825228" y="1947672"/>
            <a:ext cx="173736" cy="18288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001268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7A3E6B"/>
                </a:solidFill>
                <a:latin typeface="Arial"/>
              </a:rPr>
              <a:t>6  Publish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2 endpoints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portal + API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10012680" y="1444752"/>
            <a:ext cx="1719072" cy="64008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2761488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What actually happens to one results page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429768" y="303580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411480" y="3145536"/>
            <a:ext cx="3703320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57784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81BD"/>
                </a:solidFill>
                <a:latin typeface="Arial"/>
              </a:rPr>
              <a:t>1 · WHAT THE PAGE GIVES US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557784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IndiGo | 6E-955 | 20:20 | 2h |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Non-stop | 22:20 | ₹6,529 |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₹480 off with CTFKSBIC | Book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57784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Found by structure — a time beside a price — not by CSS class names, so a redesign cannot break it.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370832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4370832" y="3145536"/>
            <a:ext cx="3703320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4517136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8A5A"/>
                </a:solidFill>
                <a:latin typeface="Arial"/>
              </a:rPr>
              <a:t>2 · WHAT THE MODEL RETURNS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4517136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{"carrier": "IndiGo",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"flight_number": "6E-955",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"departure_time": "20:20",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"total_fare": 6529,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"base_fare": null}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17136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Strict JSON only. Coupons and struck-through prices are ignored; unpublished fields stay null.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330183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2" name="Rectangle 17441"/>
          <p:cNvSpPr/>
          <p:nvPr/>
        </p:nvSpPr>
        <p:spPr>
          <a:xfrm>
            <a:off x="8330183" y="3145536"/>
            <a:ext cx="3703320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8476488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3F8C"/>
                </a:solidFill>
                <a:latin typeface="Arial"/>
              </a:rPr>
              <a:t>3 · WHAT POSTGRES STORES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476488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DEL → BOM  ·  T+1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total_fare  ₹6,529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source      cleartrip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model_used  llama-3.2-11b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scraped_at  2026-09-04 19:54Z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476488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Every fare records its source, the moment it was seen and the model that read it — so any figure traces back.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411480" y="5596128"/>
            <a:ext cx="11338560" cy="53035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B3F8C"/>
                </a:solidFill>
                <a:latin typeface="Arial"/>
              </a:rPr>
              <a:t>STACK   Python · Playwright · OpenAI-compatible LLM with failover · Pydantic v2 · Supabase PostgreSQL · FastAPI · Cloudflare · cron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68580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225296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4F81BD"/>
                </a:solidFill>
                <a:latin typeface="Arial"/>
              </a:rPr>
              <a:t>Technical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Fares are published continuously on public pages and change all day. The data exists; what is missing is a systematic way to read it.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0" y="1444752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F81BD"/>
                </a:solidFill>
                <a:latin typeface="Arial"/>
              </a:rPr>
              <a:t>USD 18.1 bn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market size, 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377440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11480" y="2377440"/>
            <a:ext cx="68580" cy="1170432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2468880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8A5A"/>
                </a:solidFill>
                <a:latin typeface="Arial"/>
              </a:rPr>
              <a:t>Operational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fixed basket of the 15 busiest city pairs across 148 operational airports tracks the traffic that actually moves the index.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0" y="2688336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8A5A"/>
                </a:solidFill>
                <a:latin typeface="Arial"/>
              </a:rPr>
              <a:t>164 million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domestic passengers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3621024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411480" y="3621024"/>
            <a:ext cx="68580" cy="1170432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40080" y="3712463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77700"/>
                </a:solidFill>
                <a:latin typeface="Arial"/>
              </a:rPr>
              <a:t>Economic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Free tiers throughout, about two minutes of compute per cycle. MoSPI visits shops monthly; this observes 144 times a day.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0" y="3931920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77700"/>
                </a:solidFill>
                <a:latin typeface="Arial"/>
              </a:rPr>
              <a:t>₹0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a month to run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4864608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3" name="Rectangle 17422"/>
          <p:cNvSpPr/>
          <p:nvPr/>
        </p:nvSpPr>
        <p:spPr>
          <a:xfrm>
            <a:off x="411480" y="4864608"/>
            <a:ext cx="68580" cy="1170432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640080" y="4956048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4B3F8C"/>
                </a:solidFill>
                <a:latin typeface="Arial"/>
              </a:rPr>
              <a:t>Regulatory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Eurostat's HICP guidance names air fares as a scrapeable category and the ONS has published on it since 2014 — precedented, not experimental.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0" y="5175504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B3F8C"/>
                </a:solidFill>
                <a:latin typeface="Arial"/>
              </a:rPr>
              <a:t>since 2014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ONS precedent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 about them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6400800" y="1554480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6400800" y="1554480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6583680" y="1636776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16 portals surveyed, one is usable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Ten disallow us, four block us, airlines refuse automation entirely.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0" y="2432304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6400800" y="2432304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583680" y="2514600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400800" y="3310128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6400800" y="3310128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583680" y="3392424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Three died during this build. Extraction now fails over automatically.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400800" y="4187952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Rectangle 17437"/>
          <p:cNvSpPr/>
          <p:nvPr/>
        </p:nvSpPr>
        <p:spPr>
          <a:xfrm>
            <a:off x="6400800" y="4187952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6583680" y="4270248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Thin coverage would mislead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Days below 60% basket weight publish as provisional, with the reason.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it costs to run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6400800" y="5449824"/>
            <a:ext cx="5394960" cy="877824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547104" y="5504688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Collection · Playwright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921240" y="5504688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547104" y="5660136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Extraction · NVIDIA NIM LLM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921240" y="5660136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547104" y="5815583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Storage · Supabase Postgres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9921240" y="5815583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547104" y="5971031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Publication · Render + Cloudflare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9921240" y="5971031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547104" y="6126479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8A5A"/>
                </a:solidFill>
                <a:latin typeface="Arial"/>
              </a:rPr>
              <a:t>Total · 144 cycles a day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921240" y="6126479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8A5A"/>
                </a:solidFill>
                <a:latin typeface="Arial"/>
              </a:rPr>
              <a:t>₹0 a month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From a fare on a screen to a figure in the CPI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A fare is published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A portal shows a price for one route, one date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8A5A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We observe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Read every 10 minutes, robots-checked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700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becomes a price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Cheapest logical fare per route × lead time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B3F8C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becomes an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Weighted Jevons across the basket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86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MoSPI ingests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REST API with method and coverage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3E6B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CPI reflects reality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Transport sub-index from 144 daily reads</a:t>
            </a:r>
          </a:p>
        </p:txBody>
      </p:sp>
      <p:pic>
        <p:nvPicPr>
          <p:cNvPr id="17423" name="Picture 17422" descr="portal-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72384"/>
            <a:ext cx="5669280" cy="2755900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11480" y="5852160"/>
            <a:ext cx="5669280" cy="4023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  <a:hlinkClick r:id="rId5"/>
              </a:rPr>
              <a:t>Live: apix-portal.pages.dev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A626C"/>
                </a:solidFill>
                <a:latin typeface="Arial"/>
              </a:rPr>
              <a:t>Headline inflation, release status and method on one page.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400800" y="303580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Who benefits, and how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419088" y="331012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6400800" y="3438144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MoSPI / NSO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275320" y="3419856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defensible transport input, recomputable from stored micro-data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400800" y="3913631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DGCA and policy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75320" y="3895344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Route-level fare behaviour nobody currently publishes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0" y="4389119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Citizens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275320" y="4370831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public record of what air travel actually costs over time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0" y="4864607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Researchers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275320" y="4846319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An open, reproducible price series for a market that has none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400800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492240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8A5A"/>
                </a:solidFill>
                <a:latin typeface="Arial"/>
              </a:rPr>
              <a:t>144 ×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observations a day, not one a month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247888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8339327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3F8C"/>
                </a:solidFill>
                <a:latin typeface="Arial"/>
              </a:rPr>
              <a:t>75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priced cells behind every figure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10094976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10186415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86"/>
                </a:solidFill>
                <a:latin typeface="Arial"/>
              </a:rPr>
              <a:t>T+0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same-day index, not a two-week lag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6400800" y="5925312"/>
            <a:ext cx="5394960" cy="402336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Our promise — replace one manual price visit a month with 144 automated observations a day, at zero marginal cost.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987552"/>
            <a:ext cx="64008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A626C"/>
                </a:solidFill>
                <a:latin typeface="Arial"/>
              </a:rPr>
              <a:t>EVERY CARD IS CLICKABLE — THE UNDERLINED LINK OPENS THE SOURCE</a:t>
            </a:r>
          </a:p>
        </p:txBody>
      </p:sp>
      <p:sp>
        <p:nvSpPr>
          <p:cNvPr id="17411" name="Rounded Rectangle 17410">
            <a:hlinkClick r:id="rId4"/>
          </p:cNvPr>
          <p:cNvSpPr/>
          <p:nvPr/>
        </p:nvSpPr>
        <p:spPr>
          <a:xfrm>
            <a:off x="411480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411480" y="1243584"/>
            <a:ext cx="370332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57784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Method — why Jevons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Eurostat, Practical guidelines on web scraping for the HICP (2020). Names air fares explicitly as a scraped category.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956816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F81BD"/>
                </a:solidFill>
                <a:latin typeface="Arial"/>
                <a:hlinkClick r:id="rId4"/>
              </a:rPr>
              <a:t>Eurostat guidance</a:t>
            </a:r>
          </a:p>
        </p:txBody>
      </p:sp>
      <p:sp>
        <p:nvSpPr>
          <p:cNvPr id="17415" name="Rounded Rectangle 17414">
            <a:hlinkClick r:id="rId5"/>
          </p:cNvPr>
          <p:cNvSpPr/>
          <p:nvPr/>
        </p:nvSpPr>
        <p:spPr>
          <a:xfrm>
            <a:off x="4370832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370832" y="1243584"/>
            <a:ext cx="3703320" cy="54864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517136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The international standard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CPI Manual: Concepts and Methods (ILO, IMF, OECD, UN, World Bank, 2020). Sets out elementary aggregates and why Jevons is preferred.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916168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1B8A5A"/>
                </a:solidFill>
                <a:latin typeface="Arial"/>
                <a:hlinkClick r:id="rId5"/>
              </a:rPr>
              <a:t>CPI Manual 2020</a:t>
            </a:r>
          </a:p>
        </p:txBody>
      </p:sp>
      <p:sp>
        <p:nvSpPr>
          <p:cNvPr id="17419" name="Rounded Rectangle 17418">
            <a:hlinkClick r:id="rId6"/>
          </p:cNvPr>
          <p:cNvSpPr/>
          <p:nvPr/>
        </p:nvSpPr>
        <p:spPr>
          <a:xfrm>
            <a:off x="8330183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8330183" y="1243584"/>
            <a:ext cx="3703320" cy="54864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476488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Precedent — already done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The ONS ran a web-scraping programme for consumer prices from 2014, Eurostat-funded from 2015. This is not an untried method.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875520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C77700"/>
                </a:solidFill>
                <a:latin typeface="Arial"/>
                <a:hlinkClick r:id="rId6"/>
              </a:rPr>
              <a:t>ONS research indices</a:t>
            </a:r>
          </a:p>
        </p:txBody>
      </p:sp>
      <p:sp>
        <p:nvSpPr>
          <p:cNvPr id="17423" name="Rounded Rectangle 17422">
            <a:hlinkClick r:id="rId7"/>
          </p:cNvPr>
          <p:cNvSpPr/>
          <p:nvPr/>
        </p:nvSpPr>
        <p:spPr>
          <a:xfrm>
            <a:off x="411480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411480" y="2670048"/>
            <a:ext cx="3703320" cy="54864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557784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B3F8C"/>
                </a:solidFill>
                <a:latin typeface="Arial"/>
              </a:rPr>
              <a:t>The series we augment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MoSPI moved the CPI to base 2024=100 in February 2026, aligned to COICOP 2018 — 358 weighted items, 50 of them services. Air travel sits in Transport.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956816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B3F8C"/>
                </a:solidFill>
                <a:latin typeface="Arial"/>
                <a:hlinkClick r:id="rId7"/>
              </a:rPr>
              <a:t>2024=100 release</a:t>
            </a:r>
          </a:p>
        </p:txBody>
      </p:sp>
      <p:sp>
        <p:nvSpPr>
          <p:cNvPr id="17427" name="Rounded Rectangle 17426">
            <a:hlinkClick r:id="rId8"/>
          </p:cNvPr>
          <p:cNvSpPr/>
          <p:nvPr/>
        </p:nvSpPr>
        <p:spPr>
          <a:xfrm>
            <a:off x="4370832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4370832" y="2670048"/>
            <a:ext cx="370332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517136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Arial"/>
              </a:rPr>
              <a:t>How fares are priced now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Field staff price items in sampled villages and urban markets on a weekly roster. Air travel is collected by hand.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916168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0E7C86"/>
                </a:solidFill>
                <a:latin typeface="Arial"/>
                <a:hlinkClick r:id="rId8"/>
              </a:rPr>
              <a:t>CPI 2024 series FAQs</a:t>
            </a:r>
          </a:p>
        </p:txBody>
      </p:sp>
      <p:sp>
        <p:nvSpPr>
          <p:cNvPr id="17431" name="Rounded Rectangle 17430">
            <a:hlinkClick r:id="rId9"/>
          </p:cNvPr>
          <p:cNvSpPr/>
          <p:nvPr/>
        </p:nvSpPr>
        <p:spPr>
          <a:xfrm>
            <a:off x="8330183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8330183" y="2670048"/>
            <a:ext cx="3703320" cy="54864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476488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A3E6B"/>
                </a:solidFill>
                <a:latin typeface="Arial"/>
              </a:rPr>
              <a:t>The Indian basket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DGCA city-pair statistics: 164 m domestic passengers, IndiGo 64.2%. Our own 1,000-fare sample returned 68.2% — arrived at independently.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9875520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7A3E6B"/>
                </a:solidFill>
                <a:latin typeface="Arial"/>
                <a:hlinkClick r:id="rId9"/>
              </a:rPr>
              <a:t>DGCA statistics</a:t>
            </a:r>
          </a:p>
        </p:txBody>
      </p:sp>
      <p:sp>
        <p:nvSpPr>
          <p:cNvPr id="17435" name="Rounded Rectangle 17434">
            <a:hlinkClick r:id="rId10"/>
          </p:cNvPr>
          <p:cNvSpPr/>
          <p:nvPr/>
        </p:nvSpPr>
        <p:spPr>
          <a:xfrm>
            <a:off x="411480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6" name="Rectangle 17435"/>
          <p:cNvSpPr/>
          <p:nvPr/>
        </p:nvSpPr>
        <p:spPr>
          <a:xfrm>
            <a:off x="411480" y="4096512"/>
            <a:ext cx="370332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57784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Standards we hold to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RFC 9309, the Robots Exclusion Protocol. We implemented it ourselves after finding Python's standard parser reports disallowed paths as allowed.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56816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F81BD"/>
                </a:solidFill>
                <a:latin typeface="Arial"/>
                <a:hlinkClick r:id="rId10"/>
              </a:rPr>
              <a:t>RFC 9309</a:t>
            </a:r>
          </a:p>
        </p:txBody>
      </p:sp>
      <p:sp>
        <p:nvSpPr>
          <p:cNvPr id="17439" name="Rounded Rectangle 17438">
            <a:hlinkClick r:id="rId11"/>
          </p:cNvPr>
          <p:cNvSpPr/>
          <p:nvPr/>
        </p:nvSpPr>
        <p:spPr>
          <a:xfrm>
            <a:off x="4370832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4370832" y="4096512"/>
            <a:ext cx="3703320" cy="54864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4517136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The market we measure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India is the world's fifth-largest aviation market, worth USD 18.1 bn in 2026 and growing 11.7% a year. Fares move daily; the CPI reads them monthly.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916168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1B8A5A"/>
                </a:solidFill>
                <a:latin typeface="Arial"/>
                <a:hlinkClick r:id="rId11"/>
              </a:rPr>
              <a:t>Aviation market</a:t>
            </a:r>
          </a:p>
        </p:txBody>
      </p:sp>
      <p:sp>
        <p:nvSpPr>
          <p:cNvPr id="17443" name="Rounded Rectangle 17442">
            <a:hlinkClick r:id="rId12"/>
          </p:cNvPr>
          <p:cNvSpPr/>
          <p:nvPr/>
        </p:nvSpPr>
        <p:spPr>
          <a:xfrm>
            <a:off x="8330183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4" name="Rectangle 17443"/>
          <p:cNvSpPr/>
          <p:nvPr/>
        </p:nvSpPr>
        <p:spPr>
          <a:xfrm>
            <a:off x="8330183" y="4096512"/>
            <a:ext cx="3703320" cy="54864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476488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Our code and full method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Collector, index engine, export API and portal. The README documents the method, the exclusion rules and the publication threshold.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875520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C77700"/>
                </a:solidFill>
                <a:latin typeface="Arial"/>
                <a:hlinkClick r:id="rId12"/>
              </a:rPr>
              <a:t>Open the repository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411480" y="5504688"/>
            <a:ext cx="11338560" cy="73152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566928" y="5559552"/>
            <a:ext cx="11064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Everything above is reproducible — every figure in this deck and on the portal regenerates from the database by scripts in the repository, none typed by hand.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566928" y="5870448"/>
            <a:ext cx="118872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A626C"/>
                </a:solidFill>
                <a:latin typeface="Arial"/>
              </a:rPr>
              <a:t>LIVE SYSTEM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78308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1F497D"/>
                </a:solidFill>
                <a:latin typeface="Arial"/>
                <a:hlinkClick r:id="rId13"/>
              </a:rPr>
              <a:t>Live API docs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416052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1B8A5A"/>
                </a:solidFill>
                <a:latin typeface="Arial"/>
                <a:hlinkClick r:id="rId14"/>
              </a:rPr>
              <a:t>Release portal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653796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4B3F8C"/>
                </a:solidFill>
                <a:latin typeface="Arial"/>
                <a:hlinkClick r:id="rId15"/>
              </a:rPr>
              <a:t>README + method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91540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0E7C86"/>
                </a:solidFill>
                <a:latin typeface="Arial"/>
                <a:hlinkClick r:id="rId11"/>
              </a:rPr>
              <a:t>Aviation market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