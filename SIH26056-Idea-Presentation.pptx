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84048" y="1965960"/>
            <a:ext cx="5806440" cy="4526280"/>
          </a:xfrm>
          <a:prstGeom prst="rect">
            <a:avLst/>
          </a:prstGeom>
          <a:noFill/>
        </p:spPr>
        <p:txBody>
          <a:bodyPr wrap="square" rtlCol="0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PROBLEM STATEMENT ID</a:t>
            </a:r>
            <a:endParaRPr lang="en-US" dirty="0"/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SIH26056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PROBLEM STATEMENT TITLE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200" b="1">
                <a:solidFill>
                  <a:srgbClr val="262B33"/>
                </a:solidFill>
                <a:latin typeface="Arial"/>
              </a:rPr>
              <a:t>Development of a Real-time Airfare Price Index for India through Automated Web Scraping of Airline and Online Travel Aggregator Portals for Augmentation of the Consumer Price Index (CPI)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THEME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Travel &amp; Tourism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PS CATEGORY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Software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SPONSORING MINISTRY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MoSPI — Ministry of Statistics and Programme Implementation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TEAM ID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‹TEAM ID›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TEAM NAME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Fare Enough  (as registered on portal)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 algn="ctr"/>
            <a:r>
              <a:rPr sz="2800" b="1">
                <a:solidFill>
                  <a:srgbClr val="1F497D"/>
                </a:solidFill>
                <a:latin typeface="Times New Roman"/>
              </a:rPr>
              <a:t>WHY WE STAND OUT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50" b="1"/>
              <a:t>Fare Enough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411480" y="1078992"/>
            <a:ext cx="7863840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97D"/>
                </a:solidFill>
                <a:latin typeface="Arial"/>
              </a:rPr>
              <a:t>APIx  —  a daily airfare inflation index for the CPI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5A626C"/>
                </a:solidFill>
                <a:latin typeface="Arial"/>
              </a:rPr>
              <a:t>India's CPI still prices air travel from monthly manual visits. We measure it every ten minutes and publish it in the form a statistical office can ingest.</a:t>
            </a:r>
          </a:p>
        </p:txBody>
      </p:sp>
      <p:sp>
        <p:nvSpPr>
          <p:cNvPr id="15363" name="Rounded Rectangle 15362"/>
          <p:cNvSpPr/>
          <p:nvPr/>
        </p:nvSpPr>
        <p:spPr>
          <a:xfrm>
            <a:off x="411480" y="2084831"/>
            <a:ext cx="3703320" cy="1335024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The standard method,
not a homemade average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Weighted Jevons on minimum logical fares — the elementary-aggregate method Eurostat and ONS use for their own price indices.</a:t>
            </a:r>
          </a:p>
        </p:txBody>
      </p:sp>
      <p:sp>
        <p:nvSpPr>
          <p:cNvPr id="15364" name="Rectangle 15363"/>
          <p:cNvSpPr/>
          <p:nvPr/>
        </p:nvSpPr>
        <p:spPr>
          <a:xfrm>
            <a:off x="411480" y="2084831"/>
            <a:ext cx="3703320" cy="4572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5" name="Rounded Rectangle 15364"/>
          <p:cNvSpPr/>
          <p:nvPr/>
        </p:nvSpPr>
        <p:spPr>
          <a:xfrm>
            <a:off x="4370832" y="2084831"/>
            <a:ext cx="3703320" cy="1335024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Weighting is a matrix,
not a guess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Every cell is weighted by route share of scheduled seats × booking lead time, so Delhi–Mumbai moves the index three times as much as Delhi–Srinagar.</a:t>
            </a:r>
          </a:p>
        </p:txBody>
      </p:sp>
      <p:sp>
        <p:nvSpPr>
          <p:cNvPr id="15366" name="Rectangle 15365"/>
          <p:cNvSpPr/>
          <p:nvPr/>
        </p:nvSpPr>
        <p:spPr>
          <a:xfrm>
            <a:off x="4370832" y="2084831"/>
            <a:ext cx="3703320" cy="4572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7" name="Rounded Rectangle 15366"/>
          <p:cNvSpPr/>
          <p:nvPr/>
        </p:nvSpPr>
        <p:spPr>
          <a:xfrm>
            <a:off x="8330183" y="2084831"/>
            <a:ext cx="3703320" cy="1335024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It knows when not
to publish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Below 60% basket coverage a figure is marked provisional with the reason. An index that admits thin coverage is worth more than one that never does.</a:t>
            </a:r>
          </a:p>
        </p:txBody>
      </p:sp>
      <p:sp>
        <p:nvSpPr>
          <p:cNvPr id="15368" name="Rectangle 15367"/>
          <p:cNvSpPr/>
          <p:nvPr/>
        </p:nvSpPr>
        <p:spPr>
          <a:xfrm>
            <a:off x="8330183" y="2084831"/>
            <a:ext cx="3703320" cy="4572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9" name="Rounded Rectangle 15368"/>
          <p:cNvSpPr/>
          <p:nvPr/>
        </p:nvSpPr>
        <p:spPr>
          <a:xfrm>
            <a:off x="411480" y="3584448"/>
            <a:ext cx="3703320" cy="1335024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Machine-readable
for MoSPI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An authenticated REST endpoint returns the index with its method, coverage and revision history. Nobody retypes a number from a screen.</a:t>
            </a:r>
          </a:p>
        </p:txBody>
      </p:sp>
      <p:sp>
        <p:nvSpPr>
          <p:cNvPr id="15370" name="Rectangle 15369"/>
          <p:cNvSpPr/>
          <p:nvPr/>
        </p:nvSpPr>
        <p:spPr>
          <a:xfrm>
            <a:off x="411480" y="3584448"/>
            <a:ext cx="3703320" cy="4572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1" name="Rounded Rectangle 15370"/>
          <p:cNvSpPr/>
          <p:nvPr/>
        </p:nvSpPr>
        <p:spPr>
          <a:xfrm>
            <a:off x="4370832" y="3584448"/>
            <a:ext cx="3703320" cy="1335024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Compliance by
construction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robots.txt is checked to RFC 9309 before every single request. We wrote our own parser because Python's standard one gets it wrong.</a:t>
            </a:r>
          </a:p>
        </p:txBody>
      </p:sp>
      <p:sp>
        <p:nvSpPr>
          <p:cNvPr id="15372" name="Rectangle 15371"/>
          <p:cNvSpPr/>
          <p:nvPr/>
        </p:nvSpPr>
        <p:spPr>
          <a:xfrm>
            <a:off x="4370832" y="3584448"/>
            <a:ext cx="3703320" cy="4572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3" name="Rounded Rectangle 15372"/>
          <p:cNvSpPr/>
          <p:nvPr/>
        </p:nvSpPr>
        <p:spPr>
          <a:xfrm>
            <a:off x="8330183" y="3584448"/>
            <a:ext cx="3703320" cy="1335024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It never
estimates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Fields a portal does not publish stay NULL. Cells with too few observations are excluded, not filled in. The system says when it does not know.</a:t>
            </a:r>
          </a:p>
        </p:txBody>
      </p:sp>
      <p:sp>
        <p:nvSpPr>
          <p:cNvPr id="15374" name="Rectangle 15373"/>
          <p:cNvSpPr/>
          <p:nvPr/>
        </p:nvSpPr>
        <p:spPr>
          <a:xfrm>
            <a:off x="8330183" y="3584448"/>
            <a:ext cx="3703320" cy="4572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5" name="Rounded Rectangle 15374"/>
          <p:cNvSpPr/>
          <p:nvPr/>
        </p:nvSpPr>
        <p:spPr>
          <a:xfrm>
            <a:off x="411480" y="5138928"/>
            <a:ext cx="11338560" cy="676656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BUILT AND RUNNING  ·  36,000+ fares collected  ·  15 busiest city pairs × 5 booking lead times  ·  every 10 minutes  ·  ₹0 a month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sz="2800" b="1">
                <a:solidFill>
                  <a:srgbClr val="1F497D"/>
                </a:solidFill>
                <a:latin typeface="Times New Roman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50" b="1"/>
              <a:t>Fare Enough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133856"/>
            <a:ext cx="113385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97D"/>
                </a:solidFill>
                <a:latin typeface="Arial"/>
              </a:rPr>
              <a:t>Methodology — one route, one booking window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429768" y="1408176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Rounded Rectangle 17411"/>
          <p:cNvSpPr/>
          <p:nvPr/>
        </p:nvSpPr>
        <p:spPr>
          <a:xfrm>
            <a:off x="411480" y="1627632"/>
            <a:ext cx="1700784" cy="13716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81BD"/>
                </a:solidFill>
                <a:latin typeface="Arial"/>
              </a:rPr>
              <a:t>1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Collect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5A626C"/>
                </a:solidFill>
                <a:latin typeface="Arial"/>
              </a:rPr>
              <a:t>Robots-gated fetch
every 10 minutes</a:t>
            </a:r>
          </a:p>
        </p:txBody>
      </p:sp>
      <p:sp>
        <p:nvSpPr>
          <p:cNvPr id="17413" name="Right Arrow 17412"/>
          <p:cNvSpPr/>
          <p:nvPr/>
        </p:nvSpPr>
        <p:spPr>
          <a:xfrm>
            <a:off x="2130552" y="2212848"/>
            <a:ext cx="182879" cy="201168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Rounded Rectangle 17413"/>
          <p:cNvSpPr/>
          <p:nvPr/>
        </p:nvSpPr>
        <p:spPr>
          <a:xfrm>
            <a:off x="2331720" y="1627632"/>
            <a:ext cx="1700784" cy="13716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81BD"/>
                </a:solidFill>
                <a:latin typeface="Arial"/>
              </a:rPr>
              <a:t>2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Extract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5A626C"/>
                </a:solidFill>
                <a:latin typeface="Arial"/>
              </a:rPr>
              <a:t>LLM → strict JSON
retry, then fail over</a:t>
            </a:r>
          </a:p>
        </p:txBody>
      </p:sp>
      <p:sp>
        <p:nvSpPr>
          <p:cNvPr id="17415" name="Right Arrow 17414"/>
          <p:cNvSpPr/>
          <p:nvPr/>
        </p:nvSpPr>
        <p:spPr>
          <a:xfrm>
            <a:off x="4050791" y="2212848"/>
            <a:ext cx="182879" cy="201168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Rounded Rectangle 17415"/>
          <p:cNvSpPr/>
          <p:nvPr/>
        </p:nvSpPr>
        <p:spPr>
          <a:xfrm>
            <a:off x="4251960" y="1627632"/>
            <a:ext cx="1700784" cy="13716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81BD"/>
                </a:solidFill>
                <a:latin typeface="Arial"/>
              </a:rPr>
              <a:t>3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Validate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5A626C"/>
                </a:solidFill>
                <a:latin typeface="Arial"/>
              </a:rPr>
              <a:t>Schema + range
never estimates</a:t>
            </a:r>
          </a:p>
        </p:txBody>
      </p:sp>
      <p:sp>
        <p:nvSpPr>
          <p:cNvPr id="17417" name="Right Arrow 17416"/>
          <p:cNvSpPr/>
          <p:nvPr/>
        </p:nvSpPr>
        <p:spPr>
          <a:xfrm>
            <a:off x="5971032" y="2212848"/>
            <a:ext cx="182879" cy="201168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Rounded Rectangle 17417"/>
          <p:cNvSpPr/>
          <p:nvPr/>
        </p:nvSpPr>
        <p:spPr>
          <a:xfrm>
            <a:off x="6172200" y="1627632"/>
            <a:ext cx="1700784" cy="13716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81BD"/>
                </a:solidFill>
                <a:latin typeface="Arial"/>
              </a:rPr>
              <a:t>4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Clean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5A626C"/>
                </a:solidFill>
                <a:latin typeface="Arial"/>
              </a:rPr>
              <a:t>Min 3 observations
exclusions published</a:t>
            </a:r>
          </a:p>
        </p:txBody>
      </p:sp>
      <p:sp>
        <p:nvSpPr>
          <p:cNvPr id="17419" name="Right Arrow 17418"/>
          <p:cNvSpPr/>
          <p:nvPr/>
        </p:nvSpPr>
        <p:spPr>
          <a:xfrm>
            <a:off x="7891272" y="2212848"/>
            <a:ext cx="182879" cy="201168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Rounded Rectangle 17419"/>
          <p:cNvSpPr/>
          <p:nvPr/>
        </p:nvSpPr>
        <p:spPr>
          <a:xfrm>
            <a:off x="8092440" y="1627632"/>
            <a:ext cx="1700784" cy="13716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81BD"/>
                </a:solidFill>
                <a:latin typeface="Arial"/>
              </a:rPr>
              <a:t>5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Index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5A626C"/>
                </a:solidFill>
                <a:latin typeface="Arial"/>
              </a:rPr>
              <a:t>Weighted Jevons
route × lead time</a:t>
            </a:r>
          </a:p>
        </p:txBody>
      </p:sp>
      <p:sp>
        <p:nvSpPr>
          <p:cNvPr id="17421" name="Right Arrow 17420"/>
          <p:cNvSpPr/>
          <p:nvPr/>
        </p:nvSpPr>
        <p:spPr>
          <a:xfrm>
            <a:off x="9811511" y="2212848"/>
            <a:ext cx="182879" cy="201168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Rounded Rectangle 17421"/>
          <p:cNvSpPr/>
          <p:nvPr/>
        </p:nvSpPr>
        <p:spPr>
          <a:xfrm>
            <a:off x="10012680" y="1627632"/>
            <a:ext cx="1700784" cy="13716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81BD"/>
                </a:solidFill>
                <a:latin typeface="Arial"/>
              </a:rPr>
              <a:t>6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Publish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5A626C"/>
                </a:solidFill>
                <a:latin typeface="Arial"/>
              </a:rPr>
              <a:t>Portal + REST API
for MoSPI ingestion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411480" y="3246120"/>
            <a:ext cx="11338560" cy="841248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97D"/>
                </a:solidFill>
                <a:latin typeface="Arial"/>
              </a:rPr>
              <a:t>BUILT AND RUNNING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36,076 fares · 298 runs, 98.7% clean · APIx published daily and monthly · live portal and authenticated REST API, both reading Postgres directly.</a:t>
            </a:r>
          </a:p>
        </p:txBody>
      </p:sp>
      <p:pic>
        <p:nvPicPr>
          <p:cNvPr id="17424" name="Picture 17423" descr="chart-reco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187952"/>
            <a:ext cx="4069080" cy="2044781"/>
          </a:xfrm>
          <a:prstGeom prst="rect">
            <a:avLst/>
          </a:prstGeom>
        </p:spPr>
      </p:pic>
      <p:pic>
        <p:nvPicPr>
          <p:cNvPr id="17425" name="Picture 17424" descr="chart-caden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0" y="4224528"/>
            <a:ext cx="4206240" cy="1758472"/>
          </a:xfrm>
          <a:prstGeom prst="rect">
            <a:avLst/>
          </a:prstGeom>
        </p:spPr>
      </p:pic>
      <p:sp>
        <p:nvSpPr>
          <p:cNvPr id="17426" name="TextBox 17425"/>
          <p:cNvSpPr txBox="1"/>
          <p:nvPr/>
        </p:nvSpPr>
        <p:spPr>
          <a:xfrm>
            <a:off x="9372600" y="4224528"/>
            <a:ext cx="237744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Stack</a:t>
            </a:r>
          </a:p>
        </p:txBody>
      </p:sp>
      <p:sp>
        <p:nvSpPr>
          <p:cNvPr id="17427" name="Rectangle 17426"/>
          <p:cNvSpPr/>
          <p:nvPr/>
        </p:nvSpPr>
        <p:spPr>
          <a:xfrm>
            <a:off x="9390888" y="4498848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8" name="TextBox 17427"/>
          <p:cNvSpPr txBox="1"/>
          <p:nvPr/>
        </p:nvSpPr>
        <p:spPr>
          <a:xfrm>
            <a:off x="9372600" y="4590288"/>
            <a:ext cx="2468880" cy="1645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•  Python · Playwright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•  OpenAI-compatible LLM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•  Pydantic validation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•  Supabase Postgres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•  cron · HTML + SVG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sz="2800" b="1">
                <a:solidFill>
                  <a:srgbClr val="1F497D"/>
                </a:solidFill>
                <a:latin typeface="Times New Roman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50" b="1"/>
              <a:t>Fare Enough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411480" y="1133856"/>
            <a:ext cx="5623560" cy="1170432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F497D"/>
                </a:solidFill>
                <a:latin typeface="Arial"/>
              </a:rPr>
              <a:t>Technical feasibility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262B33"/>
                </a:solidFill>
                <a:latin typeface="Arial"/>
              </a:rPr>
              <a:t>India is the world's fifth-largest aviation market, worth USD 18.14 bn in 2026 and growing at 11.72% a year. The prices exist and change constantly — what is missing is a systematic way to measure them.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411480" y="1133856"/>
            <a:ext cx="50292" cy="117043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Rounded Rectangle 17411"/>
          <p:cNvSpPr/>
          <p:nvPr/>
        </p:nvSpPr>
        <p:spPr>
          <a:xfrm>
            <a:off x="411480" y="2414015"/>
            <a:ext cx="5623560" cy="1170432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F497D"/>
                </a:solidFill>
                <a:latin typeface="Arial"/>
              </a:rPr>
              <a:t>Operational feasibility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262B33"/>
                </a:solidFill>
                <a:latin typeface="Arial"/>
              </a:rPr>
              <a:t>164 million domestic passengers a year across 148 operational airports, up from 74 in 2014. A fixed basket of the 15 busiest city pairs tracks the traffic that actually matters.</a:t>
            </a:r>
          </a:p>
        </p:txBody>
      </p:sp>
      <p:sp>
        <p:nvSpPr>
          <p:cNvPr id="17413" name="Rectangle 17412"/>
          <p:cNvSpPr/>
          <p:nvPr/>
        </p:nvSpPr>
        <p:spPr>
          <a:xfrm>
            <a:off x="411480" y="2414015"/>
            <a:ext cx="50292" cy="117043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Rounded Rectangle 17413"/>
          <p:cNvSpPr/>
          <p:nvPr/>
        </p:nvSpPr>
        <p:spPr>
          <a:xfrm>
            <a:off x="411480" y="3694175"/>
            <a:ext cx="5623560" cy="1170432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F497D"/>
                </a:solidFill>
                <a:latin typeface="Arial"/>
              </a:rPr>
              <a:t>Economic feasibility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262B33"/>
                </a:solidFill>
                <a:latin typeface="Arial"/>
              </a:rPr>
              <a:t>The pipeline runs on free tiers at ₹0 a month and ~2 minutes of compute per cycle. MoSPI's field collectors visit shops and markets monthly; this observes 144 times a day without leaving a desk.</a:t>
            </a:r>
          </a:p>
        </p:txBody>
      </p:sp>
      <p:sp>
        <p:nvSpPr>
          <p:cNvPr id="17415" name="Rectangle 17414"/>
          <p:cNvSpPr/>
          <p:nvPr/>
        </p:nvSpPr>
        <p:spPr>
          <a:xfrm>
            <a:off x="411480" y="3694175"/>
            <a:ext cx="50292" cy="117043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Rounded Rectangle 17415"/>
          <p:cNvSpPr/>
          <p:nvPr/>
        </p:nvSpPr>
        <p:spPr>
          <a:xfrm>
            <a:off x="411480" y="4974336"/>
            <a:ext cx="5623560" cy="1170432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F497D"/>
                </a:solidFill>
                <a:latin typeface="Arial"/>
              </a:rPr>
              <a:t>Regulatory feasibility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262B33"/>
                </a:solidFill>
                <a:latin typeface="Arial"/>
              </a:rPr>
              <a:t>Eurostat publishes guidance on web-scraped prices for HICP and names air fares explicitly. ONS has done it since 2014. The method is precedented in official statistics, not experimental.</a:t>
            </a:r>
          </a:p>
        </p:txBody>
      </p:sp>
      <p:sp>
        <p:nvSpPr>
          <p:cNvPr id="17417" name="Rectangle 17416"/>
          <p:cNvSpPr/>
          <p:nvPr/>
        </p:nvSpPr>
        <p:spPr>
          <a:xfrm>
            <a:off x="411480" y="4974336"/>
            <a:ext cx="50292" cy="117043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TextBox 17417"/>
          <p:cNvSpPr txBox="1"/>
          <p:nvPr/>
        </p:nvSpPr>
        <p:spPr>
          <a:xfrm>
            <a:off x="6400800" y="1133856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Risks, and what we did about them</a:t>
            </a:r>
          </a:p>
        </p:txBody>
      </p:sp>
      <p:sp>
        <p:nvSpPr>
          <p:cNvPr id="17419" name="Rectangle 17418"/>
          <p:cNvSpPr/>
          <p:nvPr/>
        </p:nvSpPr>
        <p:spPr>
          <a:xfrm>
            <a:off x="6419088" y="1408176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Rounded Rectangle 17419"/>
          <p:cNvSpPr/>
          <p:nvPr/>
        </p:nvSpPr>
        <p:spPr>
          <a:xfrm>
            <a:off x="6400800" y="1554480"/>
            <a:ext cx="5394960" cy="86868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21" name="Rectangle 17420"/>
          <p:cNvSpPr/>
          <p:nvPr/>
        </p:nvSpPr>
        <p:spPr>
          <a:xfrm>
            <a:off x="6400800" y="1554480"/>
            <a:ext cx="50292" cy="86868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TextBox 17421"/>
          <p:cNvSpPr txBox="1"/>
          <p:nvPr/>
        </p:nvSpPr>
        <p:spPr>
          <a:xfrm>
            <a:off x="6583680" y="1664207"/>
            <a:ext cx="512064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16 portals surveyed, one is usable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Ten disallow us, four block us, airlines refuse automation entirely.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6400800" y="2496312"/>
            <a:ext cx="5394960" cy="86868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24" name="Rectangle 17423"/>
          <p:cNvSpPr/>
          <p:nvPr/>
        </p:nvSpPr>
        <p:spPr>
          <a:xfrm>
            <a:off x="6400800" y="2496312"/>
            <a:ext cx="50292" cy="86868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TextBox 17424"/>
          <p:cNvSpPr txBox="1"/>
          <p:nvPr/>
        </p:nvSpPr>
        <p:spPr>
          <a:xfrm>
            <a:off x="6583680" y="2606040"/>
            <a:ext cx="512064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Cloud IPs are blocked too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Verified in CI — so collection runs from a residential host.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6400800" y="3438144"/>
            <a:ext cx="5394960" cy="86868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27" name="Rectangle 17426"/>
          <p:cNvSpPr/>
          <p:nvPr/>
        </p:nvSpPr>
        <p:spPr>
          <a:xfrm>
            <a:off x="6400800" y="3438144"/>
            <a:ext cx="50292" cy="86868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8" name="TextBox 17427"/>
          <p:cNvSpPr txBox="1"/>
          <p:nvPr/>
        </p:nvSpPr>
        <p:spPr>
          <a:xfrm>
            <a:off x="6583680" y="3547872"/>
            <a:ext cx="512064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Models get retired without notice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Three died during this build. Extraction now fails over automatically.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6400800" y="4379976"/>
            <a:ext cx="5394960" cy="86868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30" name="Rectangle 17429"/>
          <p:cNvSpPr/>
          <p:nvPr/>
        </p:nvSpPr>
        <p:spPr>
          <a:xfrm>
            <a:off x="6400800" y="4379976"/>
            <a:ext cx="50292" cy="86868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1" name="TextBox 17430"/>
          <p:cNvSpPr txBox="1"/>
          <p:nvPr/>
        </p:nvSpPr>
        <p:spPr>
          <a:xfrm>
            <a:off x="6583680" y="4489704"/>
            <a:ext cx="512064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Thin coverage would mislead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Days below 60% basket weight publish as provisional, with the reason.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sz="2800" b="1">
                <a:solidFill>
                  <a:srgbClr val="1F497D"/>
                </a:solidFill>
                <a:latin typeface="Times New Roman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50" b="1"/>
              <a:t>Fare Enough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097280"/>
            <a:ext cx="113385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From a fare on a screen to a figure in the CPI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429768" y="1371600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Rounded Rectangle 17411"/>
          <p:cNvSpPr/>
          <p:nvPr/>
        </p:nvSpPr>
        <p:spPr>
          <a:xfrm>
            <a:off x="411480" y="1554480"/>
            <a:ext cx="1700784" cy="1243584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4F81BD"/>
                </a:solidFill>
                <a:latin typeface="Arial"/>
              </a:rPr>
              <a:t>1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250" b="1">
                <a:solidFill>
                  <a:srgbClr val="1F497D"/>
                </a:solidFill>
                <a:latin typeface="Arial"/>
              </a:rPr>
              <a:t>A fare is published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>
                <a:solidFill>
                  <a:srgbClr val="5A626C"/>
                </a:solidFill>
                <a:latin typeface="Arial"/>
              </a:rPr>
              <a:t>A portal shows a price for one route
on one departure date</a:t>
            </a:r>
          </a:p>
        </p:txBody>
      </p:sp>
      <p:sp>
        <p:nvSpPr>
          <p:cNvPr id="17413" name="Right Arrow 17412"/>
          <p:cNvSpPr/>
          <p:nvPr/>
        </p:nvSpPr>
        <p:spPr>
          <a:xfrm>
            <a:off x="2130552" y="2084831"/>
            <a:ext cx="182879" cy="182880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Rounded Rectangle 17413"/>
          <p:cNvSpPr/>
          <p:nvPr/>
        </p:nvSpPr>
        <p:spPr>
          <a:xfrm>
            <a:off x="2331720" y="1554480"/>
            <a:ext cx="1700784" cy="1243584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4F81BD"/>
                </a:solidFill>
                <a:latin typeface="Arial"/>
              </a:rPr>
              <a:t>2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250" b="1">
                <a:solidFill>
                  <a:srgbClr val="1F497D"/>
                </a:solidFill>
                <a:latin typeface="Arial"/>
              </a:rPr>
              <a:t>We observe it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>
                <a:solidFill>
                  <a:srgbClr val="5A626C"/>
                </a:solidFill>
                <a:latin typeface="Arial"/>
              </a:rPr>
              <a:t>Collected every 10 minutes,
robots-checked, timestamped</a:t>
            </a:r>
          </a:p>
        </p:txBody>
      </p:sp>
      <p:sp>
        <p:nvSpPr>
          <p:cNvPr id="17415" name="Right Arrow 17414"/>
          <p:cNvSpPr/>
          <p:nvPr/>
        </p:nvSpPr>
        <p:spPr>
          <a:xfrm>
            <a:off x="4050791" y="2084831"/>
            <a:ext cx="182879" cy="182880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Rounded Rectangle 17415"/>
          <p:cNvSpPr/>
          <p:nvPr/>
        </p:nvSpPr>
        <p:spPr>
          <a:xfrm>
            <a:off x="4251960" y="1554480"/>
            <a:ext cx="1700784" cy="1243584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4F81BD"/>
                </a:solidFill>
                <a:latin typeface="Arial"/>
              </a:rPr>
              <a:t>3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250" b="1">
                <a:solidFill>
                  <a:srgbClr val="1F497D"/>
                </a:solidFill>
                <a:latin typeface="Arial"/>
              </a:rPr>
              <a:t>It becomes a price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>
                <a:solidFill>
                  <a:srgbClr val="5A626C"/>
                </a:solidFill>
                <a:latin typeface="Arial"/>
              </a:rPr>
              <a:t>Cheapest fare per route × lead time
— what a traveller could transact at</a:t>
            </a:r>
          </a:p>
        </p:txBody>
      </p:sp>
      <p:sp>
        <p:nvSpPr>
          <p:cNvPr id="17417" name="Right Arrow 17416"/>
          <p:cNvSpPr/>
          <p:nvPr/>
        </p:nvSpPr>
        <p:spPr>
          <a:xfrm>
            <a:off x="5971032" y="2084831"/>
            <a:ext cx="182879" cy="182880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Rounded Rectangle 17417"/>
          <p:cNvSpPr/>
          <p:nvPr/>
        </p:nvSpPr>
        <p:spPr>
          <a:xfrm>
            <a:off x="6172200" y="1554480"/>
            <a:ext cx="1700784" cy="1243584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4F81BD"/>
                </a:solidFill>
                <a:latin typeface="Arial"/>
              </a:rPr>
              <a:t>4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250" b="1">
                <a:solidFill>
                  <a:srgbClr val="1F497D"/>
                </a:solidFill>
                <a:latin typeface="Arial"/>
              </a:rPr>
              <a:t>It becomes an index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>
                <a:solidFill>
                  <a:srgbClr val="5A626C"/>
                </a:solidFill>
                <a:latin typeface="Arial"/>
              </a:rPr>
              <a:t>Weighted Jevons across the basket
→ airfare inflation</a:t>
            </a:r>
          </a:p>
        </p:txBody>
      </p:sp>
      <p:sp>
        <p:nvSpPr>
          <p:cNvPr id="17419" name="Right Arrow 17418"/>
          <p:cNvSpPr/>
          <p:nvPr/>
        </p:nvSpPr>
        <p:spPr>
          <a:xfrm>
            <a:off x="7891272" y="2084831"/>
            <a:ext cx="182879" cy="182880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Rounded Rectangle 17419"/>
          <p:cNvSpPr/>
          <p:nvPr/>
        </p:nvSpPr>
        <p:spPr>
          <a:xfrm>
            <a:off x="8092440" y="1554480"/>
            <a:ext cx="1700784" cy="1243584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4F81BD"/>
                </a:solidFill>
                <a:latin typeface="Arial"/>
              </a:rPr>
              <a:t>5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250" b="1">
                <a:solidFill>
                  <a:srgbClr val="1F497D"/>
                </a:solidFill>
                <a:latin typeface="Arial"/>
              </a:rPr>
              <a:t>MoSPI ingests it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>
                <a:solidFill>
                  <a:srgbClr val="5A626C"/>
                </a:solidFill>
                <a:latin typeface="Arial"/>
              </a:rPr>
              <a:t>REST API with method, coverage
and revision history attached</a:t>
            </a:r>
          </a:p>
        </p:txBody>
      </p:sp>
      <p:sp>
        <p:nvSpPr>
          <p:cNvPr id="17421" name="Right Arrow 17420"/>
          <p:cNvSpPr/>
          <p:nvPr/>
        </p:nvSpPr>
        <p:spPr>
          <a:xfrm>
            <a:off x="9811511" y="2084831"/>
            <a:ext cx="182879" cy="182880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Rounded Rectangle 17421"/>
          <p:cNvSpPr/>
          <p:nvPr/>
        </p:nvSpPr>
        <p:spPr>
          <a:xfrm>
            <a:off x="10012680" y="1554480"/>
            <a:ext cx="1700784" cy="1243584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4F81BD"/>
                </a:solidFill>
                <a:latin typeface="Arial"/>
              </a:rPr>
              <a:t>6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250" b="1">
                <a:solidFill>
                  <a:srgbClr val="1F497D"/>
                </a:solidFill>
                <a:latin typeface="Arial"/>
              </a:rPr>
              <a:t>CPI reflects reality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>
                <a:solidFill>
                  <a:srgbClr val="5A626C"/>
                </a:solidFill>
                <a:latin typeface="Arial"/>
              </a:rPr>
              <a:t>Transport sub-index priced from
144 daily observations, not 1 visit</a:t>
            </a:r>
          </a:p>
        </p:txBody>
      </p:sp>
      <p:pic>
        <p:nvPicPr>
          <p:cNvPr id="17423" name="Picture 17422" descr="chart-api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3035808"/>
            <a:ext cx="5669280" cy="2448098"/>
          </a:xfrm>
          <a:prstGeom prst="rect">
            <a:avLst/>
          </a:prstGeom>
        </p:spPr>
      </p:pic>
      <p:sp>
        <p:nvSpPr>
          <p:cNvPr id="17424" name="TextBox 17423"/>
          <p:cNvSpPr txBox="1"/>
          <p:nvPr/>
        </p:nvSpPr>
        <p:spPr>
          <a:xfrm>
            <a:off x="6400800" y="3035808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Who benefits, and how</a:t>
            </a:r>
          </a:p>
        </p:txBody>
      </p:sp>
      <p:sp>
        <p:nvSpPr>
          <p:cNvPr id="17425" name="Rectangle 17424"/>
          <p:cNvSpPr/>
          <p:nvPr/>
        </p:nvSpPr>
        <p:spPr>
          <a:xfrm>
            <a:off x="6419088" y="3310127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6" name="Rounded Rectangle 17425"/>
          <p:cNvSpPr/>
          <p:nvPr/>
        </p:nvSpPr>
        <p:spPr>
          <a:xfrm>
            <a:off x="6400800" y="3438144"/>
            <a:ext cx="1600200" cy="274320"/>
          </a:xfrm>
          <a:prstGeom prst="roundRect">
            <a:avLst>
              <a:gd name="adj" fmla="val 6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MoSPI / NSO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8183879" y="3419856"/>
            <a:ext cx="361188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A defensible transport input, recomputable from stored micro-data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6400800" y="3950208"/>
            <a:ext cx="1600200" cy="274320"/>
          </a:xfrm>
          <a:prstGeom prst="roundRect">
            <a:avLst>
              <a:gd name="adj" fmla="val 6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DGCA and policy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8183879" y="3931920"/>
            <a:ext cx="361188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Route-level fare behaviour nobody currently publishes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6400800" y="4462272"/>
            <a:ext cx="1600200" cy="274320"/>
          </a:xfrm>
          <a:prstGeom prst="roundRect">
            <a:avLst>
              <a:gd name="adj" fmla="val 6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Citizens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8183879" y="4443984"/>
            <a:ext cx="361188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A public record of what air travel actually costs over time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6400800" y="4974336"/>
            <a:ext cx="1600200" cy="274320"/>
          </a:xfrm>
          <a:prstGeom prst="roundRect">
            <a:avLst>
              <a:gd name="adj" fmla="val 6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Researchers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8183879" y="4956048"/>
            <a:ext cx="361188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An open, reproducible price series for a market that has none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6400800" y="5541264"/>
            <a:ext cx="5394960" cy="731520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F497D"/>
                </a:solidFill>
                <a:latin typeface="Arial"/>
              </a:rPr>
              <a:t>OUR PROMISE</a:t>
            </a:r>
          </a:p>
          <a:p>
            <a:pPr>
              <a:lnSpc>
                <a:spcPct val="95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262B33"/>
                </a:solidFill>
                <a:latin typeface="Arial"/>
              </a:rPr>
              <a:t>Replace one manual price visit a month with 144 automated observations a day — at zero marginal cost.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sz="2800" b="1">
                <a:solidFill>
                  <a:srgbClr val="1F497D"/>
                </a:solidFill>
                <a:latin typeface="Times New Roman"/>
              </a:rPr>
              <a:t>RESEARCH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50" b="1"/>
              <a:t>Fare Enough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411480" y="1133856"/>
            <a:ext cx="3703320" cy="1664208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F497D"/>
                </a:solidFill>
                <a:latin typeface="Arial"/>
              </a:rPr>
              <a:t>Method — why Jevons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Eurostat, Practical guidelines on web scraping for the HICP (2020). Names air fares explicitly as a scraped category. HICP is a chain-linked Laspeyres index built on Jevons elementary aggregates.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411480" y="1133856"/>
            <a:ext cx="3703320" cy="4572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Rounded Rectangle 17411"/>
          <p:cNvSpPr/>
          <p:nvPr/>
        </p:nvSpPr>
        <p:spPr>
          <a:xfrm>
            <a:off x="4370832" y="1133856"/>
            <a:ext cx="3703320" cy="1664208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F497D"/>
                </a:solidFill>
                <a:latin typeface="Arial"/>
              </a:rPr>
              <a:t>Precedent — it is already done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ONS ran a web-scraping programme for consumer prices from 2014, Eurostat-funded from 2015. Knížat (2023), Web scraped data in consumer price indices, on aggregating daily scraped prices to monthly.</a:t>
            </a:r>
          </a:p>
        </p:txBody>
      </p:sp>
      <p:sp>
        <p:nvSpPr>
          <p:cNvPr id="17413" name="Rectangle 17412"/>
          <p:cNvSpPr/>
          <p:nvPr/>
        </p:nvSpPr>
        <p:spPr>
          <a:xfrm>
            <a:off x="4370832" y="1133856"/>
            <a:ext cx="3703320" cy="4572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Rounded Rectangle 17413"/>
          <p:cNvSpPr/>
          <p:nvPr/>
        </p:nvSpPr>
        <p:spPr>
          <a:xfrm>
            <a:off x="8330183" y="1133856"/>
            <a:ext cx="3703320" cy="1664208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F497D"/>
                </a:solidFill>
                <a:latin typeface="Arial"/>
              </a:rPr>
              <a:t>The Indian basket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DGCA monthly city-pair statistics: 164 million domestic passengers, IndiGo 64.2% share. Our own 1,000-fare sample returned 68.2% IndiGo — arrived at independently.</a:t>
            </a:r>
          </a:p>
        </p:txBody>
      </p:sp>
      <p:sp>
        <p:nvSpPr>
          <p:cNvPr id="17415" name="Rectangle 17414"/>
          <p:cNvSpPr/>
          <p:nvPr/>
        </p:nvSpPr>
        <p:spPr>
          <a:xfrm>
            <a:off x="8330183" y="1133856"/>
            <a:ext cx="3703320" cy="4572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Rounded Rectangle 17415"/>
          <p:cNvSpPr/>
          <p:nvPr/>
        </p:nvSpPr>
        <p:spPr>
          <a:xfrm>
            <a:off x="411480" y="2980944"/>
            <a:ext cx="3703320" cy="1664208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F497D"/>
                </a:solidFill>
                <a:latin typeface="Arial"/>
              </a:rPr>
              <a:t>Standards we hold ourselves to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RFC 9309, the Robots Exclusion Protocol. We implemented it ourselves after finding Python's standard parser reports disallowed paths as allowed.</a:t>
            </a:r>
          </a:p>
        </p:txBody>
      </p:sp>
      <p:sp>
        <p:nvSpPr>
          <p:cNvPr id="17417" name="Rectangle 17416"/>
          <p:cNvSpPr/>
          <p:nvPr/>
        </p:nvSpPr>
        <p:spPr>
          <a:xfrm>
            <a:off x="411480" y="2980944"/>
            <a:ext cx="3703320" cy="4572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Rounded Rectangle 17417"/>
          <p:cNvSpPr/>
          <p:nvPr/>
        </p:nvSpPr>
        <p:spPr>
          <a:xfrm>
            <a:off x="4370832" y="2980944"/>
            <a:ext cx="3703320" cy="1664208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F497D"/>
                </a:solidFill>
                <a:latin typeface="Arial"/>
              </a:rPr>
              <a:t>Our own field research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16 Indian portals surveyed: one usable. 56 free-tier models tested: six answered, three reached end-of-life mid-build. Prompt chunking took a small model from 1 of 40 fares to 38.</a:t>
            </a:r>
          </a:p>
        </p:txBody>
      </p:sp>
      <p:sp>
        <p:nvSpPr>
          <p:cNvPr id="17419" name="Rectangle 17418"/>
          <p:cNvSpPr/>
          <p:nvPr/>
        </p:nvSpPr>
        <p:spPr>
          <a:xfrm>
            <a:off x="4370832" y="2980944"/>
            <a:ext cx="3703320" cy="4572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Rounded Rectangle 17419"/>
          <p:cNvSpPr/>
          <p:nvPr/>
        </p:nvSpPr>
        <p:spPr>
          <a:xfrm>
            <a:off x="8330183" y="2980944"/>
            <a:ext cx="3703320" cy="1664208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F497D"/>
                </a:solidFill>
                <a:latin typeface="Arial"/>
              </a:rPr>
              <a:t>Live for inspection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Portal: apix-portal.pages.dev  ·  API: apix-api-n5ux.onrender.com/docs  ·  Code and full method: github.com/BradCage-afk/sih-2026-airfare-index</a:t>
            </a:r>
          </a:p>
        </p:txBody>
      </p:sp>
      <p:sp>
        <p:nvSpPr>
          <p:cNvPr id="17421" name="Rectangle 17420"/>
          <p:cNvSpPr/>
          <p:nvPr/>
        </p:nvSpPr>
        <p:spPr>
          <a:xfrm>
            <a:off x="8330183" y="2980944"/>
            <a:ext cx="3703320" cy="4572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22" name="Picture 17421" descr="chart-surve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828032"/>
            <a:ext cx="4114800" cy="1364146"/>
          </a:xfrm>
          <a:prstGeom prst="rect">
            <a:avLst/>
          </a:prstGeom>
        </p:spPr>
      </p:pic>
      <p:sp>
        <p:nvSpPr>
          <p:cNvPr id="17423" name="TextBox 17422"/>
          <p:cNvSpPr txBox="1"/>
          <p:nvPr/>
        </p:nvSpPr>
        <p:spPr>
          <a:xfrm>
            <a:off x="4800600" y="4882896"/>
            <a:ext cx="6949440" cy="12801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F497D"/>
                </a:solidFill>
                <a:latin typeface="Arial"/>
              </a:rPr>
              <a:t>Everything above is reproducible.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262B33"/>
                </a:solidFill>
                <a:latin typeface="Arial"/>
              </a:rPr>
              <a:t>The index, the charts in this deck and the figures on the portal are all regenerated from the database by scripts in the repository — nothing here is transcribed by hand, so no number in this presentation can drift from what the system actually holds.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