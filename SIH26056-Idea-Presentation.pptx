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600" b="1">
                <a:solidFill>
                  <a:srgbClr val="1F497D"/>
                </a:solidFill>
                <a:latin typeface="Times New Roman"/>
              </a:rPr>
              <a:t>A DAILY AIRFARE PRICE INDEX FOR INDIA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11480" y="1115568"/>
            <a:ext cx="5669280" cy="7498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THE PROBLEM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CPI prices air travel from occasional manual quotes — but an airfare is not one price. It depends on when you book.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2066543"/>
            <a:ext cx="566928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262B33"/>
                </a:solidFill>
                <a:latin typeface="Arial"/>
              </a:rPr>
              <a:t>The 15 busiest domestic city pairs, re-priced every 10 minutes and published as a price index.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29768" y="2340864"/>
            <a:ext cx="1371600" cy="27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5" name="Picture 15364" descr="chart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63240"/>
            <a:ext cx="5257800" cy="3169596"/>
          </a:xfrm>
          <a:prstGeom prst="rect">
            <a:avLst/>
          </a:prstGeom>
        </p:spPr>
      </p:pic>
      <p:pic>
        <p:nvPicPr>
          <p:cNvPr id="15366" name="Picture 15365" descr="chart-cur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133856"/>
            <a:ext cx="5394960" cy="2624057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6400800" y="4224528"/>
            <a:ext cx="53949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Real fares from our own scraper.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5A626C"/>
                </a:solidFill>
                <a:latin typeface="Arial"/>
              </a:rPr>
              <a:t>Booking a month ahead saves 40% on BLR–HYD and nothing on DEL–BOM. Nobody publishes that spread — so it has to be measured.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400800" y="51023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Innovation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6419088" y="537667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6400800" y="5486400"/>
            <a:ext cx="539496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Fares found by shape, not by CSS selectors.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The model is config; it fails over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Robots gate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RFC 9309 check
before any fetch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Fetch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Headless browser
renders the page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Trim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13,000 chars
down to 3,700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Store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INSERT with the
model that read it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15,000+ live fares in Postgres · 132 scheduled runs, 98% clean · a public dashboard reading the database on every load.</a:t>
            </a:r>
          </a:p>
        </p:txBody>
      </p:sp>
      <p:pic>
        <p:nvPicPr>
          <p:cNvPr id="17424" name="Picture 17423" descr="chart-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87952"/>
            <a:ext cx="4069080" cy="2044781"/>
          </a:xfrm>
          <a:prstGeom prst="rect">
            <a:avLst/>
          </a:prstGeom>
        </p:spPr>
      </p:pic>
      <p:pic>
        <p:nvPicPr>
          <p:cNvPr id="17425" name="Picture 17424" descr="chart-ca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224528"/>
            <a:ext cx="4206240" cy="175847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372600" y="4224528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Stack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939088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9372600" y="4590288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Python · Playwright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OpenAI-compatible LLM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Pydantic validation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Supabase Postgres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cron · HTML + SVG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Feasibility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5448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working prototype, collecting right now.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₹0 a month: free tiers end to end.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~2 minutes of compute per 10-minute cycle.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new route is one line; a new portal, one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6118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periodic → every 10 minutes  ·  one quoted price → 5 lead times  ·  field notes → URL, timestamp and model stored per fare</a:t>
            </a:r>
          </a:p>
        </p:txBody>
      </p:sp>
      <p:pic>
        <p:nvPicPr>
          <p:cNvPr id="17414" name="Picture 17413" descr="chart-carri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45152"/>
            <a:ext cx="5486400" cy="1498488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Airline sites block automation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Basket is OTA-first; an official feed closes the gap.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Three died during this build. Extraction now fails over.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Strict schema; components stay NULL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chart-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88720"/>
            <a:ext cx="5760720" cy="257327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4224528"/>
            <a:ext cx="5760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it serves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617720"/>
            <a:ext cx="576072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/ NSO — a defensible CPI transport input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and policy — evidence on fare behaviour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Citizens — when to book, and what is normal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5577840"/>
            <a:ext cx="5760720" cy="65836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NEXT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More city pairs, a second permitted portal, and rail and bus on the same pipeline.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changes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daily series, not occasional manual quotes.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The booking-window dimension CPI cannot see.</a:t>
            </a:r>
          </a:p>
          <a:p>
            <a:pPr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Every point traceable to source, time and model.</a:t>
            </a:r>
          </a:p>
        </p:txBody>
      </p:sp>
      <p:pic>
        <p:nvPicPr>
          <p:cNvPr id="17418" name="Picture 17417" descr="dash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93008"/>
            <a:ext cx="4800600" cy="246606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6400800" y="5961888"/>
            <a:ext cx="539496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497D"/>
                </a:solidFill>
                <a:latin typeface="Arial"/>
              </a:rPr>
              <a:t>Live at real-time-airfare.vercel.app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27048"/>
            <a:ext cx="5577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CPI Manual: Concepts and Methods (IMF / ILO, 2020)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— CPI (Base 2012=100), Transport sub-index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Eurostat — web-scraped data in HICP compilation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ONS (UK) — web-scraped data in consumer prices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52044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Standards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3913632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RFC 9309 — Robots Exclusion Protocol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Each portal's robots.txt, re-checked at run time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monthly domestic traffic — basket selection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Our own field research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527048"/>
            <a:ext cx="539496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Portal survey: one OTA permits and serves us; two disallow or block outright.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Python's standard robots parser wrongly permits paths these sites disallow — we implemented RFC 9309.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Of 56 free-tier models, six answered; three reached end-of-life during the build, one mid-run.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Splitting the prompt into 800-character chunks took a small model from 1 of 40 fares to 38.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