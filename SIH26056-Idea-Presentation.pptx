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pib.gov.in/PressReleasePage.aspx?PRID=2227012&amp;reg=3&amp;lang=1"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apix-portal.pages.dev" TargetMode="External"/><Relationship Id="rId13" Type="http://schemas.openxmlformats.org/officeDocument/2006/relationships/hyperlink" Target="https://github.com/BradCage-afk/sih-2026-airfare-index#readme"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2075688"/>
            <a:ext cx="5925312" cy="4700016"/>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2000" b="1">
                <a:solidFill>
                  <a:srgbClr val="262B33"/>
                </a:solidFill>
                <a:latin typeface="Arial"/>
              </a:rPr>
              <a:t>Problem Statement ID - SIH26056</a:t>
            </a:r>
            <a:endParaRPr lang="en-US" dirty="0"/>
          </a:p>
          <a:p>
            <a:pPr algn="just">
              <a:lnSpc>
                <a:spcPct val="106000"/>
              </a:lnSpc>
              <a:spcBef>
                <a:spcPts val="800"/>
              </a:spcBef>
              <a:spcAft>
                <a:spcPts val="0"/>
              </a:spcAft>
            </a:pPr>
            <a:r>
              <a:rPr sz="20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800"/>
              </a:spcBef>
              <a:spcAft>
                <a:spcPts val="0"/>
              </a:spcAft>
            </a:pPr>
            <a:r>
              <a:rPr sz="2000" b="1">
                <a:solidFill>
                  <a:srgbClr val="262B33"/>
                </a:solidFill>
                <a:latin typeface="Arial"/>
              </a:rPr>
              <a:t>Theme - Travel &amp; Tourism</a:t>
            </a:r>
          </a:p>
          <a:p>
            <a:pPr algn="just">
              <a:lnSpc>
                <a:spcPct val="106000"/>
              </a:lnSpc>
              <a:spcBef>
                <a:spcPts val="800"/>
              </a:spcBef>
              <a:spcAft>
                <a:spcPts val="0"/>
              </a:spcAft>
            </a:pPr>
            <a:r>
              <a:rPr sz="2000" b="1">
                <a:solidFill>
                  <a:srgbClr val="262B33"/>
                </a:solidFill>
                <a:latin typeface="Arial"/>
              </a:rPr>
              <a:t>PS Category - Software</a:t>
            </a:r>
          </a:p>
          <a:p>
            <a:pPr algn="just">
              <a:lnSpc>
                <a:spcPct val="106000"/>
              </a:lnSpc>
              <a:spcBef>
                <a:spcPts val="800"/>
              </a:spcBef>
              <a:spcAft>
                <a:spcPts val="0"/>
              </a:spcAft>
            </a:pPr>
            <a:r>
              <a:rPr sz="2000" b="1">
                <a:solidFill>
                  <a:srgbClr val="262B33"/>
                </a:solidFill>
                <a:latin typeface="Arial"/>
              </a:rPr>
              <a:t>Team ID - ‹TEAM ID›</a:t>
            </a:r>
          </a:p>
          <a:p>
            <a:pPr algn="just">
              <a:lnSpc>
                <a:spcPct val="106000"/>
              </a:lnSpc>
              <a:spcBef>
                <a:spcPts val="800"/>
              </a:spcBef>
              <a:spcAft>
                <a:spcPts val="0"/>
              </a:spcAft>
            </a:pPr>
            <a:r>
              <a:rPr sz="20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3600" b="1">
                <a:solidFill>
                  <a:srgbClr val="1F497D"/>
                </a:solidFill>
                <a:latin typeface="Times New Roman"/>
              </a:rPr>
              <a:t>APIx — AIRFARE PRICE INDEX</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14400"/>
            <a:ext cx="7726679" cy="914400"/>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PROPOSED SOLUTION</a:t>
            </a:r>
          </a:p>
          <a:p>
            <a:pPr>
              <a:lnSpc>
                <a:spcPct val="95000"/>
              </a:lnSpc>
              <a:spcBef>
                <a:spcPts val="200"/>
              </a:spcBef>
              <a:spcAft>
                <a:spcPts val="0"/>
              </a:spcAft>
            </a:pPr>
            <a:r>
              <a:rPr sz="1450" b="1">
                <a:solidFill>
                  <a:srgbClr val="1F497D"/>
                </a:solidFill>
                <a:latin typeface="Arial"/>
              </a:rPr>
              <a:t>A daily airfare inflation index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pages every ten minutes and delivers one weighted index number through an API.</a:t>
            </a:r>
          </a:p>
        </p:txBody>
      </p:sp>
      <p:sp>
        <p:nvSpPr>
          <p:cNvPr id="15363" name="Rounded Rectangle 15362"/>
          <p:cNvSpPr/>
          <p:nvPr/>
        </p:nvSpPr>
        <p:spPr>
          <a:xfrm>
            <a:off x="8275320" y="932688"/>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53,000+ fares collected · 15 city pairs × 5 lead times · every 10 minutes · ₹0 a month to run</a:t>
            </a:r>
          </a:p>
        </p:txBody>
      </p:sp>
      <p:sp>
        <p:nvSpPr>
          <p:cNvPr id="15364" name="Rounded Rectangle 15363"/>
          <p:cNvSpPr/>
          <p:nvPr/>
        </p:nvSpPr>
        <p:spPr>
          <a:xfrm>
            <a:off x="411480" y="1975104"/>
            <a:ext cx="6355080" cy="179222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2039112"/>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33172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33172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63347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63347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63347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91693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9169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9169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200400"/>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20040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20040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483863"/>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483863"/>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483863"/>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75104"/>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2020824"/>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249424"/>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96312"/>
            <a:ext cx="4572000" cy="310896"/>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926080"/>
            <a:ext cx="4846320" cy="8412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971800"/>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200400"/>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200400"/>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342132"/>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342132"/>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48386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48386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route seat share × lead-time share</a:t>
            </a:r>
          </a:p>
        </p:txBody>
      </p:sp>
      <p:sp>
        <p:nvSpPr>
          <p:cNvPr id="15392" name="TextBox 15391"/>
          <p:cNvSpPr txBox="1"/>
          <p:nvPr/>
        </p:nvSpPr>
        <p:spPr>
          <a:xfrm>
            <a:off x="7040880" y="36255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6255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first observation day = 100</a:t>
            </a:r>
          </a:p>
        </p:txBody>
      </p:sp>
      <p:sp>
        <p:nvSpPr>
          <p:cNvPr id="15394" name="TextBox 15393"/>
          <p:cNvSpPr txBox="1"/>
          <p:nvPr/>
        </p:nvSpPr>
        <p:spPr>
          <a:xfrm>
            <a:off x="411480" y="3968496"/>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24281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315968"/>
            <a:ext cx="2656332"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F81BD"/>
                </a:solidFill>
                <a:latin typeface="Arial"/>
              </a:rPr>
              <a:t>The standard method</a:t>
            </a:r>
          </a:p>
          <a:p>
            <a:pPr>
              <a:lnSpc>
                <a:spcPct val="95000"/>
              </a:lnSpc>
              <a:spcBef>
                <a:spcPts val="500"/>
              </a:spcBef>
              <a:spcAft>
                <a:spcPts val="0"/>
              </a:spcAft>
            </a:pPr>
            <a:r>
              <a:rPr sz="1050" b="0">
                <a:solidFill>
                  <a:srgbClr val="262B33"/>
                </a:solidFill>
                <a:latin typeface="Arial"/>
              </a:rPr>
              <a:t>Weighted Jevons on minimum logical fares — the elementary-aggregate method Eurostat and the ONS use for their own price indices.</a:t>
            </a:r>
          </a:p>
        </p:txBody>
      </p:sp>
      <p:sp>
        <p:nvSpPr>
          <p:cNvPr id="15397" name="Rectangle 15396"/>
          <p:cNvSpPr/>
          <p:nvPr/>
        </p:nvSpPr>
        <p:spPr>
          <a:xfrm>
            <a:off x="411480" y="4315968"/>
            <a:ext cx="265633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3305556" y="4315968"/>
            <a:ext cx="2656332"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1B8A5A"/>
                </a:solidFill>
                <a:latin typeface="Arial"/>
              </a:rPr>
              <a:t>Weighting is a matrix</a:t>
            </a:r>
          </a:p>
          <a:p>
            <a:pPr>
              <a:lnSpc>
                <a:spcPct val="95000"/>
              </a:lnSpc>
              <a:spcBef>
                <a:spcPts val="500"/>
              </a:spcBef>
              <a:spcAft>
                <a:spcPts val="0"/>
              </a:spcAft>
            </a:pPr>
            <a:r>
              <a:rPr sz="105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3305556" y="4315968"/>
            <a:ext cx="265633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6199632" y="4315968"/>
            <a:ext cx="2656332"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C77700"/>
                </a:solidFill>
                <a:latin typeface="Arial"/>
              </a:rPr>
              <a:t>Admits thin coverage</a:t>
            </a:r>
          </a:p>
          <a:p>
            <a:pPr>
              <a:lnSpc>
                <a:spcPct val="95000"/>
              </a:lnSpc>
              <a:spcBef>
                <a:spcPts val="500"/>
              </a:spcBef>
              <a:spcAft>
                <a:spcPts val="0"/>
              </a:spcAft>
            </a:pPr>
            <a:r>
              <a:rPr sz="1050" b="0">
                <a:solidFill>
                  <a:srgbClr val="262B33"/>
                </a:solidFill>
                <a:latin typeface="Arial"/>
              </a:rPr>
              <a:t>Below 60% basket coverage the figure ships marked provisional, with the reason. An index that admits thin coverage beats one that never does.</a:t>
            </a:r>
          </a:p>
        </p:txBody>
      </p:sp>
      <p:sp>
        <p:nvSpPr>
          <p:cNvPr id="15401" name="Rectangle 15400"/>
          <p:cNvSpPr/>
          <p:nvPr/>
        </p:nvSpPr>
        <p:spPr>
          <a:xfrm>
            <a:off x="6199632" y="4315968"/>
            <a:ext cx="265633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9093708" y="4315968"/>
            <a:ext cx="2656332"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B3F8C"/>
                </a:solidFill>
                <a:latin typeface="Arial"/>
              </a:rPr>
              <a:t>Machine-readable</a:t>
            </a:r>
          </a:p>
          <a:p>
            <a:pPr>
              <a:lnSpc>
                <a:spcPct val="95000"/>
              </a:lnSpc>
              <a:spcBef>
                <a:spcPts val="500"/>
              </a:spcBef>
              <a:spcAft>
                <a:spcPts val="0"/>
              </a:spcAft>
            </a:pPr>
            <a:r>
              <a:rPr sz="105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9093708" y="4315968"/>
            <a:ext cx="265633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we keep from one results row — and what we drop</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11338560" cy="2340864"/>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11338560" cy="310896"/>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40080" y="3200400"/>
            <a:ext cx="352044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ON THE PAGE</a:t>
            </a:r>
          </a:p>
        </p:txBody>
      </p:sp>
      <p:sp>
        <p:nvSpPr>
          <p:cNvPr id="17434" name="TextBox 17433"/>
          <p:cNvSpPr txBox="1"/>
          <p:nvPr/>
        </p:nvSpPr>
        <p:spPr>
          <a:xfrm>
            <a:off x="4343400" y="3200400"/>
            <a:ext cx="370332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WHAT WE STORE</a:t>
            </a:r>
          </a:p>
        </p:txBody>
      </p:sp>
      <p:sp>
        <p:nvSpPr>
          <p:cNvPr id="17435" name="TextBox 17434"/>
          <p:cNvSpPr txBox="1"/>
          <p:nvPr/>
        </p:nvSpPr>
        <p:spPr>
          <a:xfrm>
            <a:off x="8183879" y="3200400"/>
            <a:ext cx="338328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THE RULE</a:t>
            </a:r>
          </a:p>
        </p:txBody>
      </p:sp>
      <p:sp>
        <p:nvSpPr>
          <p:cNvPr id="17436" name="Rectangle 17435"/>
          <p:cNvSpPr/>
          <p:nvPr/>
        </p:nvSpPr>
        <p:spPr>
          <a:xfrm>
            <a:off x="411480" y="3493008"/>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640080" y="3529584"/>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IndiGo · 6E-955 · 20:20 → 22:20</a:t>
            </a:r>
          </a:p>
        </p:txBody>
      </p:sp>
      <p:sp>
        <p:nvSpPr>
          <p:cNvPr id="17438" name="TextBox 17437"/>
          <p:cNvSpPr txBox="1"/>
          <p:nvPr/>
        </p:nvSpPr>
        <p:spPr>
          <a:xfrm>
            <a:off x="4343400" y="3529584"/>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262B33"/>
                </a:solidFill>
                <a:latin typeface="Arial"/>
              </a:rPr>
              <a:t>carrier, flight_number, times</a:t>
            </a:r>
          </a:p>
        </p:txBody>
      </p:sp>
      <p:sp>
        <p:nvSpPr>
          <p:cNvPr id="17439" name="TextBox 17438"/>
          <p:cNvSpPr txBox="1"/>
          <p:nvPr/>
        </p:nvSpPr>
        <p:spPr>
          <a:xfrm>
            <a:off x="8183879" y="3529584"/>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flight's identity</a:t>
            </a:r>
          </a:p>
        </p:txBody>
      </p:sp>
      <p:sp>
        <p:nvSpPr>
          <p:cNvPr id="17440" name="TextBox 17439"/>
          <p:cNvSpPr txBox="1"/>
          <p:nvPr/>
        </p:nvSpPr>
        <p:spPr>
          <a:xfrm>
            <a:off x="640080" y="3913632"/>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₹6,529</a:t>
            </a:r>
          </a:p>
        </p:txBody>
      </p:sp>
      <p:sp>
        <p:nvSpPr>
          <p:cNvPr id="17441" name="TextBox 17440"/>
          <p:cNvSpPr txBox="1"/>
          <p:nvPr/>
        </p:nvSpPr>
        <p:spPr>
          <a:xfrm>
            <a:off x="4343400" y="3913632"/>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1B8A5A"/>
                </a:solidFill>
                <a:latin typeface="Arial"/>
              </a:rPr>
              <a:t>total_fare = 6529</a:t>
            </a:r>
          </a:p>
        </p:txBody>
      </p:sp>
      <p:sp>
        <p:nvSpPr>
          <p:cNvPr id="17442" name="TextBox 17441"/>
          <p:cNvSpPr txBox="1"/>
          <p:nvPr/>
        </p:nvSpPr>
        <p:spPr>
          <a:xfrm>
            <a:off x="8183879" y="3913632"/>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price a traveller actually pays</a:t>
            </a:r>
          </a:p>
        </p:txBody>
      </p:sp>
      <p:sp>
        <p:nvSpPr>
          <p:cNvPr id="17443" name="Rectangle 17442"/>
          <p:cNvSpPr/>
          <p:nvPr/>
        </p:nvSpPr>
        <p:spPr>
          <a:xfrm>
            <a:off x="411480" y="4261104"/>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640080" y="4297680"/>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₹480 off with CTFKSBIC</a:t>
            </a:r>
          </a:p>
        </p:txBody>
      </p:sp>
      <p:sp>
        <p:nvSpPr>
          <p:cNvPr id="17445" name="TextBox 17444"/>
          <p:cNvSpPr txBox="1"/>
          <p:nvPr/>
        </p:nvSpPr>
        <p:spPr>
          <a:xfrm>
            <a:off x="4343400" y="4297680"/>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0504D"/>
                </a:solidFill>
                <a:latin typeface="Arial"/>
              </a:rPr>
              <a:t>dropped</a:t>
            </a:r>
          </a:p>
        </p:txBody>
      </p:sp>
      <p:sp>
        <p:nvSpPr>
          <p:cNvPr id="17446" name="TextBox 17445"/>
          <p:cNvSpPr txBox="1"/>
          <p:nvPr/>
        </p:nvSpPr>
        <p:spPr>
          <a:xfrm>
            <a:off x="8183879" y="4297680"/>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a coupon is not a published fare</a:t>
            </a:r>
          </a:p>
        </p:txBody>
      </p:sp>
      <p:sp>
        <p:nvSpPr>
          <p:cNvPr id="17447" name="TextBox 17446"/>
          <p:cNvSpPr txBox="1"/>
          <p:nvPr/>
        </p:nvSpPr>
        <p:spPr>
          <a:xfrm>
            <a:off x="640080" y="4681728"/>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no tax or fee breakdown</a:t>
            </a:r>
          </a:p>
        </p:txBody>
      </p:sp>
      <p:sp>
        <p:nvSpPr>
          <p:cNvPr id="17448" name="TextBox 17447"/>
          <p:cNvSpPr txBox="1"/>
          <p:nvPr/>
        </p:nvSpPr>
        <p:spPr>
          <a:xfrm>
            <a:off x="4343400" y="4681728"/>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77700"/>
                </a:solidFill>
                <a:latin typeface="Arial"/>
              </a:rPr>
              <a:t>stored NULL, never derived</a:t>
            </a:r>
          </a:p>
        </p:txBody>
      </p:sp>
      <p:sp>
        <p:nvSpPr>
          <p:cNvPr id="17449" name="TextBox 17448"/>
          <p:cNvSpPr txBox="1"/>
          <p:nvPr/>
        </p:nvSpPr>
        <p:spPr>
          <a:xfrm>
            <a:off x="8183879" y="4681728"/>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a CPI prices the total a household pays</a:t>
            </a:r>
          </a:p>
        </p:txBody>
      </p:sp>
      <p:sp>
        <p:nvSpPr>
          <p:cNvPr id="17450" name="Rectangle 17449"/>
          <p:cNvSpPr/>
          <p:nvPr/>
        </p:nvSpPr>
        <p:spPr>
          <a:xfrm>
            <a:off x="411480" y="5029200"/>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40080" y="5065776"/>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 nothing on the page —</a:t>
            </a:r>
          </a:p>
        </p:txBody>
      </p:sp>
      <p:sp>
        <p:nvSpPr>
          <p:cNvPr id="17452" name="TextBox 17451"/>
          <p:cNvSpPr txBox="1"/>
          <p:nvPr/>
        </p:nvSpPr>
        <p:spPr>
          <a:xfrm>
            <a:off x="4343400" y="5065776"/>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4B3F8C"/>
                </a:solidFill>
                <a:latin typeface="Arial"/>
              </a:rPr>
              <a:t>source · scraped_at · model_used</a:t>
            </a:r>
          </a:p>
        </p:txBody>
      </p:sp>
      <p:sp>
        <p:nvSpPr>
          <p:cNvPr id="17453" name="TextBox 17452"/>
          <p:cNvSpPr txBox="1"/>
          <p:nvPr/>
        </p:nvSpPr>
        <p:spPr>
          <a:xfrm>
            <a:off x="8183879" y="5065776"/>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so any index figure traces back</a:t>
            </a:r>
          </a:p>
        </p:txBody>
      </p:sp>
      <p:sp>
        <p:nvSpPr>
          <p:cNvPr id="17454" name="Rounded Rectangle 17453"/>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LLM extraction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49824"/>
            <a:ext cx="5394960" cy="87782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0468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0468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6013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6013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15583"/>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15583"/>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71031"/>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71031"/>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26479"/>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26479"/>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5486400" cy="219456"/>
          </a:xfrm>
          <a:prstGeom prst="rect">
            <a:avLst/>
          </a:prstGeom>
          <a:noFill/>
        </p:spPr>
        <p:txBody>
          <a:bodyPr wrap="square" lIns="36576" rIns="36576" tIns="18288" bIns="18288">
            <a:spAutoFit/>
          </a:bodyPr>
          <a:lstStyle/>
          <a:p>
            <a:pPr>
              <a:lnSpc>
                <a:spcPct val="95000"/>
              </a:lnSpc>
              <a:spcBef>
                <a:spcPts val="0"/>
              </a:spcBef>
              <a:spcAft>
                <a:spcPts val="0"/>
              </a:spcAft>
            </a:pPr>
            <a:r>
              <a:rPr sz="950" b="1">
                <a:solidFill>
                  <a:srgbClr val="5A626C"/>
                </a:solidFill>
                <a:latin typeface="Arial"/>
              </a:rPr>
              <a:t>EVERY CARD IS CLICKABLE — THE UNDERLINED LINK OPENS THE SOURCE</a:t>
            </a:r>
          </a:p>
        </p:txBody>
      </p:sp>
      <p:sp>
        <p:nvSpPr>
          <p:cNvPr id="17411" name="Rounded Rectangle 17410">
            <a:hlinkClick r:id="rId4"/>
          </p:cNvPr>
          <p:cNvSpPr/>
          <p:nvPr/>
        </p:nvSpPr>
        <p:spPr>
          <a:xfrm>
            <a:off x="411480" y="1335024"/>
            <a:ext cx="3703320"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2" name="Rectangle 17411"/>
          <p:cNvSpPr/>
          <p:nvPr/>
        </p:nvSpPr>
        <p:spPr>
          <a:xfrm>
            <a:off x="411480" y="1335024"/>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57784"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Method — why Jevons</a:t>
            </a:r>
          </a:p>
          <a:p>
            <a:pPr>
              <a:lnSpc>
                <a:spcPct val="95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p:txBody>
      </p:sp>
      <p:sp>
        <p:nvSpPr>
          <p:cNvPr id="17414" name="TextBox 17413"/>
          <p:cNvSpPr txBox="1"/>
          <p:nvPr/>
        </p:nvSpPr>
        <p:spPr>
          <a:xfrm>
            <a:off x="1956816" y="2706624"/>
            <a:ext cx="2011680" cy="219456"/>
          </a:xfrm>
          <a:prstGeom prst="rect">
            <a:avLst/>
          </a:prstGeom>
          <a:noFill/>
        </p:spPr>
        <p:txBody>
          <a:bodyPr wrap="none" lIns="0" rIns="0" tIns="0" bIns="0">
            <a:spAutoFit/>
          </a:bodyPr>
          <a:lstStyle/>
          <a:p>
            <a:pPr algn="r"/>
            <a:r>
              <a:rPr sz="1050" b="1" u="sng">
                <a:solidFill>
                  <a:srgbClr val="4F81BD"/>
                </a:solidFill>
                <a:latin typeface="Arial"/>
                <a:hlinkClick r:id="rId4"/>
              </a:rPr>
              <a:t>Eurostat guidance</a:t>
            </a:r>
          </a:p>
        </p:txBody>
      </p:sp>
      <p:sp>
        <p:nvSpPr>
          <p:cNvPr id="17415" name="Rounded Rectangle 17414">
            <a:hlinkClick r:id="rId5"/>
          </p:cNvPr>
          <p:cNvSpPr/>
          <p:nvPr/>
        </p:nvSpPr>
        <p:spPr>
          <a:xfrm>
            <a:off x="4370832" y="1335024"/>
            <a:ext cx="3703320"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6" name="Rectangle 17415"/>
          <p:cNvSpPr/>
          <p:nvPr/>
        </p:nvSpPr>
        <p:spPr>
          <a:xfrm>
            <a:off x="4370832" y="1335024"/>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517136"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Precedent — already done</a:t>
            </a:r>
          </a:p>
          <a:p>
            <a:pPr>
              <a:lnSpc>
                <a:spcPct val="95000"/>
              </a:lnSpc>
              <a:spcBef>
                <a:spcPts val="400"/>
              </a:spcBef>
              <a:spcAft>
                <a:spcPts val="0"/>
              </a:spcAft>
            </a:pPr>
            <a:r>
              <a:rPr sz="1150" b="0">
                <a:solidFill>
                  <a:srgbClr val="262B33"/>
                </a:solidFill>
                <a:latin typeface="Arial"/>
              </a:rPr>
              <a:t>ONS ran a web-scraping programme for consumer prices from 2014, Eurostat-funded from 2015.</a:t>
            </a:r>
          </a:p>
        </p:txBody>
      </p:sp>
      <p:sp>
        <p:nvSpPr>
          <p:cNvPr id="17418" name="TextBox 17417"/>
          <p:cNvSpPr txBox="1"/>
          <p:nvPr/>
        </p:nvSpPr>
        <p:spPr>
          <a:xfrm>
            <a:off x="5916168" y="2706624"/>
            <a:ext cx="2011680" cy="219456"/>
          </a:xfrm>
          <a:prstGeom prst="rect">
            <a:avLst/>
          </a:prstGeom>
          <a:noFill/>
        </p:spPr>
        <p:txBody>
          <a:bodyPr wrap="none" lIns="0" rIns="0" tIns="0" bIns="0">
            <a:spAutoFit/>
          </a:bodyPr>
          <a:lstStyle/>
          <a:p>
            <a:pPr algn="r"/>
            <a:r>
              <a:rPr sz="1050" b="1" u="sng">
                <a:solidFill>
                  <a:srgbClr val="1B8A5A"/>
                </a:solidFill>
                <a:latin typeface="Arial"/>
                <a:hlinkClick r:id="rId5"/>
              </a:rPr>
              <a:t>ONS study</a:t>
            </a:r>
          </a:p>
        </p:txBody>
      </p:sp>
      <p:sp>
        <p:nvSpPr>
          <p:cNvPr id="17419" name="Rounded Rectangle 17418">
            <a:hlinkClick r:id="rId6"/>
          </p:cNvPr>
          <p:cNvSpPr/>
          <p:nvPr/>
        </p:nvSpPr>
        <p:spPr>
          <a:xfrm>
            <a:off x="8330183" y="1335024"/>
            <a:ext cx="3703320"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8330183" y="1335024"/>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476488"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The Indian basket</a:t>
            </a:r>
          </a:p>
          <a:p>
            <a:pPr>
              <a:lnSpc>
                <a:spcPct val="95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p:txBody>
      </p:sp>
      <p:sp>
        <p:nvSpPr>
          <p:cNvPr id="17422" name="TextBox 17421"/>
          <p:cNvSpPr txBox="1"/>
          <p:nvPr/>
        </p:nvSpPr>
        <p:spPr>
          <a:xfrm>
            <a:off x="9875520" y="2706624"/>
            <a:ext cx="2011680" cy="219456"/>
          </a:xfrm>
          <a:prstGeom prst="rect">
            <a:avLst/>
          </a:prstGeom>
          <a:noFill/>
        </p:spPr>
        <p:txBody>
          <a:bodyPr wrap="none" lIns="0" rIns="0" tIns="0" bIns="0">
            <a:spAutoFit/>
          </a:bodyPr>
          <a:lstStyle/>
          <a:p>
            <a:pPr algn="r"/>
            <a:r>
              <a:rPr sz="1050" b="1" u="sng">
                <a:solidFill>
                  <a:srgbClr val="C77700"/>
                </a:solidFill>
                <a:latin typeface="Arial"/>
                <a:hlinkClick r:id="rId6"/>
              </a:rPr>
              <a:t>DGCA statistics</a:t>
            </a:r>
          </a:p>
        </p:txBody>
      </p:sp>
      <p:sp>
        <p:nvSpPr>
          <p:cNvPr id="17423" name="Rounded Rectangle 17422">
            <a:hlinkClick r:id="rId7"/>
          </p:cNvPr>
          <p:cNvSpPr/>
          <p:nvPr/>
        </p:nvSpPr>
        <p:spPr>
          <a:xfrm>
            <a:off x="411480" y="3108960"/>
            <a:ext cx="3703320"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411480" y="3108960"/>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557784"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Standards we hold to</a:t>
            </a:r>
          </a:p>
          <a:p>
            <a:pPr>
              <a:lnSpc>
                <a:spcPct val="95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p:txBody>
      </p:sp>
      <p:sp>
        <p:nvSpPr>
          <p:cNvPr id="17426" name="TextBox 17425"/>
          <p:cNvSpPr txBox="1"/>
          <p:nvPr/>
        </p:nvSpPr>
        <p:spPr>
          <a:xfrm>
            <a:off x="1956816" y="4480559"/>
            <a:ext cx="2011680" cy="219456"/>
          </a:xfrm>
          <a:prstGeom prst="rect">
            <a:avLst/>
          </a:prstGeom>
          <a:noFill/>
        </p:spPr>
        <p:txBody>
          <a:bodyPr wrap="none" lIns="0" rIns="0" tIns="0" bIns="0">
            <a:spAutoFit/>
          </a:bodyPr>
          <a:lstStyle/>
          <a:p>
            <a:pPr algn="r"/>
            <a:r>
              <a:rPr sz="1050" b="1" u="sng">
                <a:solidFill>
                  <a:srgbClr val="4B3F8C"/>
                </a:solidFill>
                <a:latin typeface="Arial"/>
                <a:hlinkClick r:id="rId7"/>
              </a:rPr>
              <a:t>RFC 9309</a:t>
            </a:r>
          </a:p>
        </p:txBody>
      </p:sp>
      <p:sp>
        <p:nvSpPr>
          <p:cNvPr id="17427" name="Rounded Rectangle 17426">
            <a:hlinkClick r:id="rId8"/>
          </p:cNvPr>
          <p:cNvSpPr/>
          <p:nvPr/>
        </p:nvSpPr>
        <p:spPr>
          <a:xfrm>
            <a:off x="4370832" y="3108960"/>
            <a:ext cx="3703320" cy="1627632"/>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8" name="Rectangle 17427"/>
          <p:cNvSpPr/>
          <p:nvPr/>
        </p:nvSpPr>
        <p:spPr>
          <a:xfrm>
            <a:off x="4370832" y="3108960"/>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517136"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0E7C86"/>
                </a:solidFill>
                <a:latin typeface="Arial"/>
              </a:rPr>
              <a:t>CPI methodology</a:t>
            </a:r>
          </a:p>
          <a:p>
            <a:pPr>
              <a:lnSpc>
                <a:spcPct val="95000"/>
              </a:lnSpc>
              <a:spcBef>
                <a:spcPts val="400"/>
              </a:spcBef>
              <a:spcAft>
                <a:spcPts val="0"/>
              </a:spcAft>
            </a:pPr>
            <a:r>
              <a:rPr sz="1150" b="0">
                <a:solidFill>
                  <a:srgbClr val="262B33"/>
                </a:solidFill>
                <a:latin typeface="Arial"/>
              </a:rPr>
              <a:t>MoSPI moved the CPI to base 2024=100 in February 2026, aligned to COICOP 2018. Air fares are still priced by hand — the process this augments.</a:t>
            </a:r>
          </a:p>
        </p:txBody>
      </p:sp>
      <p:sp>
        <p:nvSpPr>
          <p:cNvPr id="17430" name="TextBox 17429"/>
          <p:cNvSpPr txBox="1"/>
          <p:nvPr/>
        </p:nvSpPr>
        <p:spPr>
          <a:xfrm>
            <a:off x="5916168" y="4480559"/>
            <a:ext cx="2011680" cy="219456"/>
          </a:xfrm>
          <a:prstGeom prst="rect">
            <a:avLst/>
          </a:prstGeom>
          <a:noFill/>
        </p:spPr>
        <p:txBody>
          <a:bodyPr wrap="none" lIns="0" rIns="0" tIns="0" bIns="0">
            <a:spAutoFit/>
          </a:bodyPr>
          <a:lstStyle/>
          <a:p>
            <a:pPr algn="r"/>
            <a:r>
              <a:rPr sz="1050" b="1" u="sng">
                <a:solidFill>
                  <a:srgbClr val="0E7C86"/>
                </a:solidFill>
                <a:latin typeface="Arial"/>
                <a:hlinkClick r:id="rId8"/>
              </a:rPr>
              <a:t>The 2024=100 series</a:t>
            </a:r>
          </a:p>
        </p:txBody>
      </p:sp>
      <p:sp>
        <p:nvSpPr>
          <p:cNvPr id="17431" name="Rounded Rectangle 17430">
            <a:hlinkClick r:id="rId9"/>
          </p:cNvPr>
          <p:cNvSpPr/>
          <p:nvPr/>
        </p:nvSpPr>
        <p:spPr>
          <a:xfrm>
            <a:off x="8330183" y="3108960"/>
            <a:ext cx="3703320" cy="1627632"/>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8330183" y="3108960"/>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8476488"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7A3E6B"/>
                </a:solidFill>
                <a:latin typeface="Arial"/>
              </a:rPr>
              <a:t>Our code and full method</a:t>
            </a:r>
          </a:p>
          <a:p>
            <a:pPr>
              <a:lnSpc>
                <a:spcPct val="95000"/>
              </a:lnSpc>
              <a:spcBef>
                <a:spcPts val="400"/>
              </a:spcBef>
              <a:spcAft>
                <a:spcPts val="0"/>
              </a:spcAft>
            </a:pPr>
            <a:r>
              <a:rPr sz="1150" b="0">
                <a:solidFill>
                  <a:srgbClr val="262B33"/>
                </a:solidFill>
                <a:latin typeface="Arial"/>
              </a:rPr>
              <a:t>Collector, index engine, export API and portal. The README documents the method and the publication threshold.
github.com/BradCage-afk/sih-2026-airfare-index</a:t>
            </a:r>
          </a:p>
        </p:txBody>
      </p:sp>
      <p:sp>
        <p:nvSpPr>
          <p:cNvPr id="17434" name="TextBox 17433"/>
          <p:cNvSpPr txBox="1"/>
          <p:nvPr/>
        </p:nvSpPr>
        <p:spPr>
          <a:xfrm>
            <a:off x="9875520" y="4480559"/>
            <a:ext cx="2011680" cy="219456"/>
          </a:xfrm>
          <a:prstGeom prst="rect">
            <a:avLst/>
          </a:prstGeom>
          <a:noFill/>
        </p:spPr>
        <p:txBody>
          <a:bodyPr wrap="none" lIns="0" rIns="0" tIns="0" bIns="0">
            <a:spAutoFit/>
          </a:bodyPr>
          <a:lstStyle/>
          <a:p>
            <a:pPr algn="r"/>
            <a:r>
              <a:rPr sz="1050" b="1" u="sng">
                <a:solidFill>
                  <a:srgbClr val="7A3E6B"/>
                </a:solidFill>
                <a:latin typeface="Arial"/>
                <a:hlinkClick r:id="rId9"/>
              </a:rPr>
              <a:t>Open the repo</a:t>
            </a:r>
          </a:p>
        </p:txBody>
      </p:sp>
      <p:pic>
        <p:nvPicPr>
          <p:cNvPr id="17435" name="Picture 17434" descr="chart-survey.png"/>
          <p:cNvPicPr>
            <a:picLocks noChangeAspect="1"/>
          </p:cNvPicPr>
          <p:nvPr/>
        </p:nvPicPr>
        <p:blipFill>
          <a:blip r:embed="rId10"/>
          <a:stretch>
            <a:fillRect/>
          </a:stretch>
        </p:blipFill>
        <p:spPr>
          <a:xfrm>
            <a:off x="411480" y="4754880"/>
            <a:ext cx="4160520" cy="1550487"/>
          </a:xfrm>
          <a:prstGeom prst="rect">
            <a:avLst/>
          </a:prstGeom>
        </p:spPr>
      </p:pic>
      <p:sp>
        <p:nvSpPr>
          <p:cNvPr id="17436" name="TextBox 17435"/>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600"/>
              </a:spcBef>
              <a:spcAft>
                <a:spcPts val="0"/>
              </a:spcAft>
            </a:pPr>
            <a:r>
              <a:rPr sz="1150" b="1">
                <a:solidFill>
                  <a:srgbClr val="1F497D"/>
                </a:solidFill>
                <a:latin typeface="Arial"/>
              </a:rPr>
              <a:t>Everything in this deck is checkable against a live system:</a:t>
            </a:r>
          </a:p>
        </p:txBody>
      </p:sp>
      <p:sp>
        <p:nvSpPr>
          <p:cNvPr id="17437" name="TextBox 17436"/>
          <p:cNvSpPr txBox="1"/>
          <p:nvPr/>
        </p:nvSpPr>
        <p:spPr>
          <a:xfrm>
            <a:off x="4800600" y="5907024"/>
            <a:ext cx="1641348" cy="219456"/>
          </a:xfrm>
          <a:prstGeom prst="rect">
            <a:avLst/>
          </a:prstGeom>
          <a:noFill/>
        </p:spPr>
        <p:txBody>
          <a:bodyPr wrap="none" lIns="0" rIns="0" tIns="0" bIns="0">
            <a:spAutoFit/>
          </a:bodyPr>
          <a:lstStyle/>
          <a:p>
            <a:pPr algn="l"/>
            <a:r>
              <a:rPr sz="1050" b="1" u="sng">
                <a:solidFill>
                  <a:srgbClr val="1F497D"/>
                </a:solidFill>
                <a:latin typeface="Arial"/>
                <a:hlinkClick r:id="rId11"/>
              </a:rPr>
              <a:t>Live API docs</a:t>
            </a:r>
          </a:p>
        </p:txBody>
      </p:sp>
      <p:sp>
        <p:nvSpPr>
          <p:cNvPr id="17438" name="TextBox 17437"/>
          <p:cNvSpPr txBox="1"/>
          <p:nvPr/>
        </p:nvSpPr>
        <p:spPr>
          <a:xfrm>
            <a:off x="6569964" y="5907024"/>
            <a:ext cx="1641348" cy="219456"/>
          </a:xfrm>
          <a:prstGeom prst="rect">
            <a:avLst/>
          </a:prstGeom>
          <a:noFill/>
        </p:spPr>
        <p:txBody>
          <a:bodyPr wrap="none" lIns="0" rIns="0" tIns="0" bIns="0">
            <a:spAutoFit/>
          </a:bodyPr>
          <a:lstStyle/>
          <a:p>
            <a:pPr algn="l"/>
            <a:r>
              <a:rPr sz="1050" b="1" u="sng">
                <a:solidFill>
                  <a:srgbClr val="1B8A5A"/>
                </a:solidFill>
                <a:latin typeface="Arial"/>
                <a:hlinkClick r:id="rId12"/>
              </a:rPr>
              <a:t>Release portal</a:t>
            </a:r>
          </a:p>
        </p:txBody>
      </p:sp>
      <p:sp>
        <p:nvSpPr>
          <p:cNvPr id="17439" name="TextBox 17438"/>
          <p:cNvSpPr txBox="1"/>
          <p:nvPr/>
        </p:nvSpPr>
        <p:spPr>
          <a:xfrm>
            <a:off x="8339328" y="5907024"/>
            <a:ext cx="1641348" cy="219456"/>
          </a:xfrm>
          <a:prstGeom prst="rect">
            <a:avLst/>
          </a:prstGeom>
          <a:noFill/>
        </p:spPr>
        <p:txBody>
          <a:bodyPr wrap="none" lIns="0" rIns="0" tIns="0" bIns="0">
            <a:spAutoFit/>
          </a:bodyPr>
          <a:lstStyle/>
          <a:p>
            <a:pPr algn="l"/>
            <a:r>
              <a:rPr sz="1050" b="1" u="sng">
                <a:solidFill>
                  <a:srgbClr val="4B3F8C"/>
                </a:solidFill>
                <a:latin typeface="Arial"/>
                <a:hlinkClick r:id="rId13"/>
              </a:rPr>
              <a:t>README + method</a:t>
            </a:r>
          </a:p>
        </p:txBody>
      </p:sp>
      <p:sp>
        <p:nvSpPr>
          <p:cNvPr id="17440" name="TextBox 17439"/>
          <p:cNvSpPr txBox="1"/>
          <p:nvPr/>
        </p:nvSpPr>
        <p:spPr>
          <a:xfrm>
            <a:off x="10108692" y="5907024"/>
            <a:ext cx="1641348" cy="219456"/>
          </a:xfrm>
          <a:prstGeom prst="rect">
            <a:avLst/>
          </a:prstGeom>
          <a:noFill/>
        </p:spPr>
        <p:txBody>
          <a:bodyPr wrap="none" lIns="0" rIns="0" tIns="0" bIns="0">
            <a:spAutoFit/>
          </a:bodyPr>
          <a:lstStyle/>
          <a:p>
            <a:pPr algn="l"/>
            <a:r>
              <a:rPr sz="1050" b="1" u="sng">
                <a:solidFill>
                  <a:srgbClr val="0E7C86"/>
                </a:solidFill>
                <a:latin typeface="Arial"/>
                <a:hlinkClick r:id="rId14"/>
              </a:rPr>
              <a:t>Aviation market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