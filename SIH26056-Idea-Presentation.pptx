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hyperlink" Target="https://apix-portal.pages.dev"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hyperlink" Target="https://ec.europa.eu/eurostat/documents/272892/12032198/Guidelines-web-scraping-HICP-11-2020.pdf" TargetMode="External"/><Relationship Id="rId5" Type="http://schemas.openxmlformats.org/officeDocument/2006/relationships/hyperlink" Target="https://www.ons.gov.uk/economy/inflationandpriceindices/articles/researchindicesusingwebscrapedpricedata/august2017update/previous/v1/pdf" TargetMode="External"/><Relationship Id="rId6" Type="http://schemas.openxmlformats.org/officeDocument/2006/relationships/hyperlink" Target="https://www.dgca.gov.in/digigov-portal/" TargetMode="External"/><Relationship Id="rId7" Type="http://schemas.openxmlformats.org/officeDocument/2006/relationships/hyperlink" Target="https://www.rfc-editor.org/rfc/rfc9309" TargetMode="External"/><Relationship Id="rId8" Type="http://schemas.openxmlformats.org/officeDocument/2006/relationships/hyperlink" Target="https://www.cpi.mospi.gov.in/PDFile/CPI-Changes_in_the_Revised_Series.pdf" TargetMode="External"/><Relationship Id="rId9" Type="http://schemas.openxmlformats.org/officeDocument/2006/relationships/hyperlink" Target="https://github.com/BradCage-afk/sih-2026-airfare-index" TargetMode="External"/><Relationship Id="rId10" Type="http://schemas.openxmlformats.org/officeDocument/2006/relationships/image" Target="../media/image4.png"/><Relationship Id="rId11" Type="http://schemas.openxmlformats.org/officeDocument/2006/relationships/hyperlink" Target="https://apix-api-n5ux.onrender.com/doc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84048" y="1965960"/>
            <a:ext cx="5806440" cy="4526280"/>
          </a:xfrm>
          <a:prstGeom prst="rect">
            <a:avLst/>
          </a:prstGeom>
          <a:noFill/>
        </p:spPr>
        <p:txBody>
          <a:bodyPr wrap="square" rtlCol="0" lIns="36576" rIns="36576" tIns="18288" bIns="18288">
            <a:spAutoFit/>
          </a:bodyPr>
          <a:lstStyle/>
          <a:p>
            <a:pPr algn="just">
              <a:lnSpc>
                <a:spcPct val="106000"/>
              </a:lnSpc>
              <a:spcBef>
                <a:spcPts val="0"/>
              </a:spcBef>
              <a:spcAft>
                <a:spcPts val="0"/>
              </a:spcAft>
            </a:pPr>
            <a:r>
              <a:rPr sz="1600" b="1">
                <a:solidFill>
                  <a:srgbClr val="262B33"/>
                </a:solidFill>
                <a:latin typeface="Arial"/>
              </a:rPr>
              <a:t>Problem Statement ID - SIH26056</a:t>
            </a:r>
            <a:endParaRPr lang="en-US" dirty="0"/>
          </a:p>
          <a:p>
            <a:pPr algn="just">
              <a:lnSpc>
                <a:spcPct val="106000"/>
              </a:lnSpc>
              <a:spcBef>
                <a:spcPts val="1100"/>
              </a:spcBef>
              <a:spcAft>
                <a:spcPts val="0"/>
              </a:spcAft>
            </a:pPr>
            <a:r>
              <a:rPr sz="1600" b="1">
                <a:solidFill>
                  <a:srgbClr val="262B33"/>
                </a:solidFill>
                <a:latin typeface="Arial"/>
              </a:rPr>
              <a:t>Problem Statement Title - Development of a Real-time Airfare Price Index for India through Automated Web Scraping of Airline and Online Travel Aggregator Portals for Augmentation of the Consumer Price Index (CPI)</a:t>
            </a:r>
          </a:p>
          <a:p>
            <a:pPr algn="just">
              <a:lnSpc>
                <a:spcPct val="106000"/>
              </a:lnSpc>
              <a:spcBef>
                <a:spcPts val="1100"/>
              </a:spcBef>
              <a:spcAft>
                <a:spcPts val="0"/>
              </a:spcAft>
            </a:pPr>
            <a:r>
              <a:rPr sz="1600" b="1">
                <a:solidFill>
                  <a:srgbClr val="262B33"/>
                </a:solidFill>
                <a:latin typeface="Arial"/>
              </a:rPr>
              <a:t>Theme - Travel &amp; Tourism</a:t>
            </a:r>
          </a:p>
          <a:p>
            <a:pPr algn="just">
              <a:lnSpc>
                <a:spcPct val="106000"/>
              </a:lnSpc>
              <a:spcBef>
                <a:spcPts val="1100"/>
              </a:spcBef>
              <a:spcAft>
                <a:spcPts val="0"/>
              </a:spcAft>
            </a:pPr>
            <a:r>
              <a:rPr sz="1600" b="1">
                <a:solidFill>
                  <a:srgbClr val="262B33"/>
                </a:solidFill>
                <a:latin typeface="Arial"/>
              </a:rPr>
              <a:t>PS Category - Software</a:t>
            </a:r>
          </a:p>
          <a:p>
            <a:pPr algn="just">
              <a:lnSpc>
                <a:spcPct val="106000"/>
              </a:lnSpc>
              <a:spcBef>
                <a:spcPts val="1100"/>
              </a:spcBef>
              <a:spcAft>
                <a:spcPts val="0"/>
              </a:spcAft>
            </a:pPr>
            <a:r>
              <a:rPr sz="1600" b="1">
                <a:solidFill>
                  <a:srgbClr val="262B33"/>
                </a:solidFill>
                <a:latin typeface="Arial"/>
              </a:rPr>
              <a:t>Team ID - ‹TEAM ID›</a:t>
            </a:r>
          </a:p>
          <a:p>
            <a:pPr algn="just">
              <a:lnSpc>
                <a:spcPct val="106000"/>
              </a:lnSpc>
              <a:spcBef>
                <a:spcPts val="1100"/>
              </a:spcBef>
              <a:spcAft>
                <a:spcPts val="0"/>
              </a:spcAft>
            </a:pPr>
            <a:r>
              <a:rPr sz="1600" b="1">
                <a:solidFill>
                  <a:srgbClr val="262B33"/>
                </a:solidFill>
                <a:latin typeface="Arial"/>
              </a:rPr>
              <a:t>Team Name (Registered on portal) - Fare Enough 101</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lgn="ctr"/>
            <a:r>
              <a:rPr sz="2800" b="1">
                <a:solidFill>
                  <a:srgbClr val="1F497D"/>
                </a:solidFill>
                <a:latin typeface="Times New Roman"/>
              </a:rPr>
              <a:t>PROPOSED SOLUTION</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50" b="1"/>
              <a:t>Fare Enough 101</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TextBox 15361"/>
          <p:cNvSpPr txBox="1"/>
          <p:nvPr/>
        </p:nvSpPr>
        <p:spPr>
          <a:xfrm>
            <a:off x="411480" y="987552"/>
            <a:ext cx="7726679" cy="859536"/>
          </a:xfrm>
          <a:prstGeom prst="rect">
            <a:avLst/>
          </a:prstGeom>
          <a:noFill/>
        </p:spPr>
        <p:txBody>
          <a:bodyPr wrap="square" lIns="36576" rIns="36576" tIns="18288" bIns="18288">
            <a:spAutoFit/>
          </a:bodyPr>
          <a:lstStyle/>
          <a:p>
            <a:pPr>
              <a:lnSpc>
                <a:spcPct val="95000"/>
              </a:lnSpc>
              <a:spcBef>
                <a:spcPts val="0"/>
              </a:spcBef>
              <a:spcAft>
                <a:spcPts val="0"/>
              </a:spcAft>
            </a:pPr>
            <a:r>
              <a:rPr sz="1500" b="1">
                <a:solidFill>
                  <a:srgbClr val="1F497D"/>
                </a:solidFill>
                <a:latin typeface="Arial"/>
              </a:rPr>
              <a:t>APIx  —  a daily airfare inflation index built for the CPI</a:t>
            </a:r>
          </a:p>
          <a:p>
            <a:pPr>
              <a:lnSpc>
                <a:spcPct val="95000"/>
              </a:lnSpc>
              <a:spcBef>
                <a:spcPts val="500"/>
              </a:spcBef>
              <a:spcAft>
                <a:spcPts val="0"/>
              </a:spcAft>
            </a:pPr>
            <a:r>
              <a:rPr sz="1200" b="0">
                <a:solidFill>
                  <a:srgbClr val="5A626C"/>
                </a:solidFill>
                <a:latin typeface="Arial"/>
              </a:rPr>
              <a:t>MoSPI prices air travel by hand, once a month, for one departure date. APIx reads the same public fare pages every ten minutes, turns them into one weighted index number, and delivers it to MoSPI through an API instead of a form.</a:t>
            </a:r>
          </a:p>
        </p:txBody>
      </p:sp>
      <p:sp>
        <p:nvSpPr>
          <p:cNvPr id="15363" name="Rounded Rectangle 15362"/>
          <p:cNvSpPr/>
          <p:nvPr/>
        </p:nvSpPr>
        <p:spPr>
          <a:xfrm>
            <a:off x="8275320" y="987552"/>
            <a:ext cx="3474720" cy="822960"/>
          </a:xfrm>
          <a:prstGeom prst="roundRect">
            <a:avLst>
              <a:gd name="adj" fmla="val 6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050" b="1">
                <a:solidFill>
                  <a:srgbClr val="1B8A5A"/>
                </a:solidFill>
                <a:latin typeface="Arial"/>
              </a:rPr>
              <a:t>BUILT AND RUNNING</a:t>
            </a:r>
          </a:p>
          <a:p>
            <a:pPr>
              <a:lnSpc>
                <a:spcPct val="95000"/>
              </a:lnSpc>
              <a:spcBef>
                <a:spcPts val="400"/>
              </a:spcBef>
              <a:spcAft>
                <a:spcPts val="0"/>
              </a:spcAft>
            </a:pPr>
            <a:r>
              <a:rPr sz="1050" b="0">
                <a:solidFill>
                  <a:srgbClr val="262B33"/>
                </a:solidFill>
                <a:latin typeface="Arial"/>
              </a:rPr>
              <a:t>36,000+ fares collected · 15 city pairs × 5 lead times · every 10 minutes · ₹0 a month to run</a:t>
            </a:r>
          </a:p>
        </p:txBody>
      </p:sp>
      <p:sp>
        <p:nvSpPr>
          <p:cNvPr id="15364" name="Rounded Rectangle 15363"/>
          <p:cNvSpPr/>
          <p:nvPr/>
        </p:nvSpPr>
        <p:spPr>
          <a:xfrm>
            <a:off x="411480" y="1920240"/>
            <a:ext cx="6355080" cy="1737360"/>
          </a:xfrm>
          <a:prstGeom prst="roundRect">
            <a:avLst>
              <a:gd name="adj" fmla="val 6000"/>
            </a:avLst>
          </a:prstGeom>
          <a:solidFill>
            <a:srgbClr val="E8F0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65" name="TextBox 15364"/>
          <p:cNvSpPr txBox="1"/>
          <p:nvPr/>
        </p:nvSpPr>
        <p:spPr>
          <a:xfrm>
            <a:off x="548640" y="1975104"/>
            <a:ext cx="3840480" cy="237744"/>
          </a:xfrm>
          <a:prstGeom prst="rect">
            <a:avLst/>
          </a:prstGeom>
          <a:noFill/>
        </p:spPr>
        <p:txBody>
          <a:bodyPr wrap="square" lIns="36576" rIns="36576" tIns="18288" bIns="18288">
            <a:spAutoFit/>
          </a:bodyPr>
          <a:lstStyle/>
          <a:p>
            <a:pPr>
              <a:lnSpc>
                <a:spcPct val="95000"/>
              </a:lnSpc>
              <a:spcBef>
                <a:spcPts val="0"/>
              </a:spcBef>
              <a:spcAft>
                <a:spcPts val="0"/>
              </a:spcAft>
            </a:pPr>
            <a:r>
              <a:rPr sz="1050" b="1">
                <a:solidFill>
                  <a:srgbClr val="4F81BD"/>
                </a:solidFill>
                <a:latin typeface="Arial"/>
              </a:rPr>
              <a:t>WHAT CHANGES FOR THE CPI</a:t>
            </a:r>
          </a:p>
        </p:txBody>
      </p:sp>
      <p:sp>
        <p:nvSpPr>
          <p:cNvPr id="15366" name="TextBox 15365"/>
          <p:cNvSpPr txBox="1"/>
          <p:nvPr/>
        </p:nvSpPr>
        <p:spPr>
          <a:xfrm>
            <a:off x="2148840" y="2231136"/>
            <a:ext cx="1920240" cy="237744"/>
          </a:xfrm>
          <a:prstGeom prst="rect">
            <a:avLst/>
          </a:prstGeom>
          <a:noFill/>
        </p:spPr>
        <p:txBody>
          <a:bodyPr wrap="square" lIns="36576" rIns="36576" tIns="18288" bIns="18288">
            <a:spAutoFit/>
          </a:bodyPr>
          <a:lstStyle/>
          <a:p>
            <a:pPr>
              <a:lnSpc>
                <a:spcPct val="95000"/>
              </a:lnSpc>
              <a:spcBef>
                <a:spcPts val="0"/>
              </a:spcBef>
              <a:spcAft>
                <a:spcPts val="0"/>
              </a:spcAft>
            </a:pPr>
            <a:r>
              <a:rPr sz="1100" b="1">
                <a:solidFill>
                  <a:srgbClr val="5A626C"/>
                </a:solidFill>
                <a:latin typeface="Arial"/>
              </a:rPr>
              <a:t>TODAY</a:t>
            </a:r>
          </a:p>
        </p:txBody>
      </p:sp>
      <p:sp>
        <p:nvSpPr>
          <p:cNvPr id="15367" name="TextBox 15366"/>
          <p:cNvSpPr txBox="1"/>
          <p:nvPr/>
        </p:nvSpPr>
        <p:spPr>
          <a:xfrm>
            <a:off x="4160520" y="2231136"/>
            <a:ext cx="2468880" cy="237744"/>
          </a:xfrm>
          <a:prstGeom prst="rect">
            <a:avLst/>
          </a:prstGeom>
          <a:noFill/>
        </p:spPr>
        <p:txBody>
          <a:bodyPr wrap="square" lIns="36576" rIns="36576" tIns="18288" bIns="18288">
            <a:spAutoFit/>
          </a:bodyPr>
          <a:lstStyle/>
          <a:p>
            <a:pPr>
              <a:lnSpc>
                <a:spcPct val="95000"/>
              </a:lnSpc>
              <a:spcBef>
                <a:spcPts val="0"/>
              </a:spcBef>
              <a:spcAft>
                <a:spcPts val="0"/>
              </a:spcAft>
            </a:pPr>
            <a:r>
              <a:rPr sz="1100" b="1">
                <a:solidFill>
                  <a:srgbClr val="1B8A5A"/>
                </a:solidFill>
                <a:latin typeface="Arial"/>
              </a:rPr>
              <a:t>WITH APIx</a:t>
            </a:r>
          </a:p>
        </p:txBody>
      </p:sp>
      <p:sp>
        <p:nvSpPr>
          <p:cNvPr id="15368" name="TextBox 15367"/>
          <p:cNvSpPr txBox="1"/>
          <p:nvPr/>
        </p:nvSpPr>
        <p:spPr>
          <a:xfrm>
            <a:off x="548640" y="2505456"/>
            <a:ext cx="1600200" cy="237744"/>
          </a:xfrm>
          <a:prstGeom prst="rect">
            <a:avLst/>
          </a:prstGeom>
          <a:noFill/>
        </p:spPr>
        <p:txBody>
          <a:bodyPr wrap="square" lIns="36576" rIns="36576" tIns="18288" bIns="18288">
            <a:spAutoFit/>
          </a:bodyPr>
          <a:lstStyle/>
          <a:p>
            <a:pPr>
              <a:lnSpc>
                <a:spcPct val="95000"/>
              </a:lnSpc>
              <a:spcBef>
                <a:spcPts val="0"/>
              </a:spcBef>
              <a:spcAft>
                <a:spcPts val="0"/>
              </a:spcAft>
            </a:pPr>
            <a:r>
              <a:rPr sz="1100" b="1">
                <a:solidFill>
                  <a:srgbClr val="262B33"/>
                </a:solidFill>
                <a:latin typeface="Arial"/>
              </a:rPr>
              <a:t>Frequency</a:t>
            </a:r>
          </a:p>
        </p:txBody>
      </p:sp>
      <p:sp>
        <p:nvSpPr>
          <p:cNvPr id="15369" name="TextBox 15368"/>
          <p:cNvSpPr txBox="1"/>
          <p:nvPr/>
        </p:nvSpPr>
        <p:spPr>
          <a:xfrm>
            <a:off x="2148840" y="2505456"/>
            <a:ext cx="1920240" cy="237744"/>
          </a:xfrm>
          <a:prstGeom prst="rect">
            <a:avLst/>
          </a:prstGeom>
          <a:noFill/>
        </p:spPr>
        <p:txBody>
          <a:bodyPr wrap="square" lIns="36576" rIns="36576" tIns="18288" bIns="18288">
            <a:spAutoFit/>
          </a:bodyPr>
          <a:lstStyle/>
          <a:p>
            <a:pPr>
              <a:lnSpc>
                <a:spcPct val="95000"/>
              </a:lnSpc>
              <a:spcBef>
                <a:spcPts val="0"/>
              </a:spcBef>
              <a:spcAft>
                <a:spcPts val="0"/>
              </a:spcAft>
            </a:pPr>
            <a:r>
              <a:rPr sz="1050" b="0">
                <a:solidFill>
                  <a:srgbClr val="5A626C"/>
                </a:solidFill>
                <a:latin typeface="Arial"/>
              </a:rPr>
              <a:t>once a month</a:t>
            </a:r>
          </a:p>
        </p:txBody>
      </p:sp>
      <p:sp>
        <p:nvSpPr>
          <p:cNvPr id="15370" name="TextBox 15369"/>
          <p:cNvSpPr txBox="1"/>
          <p:nvPr/>
        </p:nvSpPr>
        <p:spPr>
          <a:xfrm>
            <a:off x="4160520" y="2505456"/>
            <a:ext cx="2468880" cy="237744"/>
          </a:xfrm>
          <a:prstGeom prst="rect">
            <a:avLst/>
          </a:prstGeom>
          <a:noFill/>
        </p:spPr>
        <p:txBody>
          <a:bodyPr wrap="square" lIns="36576" rIns="36576" tIns="18288" bIns="18288">
            <a:spAutoFit/>
          </a:bodyPr>
          <a:lstStyle/>
          <a:p>
            <a:pPr>
              <a:lnSpc>
                <a:spcPct val="95000"/>
              </a:lnSpc>
              <a:spcBef>
                <a:spcPts val="0"/>
              </a:spcBef>
              <a:spcAft>
                <a:spcPts val="0"/>
              </a:spcAft>
            </a:pPr>
            <a:r>
              <a:rPr sz="1050" b="1">
                <a:solidFill>
                  <a:srgbClr val="262B33"/>
                </a:solidFill>
                <a:latin typeface="Arial"/>
              </a:rPr>
              <a:t>every 10 minutes</a:t>
            </a:r>
          </a:p>
        </p:txBody>
      </p:sp>
      <p:sp>
        <p:nvSpPr>
          <p:cNvPr id="15371" name="TextBox 15370"/>
          <p:cNvSpPr txBox="1"/>
          <p:nvPr/>
        </p:nvSpPr>
        <p:spPr>
          <a:xfrm>
            <a:off x="548640" y="2770632"/>
            <a:ext cx="1600200" cy="237744"/>
          </a:xfrm>
          <a:prstGeom prst="rect">
            <a:avLst/>
          </a:prstGeom>
          <a:noFill/>
        </p:spPr>
        <p:txBody>
          <a:bodyPr wrap="square" lIns="36576" rIns="36576" tIns="18288" bIns="18288">
            <a:spAutoFit/>
          </a:bodyPr>
          <a:lstStyle/>
          <a:p>
            <a:pPr>
              <a:lnSpc>
                <a:spcPct val="95000"/>
              </a:lnSpc>
              <a:spcBef>
                <a:spcPts val="0"/>
              </a:spcBef>
              <a:spcAft>
                <a:spcPts val="0"/>
              </a:spcAft>
            </a:pPr>
            <a:r>
              <a:rPr sz="1100" b="1">
                <a:solidFill>
                  <a:srgbClr val="262B33"/>
                </a:solidFill>
                <a:latin typeface="Arial"/>
              </a:rPr>
              <a:t>Coverage</a:t>
            </a:r>
          </a:p>
        </p:txBody>
      </p:sp>
      <p:sp>
        <p:nvSpPr>
          <p:cNvPr id="15372" name="TextBox 15371"/>
          <p:cNvSpPr txBox="1"/>
          <p:nvPr/>
        </p:nvSpPr>
        <p:spPr>
          <a:xfrm>
            <a:off x="2148840" y="2770632"/>
            <a:ext cx="1920240" cy="237744"/>
          </a:xfrm>
          <a:prstGeom prst="rect">
            <a:avLst/>
          </a:prstGeom>
          <a:noFill/>
        </p:spPr>
        <p:txBody>
          <a:bodyPr wrap="square" lIns="36576" rIns="36576" tIns="18288" bIns="18288">
            <a:spAutoFit/>
          </a:bodyPr>
          <a:lstStyle/>
          <a:p>
            <a:pPr>
              <a:lnSpc>
                <a:spcPct val="95000"/>
              </a:lnSpc>
              <a:spcBef>
                <a:spcPts val="0"/>
              </a:spcBef>
              <a:spcAft>
                <a:spcPts val="0"/>
              </a:spcAft>
            </a:pPr>
            <a:r>
              <a:rPr sz="1050" b="0">
                <a:solidFill>
                  <a:srgbClr val="5A626C"/>
                </a:solidFill>
                <a:latin typeface="Arial"/>
              </a:rPr>
              <a:t>a handful of quotes</a:t>
            </a:r>
          </a:p>
        </p:txBody>
      </p:sp>
      <p:sp>
        <p:nvSpPr>
          <p:cNvPr id="15373" name="TextBox 15372"/>
          <p:cNvSpPr txBox="1"/>
          <p:nvPr/>
        </p:nvSpPr>
        <p:spPr>
          <a:xfrm>
            <a:off x="4160520" y="2770632"/>
            <a:ext cx="2468880" cy="237744"/>
          </a:xfrm>
          <a:prstGeom prst="rect">
            <a:avLst/>
          </a:prstGeom>
          <a:noFill/>
        </p:spPr>
        <p:txBody>
          <a:bodyPr wrap="square" lIns="36576" rIns="36576" tIns="18288" bIns="18288">
            <a:spAutoFit/>
          </a:bodyPr>
          <a:lstStyle/>
          <a:p>
            <a:pPr>
              <a:lnSpc>
                <a:spcPct val="95000"/>
              </a:lnSpc>
              <a:spcBef>
                <a:spcPts val="0"/>
              </a:spcBef>
              <a:spcAft>
                <a:spcPts val="0"/>
              </a:spcAft>
            </a:pPr>
            <a:r>
              <a:rPr sz="1050" b="1">
                <a:solidFill>
                  <a:srgbClr val="262B33"/>
                </a:solidFill>
                <a:latin typeface="Arial"/>
              </a:rPr>
              <a:t>75 priced cells</a:t>
            </a:r>
          </a:p>
        </p:txBody>
      </p:sp>
      <p:sp>
        <p:nvSpPr>
          <p:cNvPr id="15374" name="TextBox 15373"/>
          <p:cNvSpPr txBox="1"/>
          <p:nvPr/>
        </p:nvSpPr>
        <p:spPr>
          <a:xfrm>
            <a:off x="548640" y="3035808"/>
            <a:ext cx="1600200" cy="237744"/>
          </a:xfrm>
          <a:prstGeom prst="rect">
            <a:avLst/>
          </a:prstGeom>
          <a:noFill/>
        </p:spPr>
        <p:txBody>
          <a:bodyPr wrap="square" lIns="36576" rIns="36576" tIns="18288" bIns="18288">
            <a:spAutoFit/>
          </a:bodyPr>
          <a:lstStyle/>
          <a:p>
            <a:pPr>
              <a:lnSpc>
                <a:spcPct val="95000"/>
              </a:lnSpc>
              <a:spcBef>
                <a:spcPts val="0"/>
              </a:spcBef>
              <a:spcAft>
                <a:spcPts val="0"/>
              </a:spcAft>
            </a:pPr>
            <a:r>
              <a:rPr sz="1100" b="1">
                <a:solidFill>
                  <a:srgbClr val="262B33"/>
                </a:solidFill>
                <a:latin typeface="Arial"/>
              </a:rPr>
              <a:t>Price basis</a:t>
            </a:r>
          </a:p>
        </p:txBody>
      </p:sp>
      <p:sp>
        <p:nvSpPr>
          <p:cNvPr id="15375" name="TextBox 15374"/>
          <p:cNvSpPr txBox="1"/>
          <p:nvPr/>
        </p:nvSpPr>
        <p:spPr>
          <a:xfrm>
            <a:off x="2148840" y="3035808"/>
            <a:ext cx="1920240" cy="237744"/>
          </a:xfrm>
          <a:prstGeom prst="rect">
            <a:avLst/>
          </a:prstGeom>
          <a:noFill/>
        </p:spPr>
        <p:txBody>
          <a:bodyPr wrap="square" lIns="36576" rIns="36576" tIns="18288" bIns="18288">
            <a:spAutoFit/>
          </a:bodyPr>
          <a:lstStyle/>
          <a:p>
            <a:pPr>
              <a:lnSpc>
                <a:spcPct val="95000"/>
              </a:lnSpc>
              <a:spcBef>
                <a:spcPts val="0"/>
              </a:spcBef>
              <a:spcAft>
                <a:spcPts val="0"/>
              </a:spcAft>
            </a:pPr>
            <a:r>
              <a:rPr sz="1050" b="0">
                <a:solidFill>
                  <a:srgbClr val="5A626C"/>
                </a:solidFill>
                <a:latin typeface="Arial"/>
              </a:rPr>
              <a:t>one quoted price</a:t>
            </a:r>
          </a:p>
        </p:txBody>
      </p:sp>
      <p:sp>
        <p:nvSpPr>
          <p:cNvPr id="15376" name="TextBox 15375"/>
          <p:cNvSpPr txBox="1"/>
          <p:nvPr/>
        </p:nvSpPr>
        <p:spPr>
          <a:xfrm>
            <a:off x="4160520" y="3035808"/>
            <a:ext cx="2468880" cy="237744"/>
          </a:xfrm>
          <a:prstGeom prst="rect">
            <a:avLst/>
          </a:prstGeom>
          <a:noFill/>
        </p:spPr>
        <p:txBody>
          <a:bodyPr wrap="square" lIns="36576" rIns="36576" tIns="18288" bIns="18288">
            <a:spAutoFit/>
          </a:bodyPr>
          <a:lstStyle/>
          <a:p>
            <a:pPr>
              <a:lnSpc>
                <a:spcPct val="95000"/>
              </a:lnSpc>
              <a:spcBef>
                <a:spcPts val="0"/>
              </a:spcBef>
              <a:spcAft>
                <a:spcPts val="0"/>
              </a:spcAft>
            </a:pPr>
            <a:r>
              <a:rPr sz="1050" b="1">
                <a:solidFill>
                  <a:srgbClr val="262B33"/>
                </a:solidFill>
                <a:latin typeface="Arial"/>
              </a:rPr>
              <a:t>minimum logical fare</a:t>
            </a:r>
          </a:p>
        </p:txBody>
      </p:sp>
      <p:sp>
        <p:nvSpPr>
          <p:cNvPr id="15377" name="TextBox 15376"/>
          <p:cNvSpPr txBox="1"/>
          <p:nvPr/>
        </p:nvSpPr>
        <p:spPr>
          <a:xfrm>
            <a:off x="548640" y="3300984"/>
            <a:ext cx="1600200" cy="237744"/>
          </a:xfrm>
          <a:prstGeom prst="rect">
            <a:avLst/>
          </a:prstGeom>
          <a:noFill/>
        </p:spPr>
        <p:txBody>
          <a:bodyPr wrap="square" lIns="36576" rIns="36576" tIns="18288" bIns="18288">
            <a:spAutoFit/>
          </a:bodyPr>
          <a:lstStyle/>
          <a:p>
            <a:pPr>
              <a:lnSpc>
                <a:spcPct val="95000"/>
              </a:lnSpc>
              <a:spcBef>
                <a:spcPts val="0"/>
              </a:spcBef>
              <a:spcAft>
                <a:spcPts val="0"/>
              </a:spcAft>
            </a:pPr>
            <a:r>
              <a:rPr sz="1100" b="1">
                <a:solidFill>
                  <a:srgbClr val="262B33"/>
                </a:solidFill>
                <a:latin typeface="Arial"/>
              </a:rPr>
              <a:t>Delivery</a:t>
            </a:r>
          </a:p>
        </p:txBody>
      </p:sp>
      <p:sp>
        <p:nvSpPr>
          <p:cNvPr id="15378" name="TextBox 15377"/>
          <p:cNvSpPr txBox="1"/>
          <p:nvPr/>
        </p:nvSpPr>
        <p:spPr>
          <a:xfrm>
            <a:off x="2148840" y="3300984"/>
            <a:ext cx="1920240" cy="237744"/>
          </a:xfrm>
          <a:prstGeom prst="rect">
            <a:avLst/>
          </a:prstGeom>
          <a:noFill/>
        </p:spPr>
        <p:txBody>
          <a:bodyPr wrap="square" lIns="36576" rIns="36576" tIns="18288" bIns="18288">
            <a:spAutoFit/>
          </a:bodyPr>
          <a:lstStyle/>
          <a:p>
            <a:pPr>
              <a:lnSpc>
                <a:spcPct val="95000"/>
              </a:lnSpc>
              <a:spcBef>
                <a:spcPts val="0"/>
              </a:spcBef>
              <a:spcAft>
                <a:spcPts val="0"/>
              </a:spcAft>
            </a:pPr>
            <a:r>
              <a:rPr sz="1050" b="0">
                <a:solidFill>
                  <a:srgbClr val="5A626C"/>
                </a:solidFill>
                <a:latin typeface="Arial"/>
              </a:rPr>
              <a:t>typed into a form</a:t>
            </a:r>
          </a:p>
        </p:txBody>
      </p:sp>
      <p:sp>
        <p:nvSpPr>
          <p:cNvPr id="15379" name="TextBox 15378"/>
          <p:cNvSpPr txBox="1"/>
          <p:nvPr/>
        </p:nvSpPr>
        <p:spPr>
          <a:xfrm>
            <a:off x="4160520" y="3300984"/>
            <a:ext cx="2468880" cy="237744"/>
          </a:xfrm>
          <a:prstGeom prst="rect">
            <a:avLst/>
          </a:prstGeom>
          <a:noFill/>
        </p:spPr>
        <p:txBody>
          <a:bodyPr wrap="square" lIns="36576" rIns="36576" tIns="18288" bIns="18288">
            <a:spAutoFit/>
          </a:bodyPr>
          <a:lstStyle/>
          <a:p>
            <a:pPr>
              <a:lnSpc>
                <a:spcPct val="95000"/>
              </a:lnSpc>
              <a:spcBef>
                <a:spcPts val="0"/>
              </a:spcBef>
              <a:spcAft>
                <a:spcPts val="0"/>
              </a:spcAft>
            </a:pPr>
            <a:r>
              <a:rPr sz="1050" b="1">
                <a:solidFill>
                  <a:srgbClr val="262B33"/>
                </a:solidFill>
                <a:latin typeface="Arial"/>
              </a:rPr>
              <a:t>authenticated REST API</a:t>
            </a:r>
          </a:p>
        </p:txBody>
      </p:sp>
      <p:sp>
        <p:nvSpPr>
          <p:cNvPr id="15380" name="Rounded Rectangle 15379"/>
          <p:cNvSpPr/>
          <p:nvPr/>
        </p:nvSpPr>
        <p:spPr>
          <a:xfrm>
            <a:off x="6903720" y="1920240"/>
            <a:ext cx="4846320" cy="877824"/>
          </a:xfrm>
          <a:prstGeom prst="roundRect">
            <a:avLst>
              <a:gd name="adj" fmla="val 6000"/>
            </a:avLst>
          </a:prstGeom>
          <a:solidFill>
            <a:srgbClr val="EC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81" name="TextBox 15380"/>
          <p:cNvSpPr txBox="1"/>
          <p:nvPr/>
        </p:nvSpPr>
        <p:spPr>
          <a:xfrm>
            <a:off x="7040880" y="1956816"/>
            <a:ext cx="4572000" cy="219456"/>
          </a:xfrm>
          <a:prstGeom prst="rect">
            <a:avLst/>
          </a:prstGeom>
          <a:noFill/>
        </p:spPr>
        <p:txBody>
          <a:bodyPr wrap="square" lIns="36576" rIns="36576" tIns="18288" bIns="18288">
            <a:spAutoFit/>
          </a:bodyPr>
          <a:lstStyle/>
          <a:p>
            <a:pPr>
              <a:lnSpc>
                <a:spcPct val="95000"/>
              </a:lnSpc>
              <a:spcBef>
                <a:spcPts val="0"/>
              </a:spcBef>
              <a:spcAft>
                <a:spcPts val="0"/>
              </a:spcAft>
            </a:pPr>
            <a:r>
              <a:rPr sz="1050" b="1">
                <a:solidFill>
                  <a:srgbClr val="4B3F8C"/>
                </a:solidFill>
                <a:latin typeface="Arial"/>
              </a:rPr>
              <a:t>THE INDEX IN ONE LINE</a:t>
            </a:r>
          </a:p>
        </p:txBody>
      </p:sp>
      <p:sp>
        <p:nvSpPr>
          <p:cNvPr id="15382" name="TextBox 15381"/>
          <p:cNvSpPr txBox="1"/>
          <p:nvPr/>
        </p:nvSpPr>
        <p:spPr>
          <a:xfrm>
            <a:off x="7040880" y="2176272"/>
            <a:ext cx="4572000" cy="237744"/>
          </a:xfrm>
          <a:prstGeom prst="rect">
            <a:avLst/>
          </a:prstGeom>
          <a:noFill/>
        </p:spPr>
        <p:txBody>
          <a:bodyPr wrap="square" lIns="36576" rIns="36576" tIns="18288" bIns="18288">
            <a:spAutoFit/>
          </a:bodyPr>
          <a:lstStyle/>
          <a:p>
            <a:pPr>
              <a:lnSpc>
                <a:spcPct val="95000"/>
              </a:lnSpc>
              <a:spcBef>
                <a:spcPts val="0"/>
              </a:spcBef>
              <a:spcAft>
                <a:spcPts val="0"/>
              </a:spcAft>
            </a:pPr>
            <a:r>
              <a:rPr sz="1050" b="1">
                <a:solidFill>
                  <a:srgbClr val="262B33"/>
                </a:solidFill>
                <a:latin typeface="Arial"/>
              </a:rPr>
              <a:t>APIxₜ = 100 × exp( Σ wᵢ·ln(Pᵢ,ₜ/Pᵢ,₀) / Σ wᵢ )</a:t>
            </a:r>
          </a:p>
        </p:txBody>
      </p:sp>
      <p:sp>
        <p:nvSpPr>
          <p:cNvPr id="15383" name="TextBox 15382"/>
          <p:cNvSpPr txBox="1"/>
          <p:nvPr/>
        </p:nvSpPr>
        <p:spPr>
          <a:xfrm>
            <a:off x="7040880" y="2414016"/>
            <a:ext cx="4572000" cy="329184"/>
          </a:xfrm>
          <a:prstGeom prst="rect">
            <a:avLst/>
          </a:prstGeom>
          <a:noFill/>
        </p:spPr>
        <p:txBody>
          <a:bodyPr wrap="square" lIns="36576" rIns="36576" tIns="18288" bIns="18288">
            <a:spAutoFit/>
          </a:bodyPr>
          <a:lstStyle/>
          <a:p>
            <a:pPr>
              <a:lnSpc>
                <a:spcPct val="95000"/>
              </a:lnSpc>
              <a:spcBef>
                <a:spcPts val="0"/>
              </a:spcBef>
              <a:spcAft>
                <a:spcPts val="0"/>
              </a:spcAft>
            </a:pPr>
            <a:r>
              <a:rPr sz="1000" b="0">
                <a:solidFill>
                  <a:srgbClr val="5A626C"/>
                </a:solidFill>
                <a:latin typeface="Arial"/>
              </a:rPr>
              <a:t>Weighted Jevons — the elementary-aggregate formula Eurostat and the ONS use for their own price indices.</a:t>
            </a:r>
          </a:p>
        </p:txBody>
      </p:sp>
      <p:sp>
        <p:nvSpPr>
          <p:cNvPr id="15384" name="Rounded Rectangle 15383"/>
          <p:cNvSpPr/>
          <p:nvPr/>
        </p:nvSpPr>
        <p:spPr>
          <a:xfrm>
            <a:off x="6903720" y="2834640"/>
            <a:ext cx="4846320" cy="822960"/>
          </a:xfrm>
          <a:prstGeom prst="roundRect">
            <a:avLst>
              <a:gd name="adj" fmla="val 6000"/>
            </a:avLst>
          </a:prstGeom>
          <a:solidFill>
            <a:srgbClr val="E2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85" name="TextBox 15384"/>
          <p:cNvSpPr txBox="1"/>
          <p:nvPr/>
        </p:nvSpPr>
        <p:spPr>
          <a:xfrm>
            <a:off x="7040880" y="2871216"/>
            <a:ext cx="4572000" cy="219456"/>
          </a:xfrm>
          <a:prstGeom prst="rect">
            <a:avLst/>
          </a:prstGeom>
          <a:noFill/>
        </p:spPr>
        <p:txBody>
          <a:bodyPr wrap="square" lIns="36576" rIns="36576" tIns="18288" bIns="18288">
            <a:spAutoFit/>
          </a:bodyPr>
          <a:lstStyle/>
          <a:p>
            <a:pPr>
              <a:lnSpc>
                <a:spcPct val="95000"/>
              </a:lnSpc>
              <a:spcBef>
                <a:spcPts val="0"/>
              </a:spcBef>
              <a:spcAft>
                <a:spcPts val="0"/>
              </a:spcAft>
            </a:pPr>
            <a:r>
              <a:rPr sz="1050" b="1">
                <a:solidFill>
                  <a:srgbClr val="0E7C86"/>
                </a:solidFill>
                <a:latin typeface="Arial"/>
              </a:rPr>
              <a:t>WHAT THE TERMS MEAN</a:t>
            </a:r>
          </a:p>
        </p:txBody>
      </p:sp>
      <p:sp>
        <p:nvSpPr>
          <p:cNvPr id="15386" name="TextBox 15385"/>
          <p:cNvSpPr txBox="1"/>
          <p:nvPr/>
        </p:nvSpPr>
        <p:spPr>
          <a:xfrm>
            <a:off x="7040880" y="3072384"/>
            <a:ext cx="777240" cy="146304"/>
          </a:xfrm>
          <a:prstGeom prst="rect">
            <a:avLst/>
          </a:prstGeom>
          <a:noFill/>
        </p:spPr>
        <p:txBody>
          <a:bodyPr wrap="square" lIns="36576" rIns="36576" tIns="18288" bIns="18288">
            <a:spAutoFit/>
          </a:bodyPr>
          <a:lstStyle/>
          <a:p>
            <a:pPr>
              <a:lnSpc>
                <a:spcPct val="95000"/>
              </a:lnSpc>
              <a:spcBef>
                <a:spcPts val="0"/>
              </a:spcBef>
              <a:spcAft>
                <a:spcPts val="0"/>
              </a:spcAft>
            </a:pPr>
            <a:r>
              <a:rPr sz="1000" b="1">
                <a:solidFill>
                  <a:srgbClr val="0E7C86"/>
                </a:solidFill>
                <a:latin typeface="Arial"/>
              </a:rPr>
              <a:t>Basket</a:t>
            </a:r>
          </a:p>
        </p:txBody>
      </p:sp>
      <p:sp>
        <p:nvSpPr>
          <p:cNvPr id="15387" name="TextBox 15386"/>
          <p:cNvSpPr txBox="1"/>
          <p:nvPr/>
        </p:nvSpPr>
        <p:spPr>
          <a:xfrm>
            <a:off x="7818120" y="3072384"/>
            <a:ext cx="3840480" cy="146304"/>
          </a:xfrm>
          <a:prstGeom prst="rect">
            <a:avLst/>
          </a:prstGeom>
          <a:noFill/>
        </p:spPr>
        <p:txBody>
          <a:bodyPr wrap="square" lIns="36576" rIns="36576" tIns="18288" bIns="18288">
            <a:spAutoFit/>
          </a:bodyPr>
          <a:lstStyle/>
          <a:p>
            <a:pPr>
              <a:lnSpc>
                <a:spcPct val="95000"/>
              </a:lnSpc>
              <a:spcBef>
                <a:spcPts val="0"/>
              </a:spcBef>
              <a:spcAft>
                <a:spcPts val="0"/>
              </a:spcAft>
            </a:pPr>
            <a:r>
              <a:rPr sz="1000" b="0">
                <a:solidFill>
                  <a:srgbClr val="262B33"/>
                </a:solidFill>
                <a:latin typeface="Arial"/>
              </a:rPr>
              <a:t>15 city pairs × 5 lead times = 75 cells</a:t>
            </a:r>
          </a:p>
        </p:txBody>
      </p:sp>
      <p:sp>
        <p:nvSpPr>
          <p:cNvPr id="15388" name="TextBox 15387"/>
          <p:cNvSpPr txBox="1"/>
          <p:nvPr/>
        </p:nvSpPr>
        <p:spPr>
          <a:xfrm>
            <a:off x="7040880" y="3218688"/>
            <a:ext cx="777240" cy="146304"/>
          </a:xfrm>
          <a:prstGeom prst="rect">
            <a:avLst/>
          </a:prstGeom>
          <a:noFill/>
        </p:spPr>
        <p:txBody>
          <a:bodyPr wrap="square" lIns="36576" rIns="36576" tIns="18288" bIns="18288">
            <a:spAutoFit/>
          </a:bodyPr>
          <a:lstStyle/>
          <a:p>
            <a:pPr>
              <a:lnSpc>
                <a:spcPct val="95000"/>
              </a:lnSpc>
              <a:spcBef>
                <a:spcPts val="0"/>
              </a:spcBef>
              <a:spcAft>
                <a:spcPts val="0"/>
              </a:spcAft>
            </a:pPr>
            <a:r>
              <a:rPr sz="1000" b="1">
                <a:solidFill>
                  <a:srgbClr val="0E7C86"/>
                </a:solidFill>
                <a:latin typeface="Arial"/>
              </a:rPr>
              <a:t>Price</a:t>
            </a:r>
          </a:p>
        </p:txBody>
      </p:sp>
      <p:sp>
        <p:nvSpPr>
          <p:cNvPr id="15389" name="TextBox 15388"/>
          <p:cNvSpPr txBox="1"/>
          <p:nvPr/>
        </p:nvSpPr>
        <p:spPr>
          <a:xfrm>
            <a:off x="7818120" y="3218688"/>
            <a:ext cx="3840480" cy="146304"/>
          </a:xfrm>
          <a:prstGeom prst="rect">
            <a:avLst/>
          </a:prstGeom>
          <a:noFill/>
        </p:spPr>
        <p:txBody>
          <a:bodyPr wrap="square" lIns="36576" rIns="36576" tIns="18288" bIns="18288">
            <a:spAutoFit/>
          </a:bodyPr>
          <a:lstStyle/>
          <a:p>
            <a:pPr>
              <a:lnSpc>
                <a:spcPct val="95000"/>
              </a:lnSpc>
              <a:spcBef>
                <a:spcPts val="0"/>
              </a:spcBef>
              <a:spcAft>
                <a:spcPts val="0"/>
              </a:spcAft>
            </a:pPr>
            <a:r>
              <a:rPr sz="1000" b="0">
                <a:solidFill>
                  <a:srgbClr val="262B33"/>
                </a:solidFill>
                <a:latin typeface="Arial"/>
              </a:rPr>
              <a:t>minimum logical fare, no add-ons</a:t>
            </a:r>
          </a:p>
        </p:txBody>
      </p:sp>
      <p:sp>
        <p:nvSpPr>
          <p:cNvPr id="15390" name="TextBox 15389"/>
          <p:cNvSpPr txBox="1"/>
          <p:nvPr/>
        </p:nvSpPr>
        <p:spPr>
          <a:xfrm>
            <a:off x="7040880" y="3364991"/>
            <a:ext cx="777240" cy="146304"/>
          </a:xfrm>
          <a:prstGeom prst="rect">
            <a:avLst/>
          </a:prstGeom>
          <a:noFill/>
        </p:spPr>
        <p:txBody>
          <a:bodyPr wrap="square" lIns="36576" rIns="36576" tIns="18288" bIns="18288">
            <a:spAutoFit/>
          </a:bodyPr>
          <a:lstStyle/>
          <a:p>
            <a:pPr>
              <a:lnSpc>
                <a:spcPct val="95000"/>
              </a:lnSpc>
              <a:spcBef>
                <a:spcPts val="0"/>
              </a:spcBef>
              <a:spcAft>
                <a:spcPts val="0"/>
              </a:spcAft>
            </a:pPr>
            <a:r>
              <a:rPr sz="1000" b="1">
                <a:solidFill>
                  <a:srgbClr val="0E7C86"/>
                </a:solidFill>
                <a:latin typeface="Arial"/>
              </a:rPr>
              <a:t>Weight</a:t>
            </a:r>
          </a:p>
        </p:txBody>
      </p:sp>
      <p:sp>
        <p:nvSpPr>
          <p:cNvPr id="15391" name="TextBox 15390"/>
          <p:cNvSpPr txBox="1"/>
          <p:nvPr/>
        </p:nvSpPr>
        <p:spPr>
          <a:xfrm>
            <a:off x="7818120" y="3364991"/>
            <a:ext cx="3840480" cy="146304"/>
          </a:xfrm>
          <a:prstGeom prst="rect">
            <a:avLst/>
          </a:prstGeom>
          <a:noFill/>
        </p:spPr>
        <p:txBody>
          <a:bodyPr wrap="square" lIns="36576" rIns="36576" tIns="18288" bIns="18288">
            <a:spAutoFit/>
          </a:bodyPr>
          <a:lstStyle/>
          <a:p>
            <a:pPr>
              <a:lnSpc>
                <a:spcPct val="95000"/>
              </a:lnSpc>
              <a:spcBef>
                <a:spcPts val="0"/>
              </a:spcBef>
              <a:spcAft>
                <a:spcPts val="0"/>
              </a:spcAft>
            </a:pPr>
            <a:r>
              <a:rPr sz="1000" b="0">
                <a:solidFill>
                  <a:srgbClr val="262B33"/>
                </a:solidFill>
                <a:latin typeface="Arial"/>
              </a:rPr>
              <a:t>route seat share × lead-time share</a:t>
            </a:r>
          </a:p>
        </p:txBody>
      </p:sp>
      <p:sp>
        <p:nvSpPr>
          <p:cNvPr id="15392" name="TextBox 15391"/>
          <p:cNvSpPr txBox="1"/>
          <p:nvPr/>
        </p:nvSpPr>
        <p:spPr>
          <a:xfrm>
            <a:off x="7040880" y="3511296"/>
            <a:ext cx="777240" cy="146304"/>
          </a:xfrm>
          <a:prstGeom prst="rect">
            <a:avLst/>
          </a:prstGeom>
          <a:noFill/>
        </p:spPr>
        <p:txBody>
          <a:bodyPr wrap="square" lIns="36576" rIns="36576" tIns="18288" bIns="18288">
            <a:spAutoFit/>
          </a:bodyPr>
          <a:lstStyle/>
          <a:p>
            <a:pPr>
              <a:lnSpc>
                <a:spcPct val="95000"/>
              </a:lnSpc>
              <a:spcBef>
                <a:spcPts val="0"/>
              </a:spcBef>
              <a:spcAft>
                <a:spcPts val="0"/>
              </a:spcAft>
            </a:pPr>
            <a:r>
              <a:rPr sz="1000" b="1">
                <a:solidFill>
                  <a:srgbClr val="0E7C86"/>
                </a:solidFill>
                <a:latin typeface="Arial"/>
              </a:rPr>
              <a:t>Base</a:t>
            </a:r>
          </a:p>
        </p:txBody>
      </p:sp>
      <p:sp>
        <p:nvSpPr>
          <p:cNvPr id="15393" name="TextBox 15392"/>
          <p:cNvSpPr txBox="1"/>
          <p:nvPr/>
        </p:nvSpPr>
        <p:spPr>
          <a:xfrm>
            <a:off x="7818120" y="3511296"/>
            <a:ext cx="3840480" cy="146304"/>
          </a:xfrm>
          <a:prstGeom prst="rect">
            <a:avLst/>
          </a:prstGeom>
          <a:noFill/>
        </p:spPr>
        <p:txBody>
          <a:bodyPr wrap="square" lIns="36576" rIns="36576" tIns="18288" bIns="18288">
            <a:spAutoFit/>
          </a:bodyPr>
          <a:lstStyle/>
          <a:p>
            <a:pPr>
              <a:lnSpc>
                <a:spcPct val="95000"/>
              </a:lnSpc>
              <a:spcBef>
                <a:spcPts val="0"/>
              </a:spcBef>
              <a:spcAft>
                <a:spcPts val="0"/>
              </a:spcAft>
            </a:pPr>
            <a:r>
              <a:rPr sz="1000" b="0">
                <a:solidFill>
                  <a:srgbClr val="262B33"/>
                </a:solidFill>
                <a:latin typeface="Arial"/>
              </a:rPr>
              <a:t>August 2026 = 100</a:t>
            </a:r>
          </a:p>
        </p:txBody>
      </p:sp>
      <p:sp>
        <p:nvSpPr>
          <p:cNvPr id="15394" name="TextBox 15393"/>
          <p:cNvSpPr txBox="1"/>
          <p:nvPr/>
        </p:nvSpPr>
        <p:spPr>
          <a:xfrm>
            <a:off x="411480" y="3730752"/>
            <a:ext cx="11338560" cy="274320"/>
          </a:xfrm>
          <a:prstGeom prst="rect">
            <a:avLst/>
          </a:prstGeom>
          <a:noFill/>
        </p:spPr>
        <p:txBody>
          <a:bodyPr wrap="square" lIns="36576" rIns="36576" tIns="18288" bIns="18288">
            <a:spAutoFit/>
          </a:bodyPr>
          <a:lstStyle/>
          <a:p>
            <a:pPr>
              <a:lnSpc>
                <a:spcPct val="95000"/>
              </a:lnSpc>
              <a:spcBef>
                <a:spcPts val="0"/>
              </a:spcBef>
              <a:spcAft>
                <a:spcPts val="0"/>
              </a:spcAft>
            </a:pPr>
            <a:r>
              <a:rPr sz="1400" b="1">
                <a:solidFill>
                  <a:srgbClr val="1F497D"/>
                </a:solidFill>
                <a:latin typeface="Arial"/>
              </a:rPr>
              <a:t>Why it stands out</a:t>
            </a:r>
          </a:p>
        </p:txBody>
      </p:sp>
      <p:sp>
        <p:nvSpPr>
          <p:cNvPr id="15395" name="Rectangle 15394"/>
          <p:cNvSpPr/>
          <p:nvPr/>
        </p:nvSpPr>
        <p:spPr>
          <a:xfrm>
            <a:off x="429768" y="4005072"/>
            <a:ext cx="1371600" cy="25603"/>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6" name="Rounded Rectangle 15395"/>
          <p:cNvSpPr/>
          <p:nvPr/>
        </p:nvSpPr>
        <p:spPr>
          <a:xfrm>
            <a:off x="411480" y="4078224"/>
            <a:ext cx="3621024" cy="1060704"/>
          </a:xfrm>
          <a:prstGeom prst="roundRect">
            <a:avLst>
              <a:gd name="adj" fmla="val 6000"/>
            </a:avLst>
          </a:prstGeom>
          <a:solidFill>
            <a:srgbClr val="E8F0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09728" bIns="18288"/>
          <a:lstStyle/>
          <a:p>
            <a:pPr algn="ctr">
              <a:lnSpc>
                <a:spcPct val="95000"/>
              </a:lnSpc>
              <a:spcBef>
                <a:spcPts val="0"/>
              </a:spcBef>
              <a:spcAft>
                <a:spcPts val="0"/>
              </a:spcAft>
            </a:pPr>
            <a:r>
              <a:rPr sz="1250" b="1">
                <a:solidFill>
                  <a:srgbClr val="4F81BD"/>
                </a:solidFill>
                <a:latin typeface="Arial"/>
              </a:rPr>
              <a:t>The standard method</a:t>
            </a:r>
          </a:p>
          <a:p>
            <a:pPr>
              <a:lnSpc>
                <a:spcPct val="95000"/>
              </a:lnSpc>
              <a:spcBef>
                <a:spcPts val="500"/>
              </a:spcBef>
              <a:spcAft>
                <a:spcPts val="0"/>
              </a:spcAft>
            </a:pPr>
            <a:r>
              <a:rPr sz="1100" b="0">
                <a:solidFill>
                  <a:srgbClr val="262B33"/>
                </a:solidFill>
                <a:latin typeface="Arial"/>
              </a:rPr>
              <a:t>Weighted Jevons on minimum logical fares — the elementary-aggregate method Eurostat and ONS use for their own price indices.</a:t>
            </a:r>
          </a:p>
        </p:txBody>
      </p:sp>
      <p:sp>
        <p:nvSpPr>
          <p:cNvPr id="15397" name="Rectangle 15396"/>
          <p:cNvSpPr/>
          <p:nvPr/>
        </p:nvSpPr>
        <p:spPr>
          <a:xfrm>
            <a:off x="411480" y="4078224"/>
            <a:ext cx="3621024" cy="64008"/>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8" name="Rounded Rectangle 15397"/>
          <p:cNvSpPr/>
          <p:nvPr/>
        </p:nvSpPr>
        <p:spPr>
          <a:xfrm>
            <a:off x="4270248" y="4078224"/>
            <a:ext cx="3621024" cy="1060704"/>
          </a:xfrm>
          <a:prstGeom prst="roundRect">
            <a:avLst>
              <a:gd name="adj" fmla="val 6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09728" bIns="18288"/>
          <a:lstStyle/>
          <a:p>
            <a:pPr algn="ctr">
              <a:lnSpc>
                <a:spcPct val="95000"/>
              </a:lnSpc>
              <a:spcBef>
                <a:spcPts val="0"/>
              </a:spcBef>
              <a:spcAft>
                <a:spcPts val="0"/>
              </a:spcAft>
            </a:pPr>
            <a:r>
              <a:rPr sz="1250" b="1">
                <a:solidFill>
                  <a:srgbClr val="1B8A5A"/>
                </a:solidFill>
                <a:latin typeface="Arial"/>
              </a:rPr>
              <a:t>Weighting is a matrix</a:t>
            </a:r>
          </a:p>
          <a:p>
            <a:pPr>
              <a:lnSpc>
                <a:spcPct val="95000"/>
              </a:lnSpc>
              <a:spcBef>
                <a:spcPts val="500"/>
              </a:spcBef>
              <a:spcAft>
                <a:spcPts val="0"/>
              </a:spcAft>
            </a:pPr>
            <a:r>
              <a:rPr sz="1100" b="0">
                <a:solidFill>
                  <a:srgbClr val="262B33"/>
                </a:solidFill>
                <a:latin typeface="Arial"/>
              </a:rPr>
              <a:t>Every cell carries route seat share × booking lead time, so Delhi–Mumbai moves the index three times as hard as Delhi–Srinagar.</a:t>
            </a:r>
          </a:p>
        </p:txBody>
      </p:sp>
      <p:sp>
        <p:nvSpPr>
          <p:cNvPr id="15399" name="Rectangle 15398"/>
          <p:cNvSpPr/>
          <p:nvPr/>
        </p:nvSpPr>
        <p:spPr>
          <a:xfrm>
            <a:off x="4270248" y="4078224"/>
            <a:ext cx="3621024" cy="64008"/>
          </a:xfrm>
          <a:prstGeom prst="rect">
            <a:avLst/>
          </a:prstGeom>
          <a:solidFill>
            <a:srgbClr val="1B8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0" name="Rounded Rectangle 15399"/>
          <p:cNvSpPr/>
          <p:nvPr/>
        </p:nvSpPr>
        <p:spPr>
          <a:xfrm>
            <a:off x="8129015" y="4078224"/>
            <a:ext cx="3621024" cy="1060704"/>
          </a:xfrm>
          <a:prstGeom prst="roundRect">
            <a:avLst>
              <a:gd name="adj" fmla="val 6000"/>
            </a:avLst>
          </a:prstGeom>
          <a:solidFill>
            <a:srgbClr val="FB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09728" bIns="18288"/>
          <a:lstStyle/>
          <a:p>
            <a:pPr algn="ctr">
              <a:lnSpc>
                <a:spcPct val="95000"/>
              </a:lnSpc>
              <a:spcBef>
                <a:spcPts val="0"/>
              </a:spcBef>
              <a:spcAft>
                <a:spcPts val="0"/>
              </a:spcAft>
            </a:pPr>
            <a:r>
              <a:rPr sz="1250" b="1">
                <a:solidFill>
                  <a:srgbClr val="C77700"/>
                </a:solidFill>
                <a:latin typeface="Arial"/>
              </a:rPr>
              <a:t>It knows when not to publish</a:t>
            </a:r>
          </a:p>
          <a:p>
            <a:pPr>
              <a:lnSpc>
                <a:spcPct val="95000"/>
              </a:lnSpc>
              <a:spcBef>
                <a:spcPts val="500"/>
              </a:spcBef>
              <a:spcAft>
                <a:spcPts val="0"/>
              </a:spcAft>
            </a:pPr>
            <a:r>
              <a:rPr sz="1100" b="0">
                <a:solidFill>
                  <a:srgbClr val="262B33"/>
                </a:solidFill>
                <a:latin typeface="Arial"/>
              </a:rPr>
              <a:t>Below 60% basket coverage the figure ships marked provisional, with the reason attached. An index that admits thin coverage beats one that never does.</a:t>
            </a:r>
          </a:p>
        </p:txBody>
      </p:sp>
      <p:sp>
        <p:nvSpPr>
          <p:cNvPr id="15401" name="Rectangle 15400"/>
          <p:cNvSpPr/>
          <p:nvPr/>
        </p:nvSpPr>
        <p:spPr>
          <a:xfrm>
            <a:off x="8129015" y="4078224"/>
            <a:ext cx="3621024" cy="64008"/>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2" name="Rounded Rectangle 15401"/>
          <p:cNvSpPr/>
          <p:nvPr/>
        </p:nvSpPr>
        <p:spPr>
          <a:xfrm>
            <a:off x="411480" y="5248656"/>
            <a:ext cx="3621024" cy="1060704"/>
          </a:xfrm>
          <a:prstGeom prst="roundRect">
            <a:avLst>
              <a:gd name="adj" fmla="val 6000"/>
            </a:avLst>
          </a:prstGeom>
          <a:solidFill>
            <a:srgbClr val="EC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09728" bIns="18288"/>
          <a:lstStyle/>
          <a:p>
            <a:pPr algn="ctr">
              <a:lnSpc>
                <a:spcPct val="95000"/>
              </a:lnSpc>
              <a:spcBef>
                <a:spcPts val="0"/>
              </a:spcBef>
              <a:spcAft>
                <a:spcPts val="0"/>
              </a:spcAft>
            </a:pPr>
            <a:r>
              <a:rPr sz="1250" b="1">
                <a:solidFill>
                  <a:srgbClr val="4B3F8C"/>
                </a:solidFill>
                <a:latin typeface="Arial"/>
              </a:rPr>
              <a:t>Machine-readable for MoSPI</a:t>
            </a:r>
          </a:p>
          <a:p>
            <a:pPr>
              <a:lnSpc>
                <a:spcPct val="95000"/>
              </a:lnSpc>
              <a:spcBef>
                <a:spcPts val="500"/>
              </a:spcBef>
              <a:spcAft>
                <a:spcPts val="0"/>
              </a:spcAft>
            </a:pPr>
            <a:r>
              <a:rPr sz="1100" b="0">
                <a:solidFill>
                  <a:srgbClr val="262B33"/>
                </a:solidFill>
                <a:latin typeface="Arial"/>
              </a:rPr>
              <a:t>One authenticated REST call returns the index with its method, coverage and revision history. Nobody retypes a number off a screen.</a:t>
            </a:r>
          </a:p>
        </p:txBody>
      </p:sp>
      <p:sp>
        <p:nvSpPr>
          <p:cNvPr id="15403" name="Rectangle 15402"/>
          <p:cNvSpPr/>
          <p:nvPr/>
        </p:nvSpPr>
        <p:spPr>
          <a:xfrm>
            <a:off x="411480" y="5248656"/>
            <a:ext cx="3621024" cy="64008"/>
          </a:xfrm>
          <a:prstGeom prst="rect">
            <a:avLst/>
          </a:prstGeom>
          <a:solidFill>
            <a:srgbClr val="4B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4" name="Rounded Rectangle 15403"/>
          <p:cNvSpPr/>
          <p:nvPr/>
        </p:nvSpPr>
        <p:spPr>
          <a:xfrm>
            <a:off x="4270248" y="5248656"/>
            <a:ext cx="3621024" cy="1060704"/>
          </a:xfrm>
          <a:prstGeom prst="roundRect">
            <a:avLst>
              <a:gd name="adj" fmla="val 6000"/>
            </a:avLst>
          </a:prstGeom>
          <a:solidFill>
            <a:srgbClr val="E2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09728" bIns="18288"/>
          <a:lstStyle/>
          <a:p>
            <a:pPr algn="ctr">
              <a:lnSpc>
                <a:spcPct val="95000"/>
              </a:lnSpc>
              <a:spcBef>
                <a:spcPts val="0"/>
              </a:spcBef>
              <a:spcAft>
                <a:spcPts val="0"/>
              </a:spcAft>
            </a:pPr>
            <a:r>
              <a:rPr sz="1250" b="1">
                <a:solidFill>
                  <a:srgbClr val="0E7C86"/>
                </a:solidFill>
                <a:latin typeface="Arial"/>
              </a:rPr>
              <a:t>Compliance by construction</a:t>
            </a:r>
          </a:p>
          <a:p>
            <a:pPr>
              <a:lnSpc>
                <a:spcPct val="95000"/>
              </a:lnSpc>
              <a:spcBef>
                <a:spcPts val="500"/>
              </a:spcBef>
              <a:spcAft>
                <a:spcPts val="0"/>
              </a:spcAft>
            </a:pPr>
            <a:r>
              <a:rPr sz="1100" b="0">
                <a:solidFill>
                  <a:srgbClr val="262B33"/>
                </a:solidFill>
                <a:latin typeface="Arial"/>
              </a:rPr>
              <a:t>robots.txt is re-checked to RFC 9309 before every request. We wrote the parser ourselves because Python's standard one gets it wrong.</a:t>
            </a:r>
          </a:p>
        </p:txBody>
      </p:sp>
      <p:sp>
        <p:nvSpPr>
          <p:cNvPr id="15405" name="Rectangle 15404"/>
          <p:cNvSpPr/>
          <p:nvPr/>
        </p:nvSpPr>
        <p:spPr>
          <a:xfrm>
            <a:off x="4270248" y="5248656"/>
            <a:ext cx="3621024" cy="6400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6" name="Rounded Rectangle 15405"/>
          <p:cNvSpPr/>
          <p:nvPr/>
        </p:nvSpPr>
        <p:spPr>
          <a:xfrm>
            <a:off x="8129015" y="5248656"/>
            <a:ext cx="3621024" cy="1060704"/>
          </a:xfrm>
          <a:prstGeom prst="roundRect">
            <a:avLst>
              <a:gd name="adj" fmla="val 6000"/>
            </a:avLst>
          </a:prstGeom>
          <a:solidFill>
            <a:srgbClr val="F4EA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09728" bIns="18288"/>
          <a:lstStyle/>
          <a:p>
            <a:pPr algn="ctr">
              <a:lnSpc>
                <a:spcPct val="95000"/>
              </a:lnSpc>
              <a:spcBef>
                <a:spcPts val="0"/>
              </a:spcBef>
              <a:spcAft>
                <a:spcPts val="0"/>
              </a:spcAft>
            </a:pPr>
            <a:r>
              <a:rPr sz="1250" b="1">
                <a:solidFill>
                  <a:srgbClr val="7A3E6B"/>
                </a:solidFill>
                <a:latin typeface="Arial"/>
              </a:rPr>
              <a:t>It never estimates</a:t>
            </a:r>
          </a:p>
          <a:p>
            <a:pPr>
              <a:lnSpc>
                <a:spcPct val="95000"/>
              </a:lnSpc>
              <a:spcBef>
                <a:spcPts val="500"/>
              </a:spcBef>
              <a:spcAft>
                <a:spcPts val="0"/>
              </a:spcAft>
            </a:pPr>
            <a:r>
              <a:rPr sz="1100" b="0">
                <a:solidFill>
                  <a:srgbClr val="262B33"/>
                </a:solidFill>
                <a:latin typeface="Arial"/>
              </a:rPr>
              <a:t>Fields a portal does not publish stay NULL. Cells with too few observations are excluded, not filled in — the system says when it does not know.</a:t>
            </a:r>
          </a:p>
        </p:txBody>
      </p:sp>
      <p:sp>
        <p:nvSpPr>
          <p:cNvPr id="15407" name="Rectangle 15406"/>
          <p:cNvSpPr/>
          <p:nvPr/>
        </p:nvSpPr>
        <p:spPr>
          <a:xfrm>
            <a:off x="8129015" y="5248656"/>
            <a:ext cx="3621024" cy="64008"/>
          </a:xfrm>
          <a:prstGeom prst="rect">
            <a:avLst/>
          </a:prstGeom>
          <a:solidFill>
            <a:srgbClr val="7A3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lgn="ctr"/>
            <a:r>
              <a:rPr sz="2800" b="1">
                <a:solidFill>
                  <a:srgbClr val="1F497D"/>
                </a:solidFill>
                <a:latin typeface="Times New Roman"/>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50" b="1"/>
              <a:t>Fare Enough 101</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411480" y="1060704"/>
            <a:ext cx="11338560" cy="274320"/>
          </a:xfrm>
          <a:prstGeom prst="rect">
            <a:avLst/>
          </a:prstGeom>
          <a:noFill/>
        </p:spPr>
        <p:txBody>
          <a:bodyPr wrap="square" lIns="36576" rIns="36576" tIns="18288" bIns="18288">
            <a:spAutoFit/>
          </a:bodyPr>
          <a:lstStyle/>
          <a:p>
            <a:pPr>
              <a:lnSpc>
                <a:spcPct val="95000"/>
              </a:lnSpc>
              <a:spcBef>
                <a:spcPts val="0"/>
              </a:spcBef>
              <a:spcAft>
                <a:spcPts val="0"/>
              </a:spcAft>
            </a:pPr>
            <a:r>
              <a:rPr sz="1500" b="1">
                <a:solidFill>
                  <a:srgbClr val="1F497D"/>
                </a:solidFill>
                <a:latin typeface="Arial"/>
              </a:rPr>
              <a:t>How a published fare becomes a published index</a:t>
            </a:r>
          </a:p>
        </p:txBody>
      </p:sp>
      <p:sp>
        <p:nvSpPr>
          <p:cNvPr id="17411" name="Rectangle 17410"/>
          <p:cNvSpPr/>
          <p:nvPr/>
        </p:nvSpPr>
        <p:spPr>
          <a:xfrm>
            <a:off x="429768" y="1335024"/>
            <a:ext cx="1371600" cy="25603"/>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Rounded Rectangle 17411"/>
          <p:cNvSpPr/>
          <p:nvPr/>
        </p:nvSpPr>
        <p:spPr>
          <a:xfrm>
            <a:off x="411480" y="1444752"/>
            <a:ext cx="1719072" cy="1188720"/>
          </a:xfrm>
          <a:prstGeom prst="roundRect">
            <a:avLst>
              <a:gd name="adj" fmla="val 6000"/>
            </a:avLst>
          </a:prstGeom>
          <a:solidFill>
            <a:srgbClr val="E8F0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350" b="1">
                <a:solidFill>
                  <a:srgbClr val="4F81BD"/>
                </a:solidFill>
                <a:latin typeface="Arial"/>
              </a:rPr>
              <a:t>1  Collect</a:t>
            </a:r>
          </a:p>
          <a:p>
            <a:pPr>
              <a:lnSpc>
                <a:spcPct val="95000"/>
              </a:lnSpc>
              <a:spcBef>
                <a:spcPts val="400"/>
              </a:spcBef>
              <a:spcAft>
                <a:spcPts val="0"/>
              </a:spcAft>
            </a:pPr>
            <a:r>
              <a:rPr sz="1400" b="1">
                <a:solidFill>
                  <a:srgbClr val="1F497D"/>
                </a:solidFill>
                <a:latin typeface="Arial"/>
              </a:rPr>
              <a:t>every 10 min</a:t>
            </a:r>
          </a:p>
          <a:p>
            <a:pPr>
              <a:lnSpc>
                <a:spcPct val="95000"/>
              </a:lnSpc>
              <a:spcBef>
                <a:spcPts val="100"/>
              </a:spcBef>
              <a:spcAft>
                <a:spcPts val="0"/>
              </a:spcAft>
            </a:pPr>
            <a:r>
              <a:rPr sz="1050" b="0">
                <a:solidFill>
                  <a:srgbClr val="5A626C"/>
                </a:solidFill>
                <a:latin typeface="Arial"/>
              </a:rPr>
              <a:t>robots-gated</a:t>
            </a:r>
          </a:p>
        </p:txBody>
      </p:sp>
      <p:sp>
        <p:nvSpPr>
          <p:cNvPr id="17413" name="Rectangle 17412"/>
          <p:cNvSpPr/>
          <p:nvPr/>
        </p:nvSpPr>
        <p:spPr>
          <a:xfrm>
            <a:off x="411480" y="1444752"/>
            <a:ext cx="1719072" cy="64008"/>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4" name="Right Arrow 17413"/>
          <p:cNvSpPr/>
          <p:nvPr/>
        </p:nvSpPr>
        <p:spPr>
          <a:xfrm>
            <a:off x="2144268" y="1947672"/>
            <a:ext cx="173736" cy="182880"/>
          </a:xfrm>
          <a:prstGeom prst="rightArrow">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5" name="Rounded Rectangle 17414"/>
          <p:cNvSpPr/>
          <p:nvPr/>
        </p:nvSpPr>
        <p:spPr>
          <a:xfrm>
            <a:off x="2331720" y="1444752"/>
            <a:ext cx="1719072" cy="1188720"/>
          </a:xfrm>
          <a:prstGeom prst="roundRect">
            <a:avLst>
              <a:gd name="adj" fmla="val 6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350" b="1">
                <a:solidFill>
                  <a:srgbClr val="1B8A5A"/>
                </a:solidFill>
                <a:latin typeface="Arial"/>
              </a:rPr>
              <a:t>2  Extract</a:t>
            </a:r>
          </a:p>
          <a:p>
            <a:pPr>
              <a:lnSpc>
                <a:spcPct val="95000"/>
              </a:lnSpc>
              <a:spcBef>
                <a:spcPts val="400"/>
              </a:spcBef>
              <a:spcAft>
                <a:spcPts val="0"/>
              </a:spcAft>
            </a:pPr>
            <a:r>
              <a:rPr sz="1400" b="1">
                <a:solidFill>
                  <a:srgbClr val="1F497D"/>
                </a:solidFill>
                <a:latin typeface="Arial"/>
              </a:rPr>
              <a:t>13,000 → 3,700</a:t>
            </a:r>
          </a:p>
          <a:p>
            <a:pPr>
              <a:lnSpc>
                <a:spcPct val="95000"/>
              </a:lnSpc>
              <a:spcBef>
                <a:spcPts val="100"/>
              </a:spcBef>
              <a:spcAft>
                <a:spcPts val="0"/>
              </a:spcAft>
            </a:pPr>
            <a:r>
              <a:rPr sz="1050" b="0">
                <a:solidFill>
                  <a:srgbClr val="5A626C"/>
                </a:solidFill>
                <a:latin typeface="Arial"/>
              </a:rPr>
              <a:t>chars per page</a:t>
            </a:r>
          </a:p>
        </p:txBody>
      </p:sp>
      <p:sp>
        <p:nvSpPr>
          <p:cNvPr id="17416" name="Rectangle 17415"/>
          <p:cNvSpPr/>
          <p:nvPr/>
        </p:nvSpPr>
        <p:spPr>
          <a:xfrm>
            <a:off x="2331720" y="1444752"/>
            <a:ext cx="1719072" cy="64008"/>
          </a:xfrm>
          <a:prstGeom prst="rect">
            <a:avLst/>
          </a:prstGeom>
          <a:solidFill>
            <a:srgbClr val="1B8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7" name="Right Arrow 17416"/>
          <p:cNvSpPr/>
          <p:nvPr/>
        </p:nvSpPr>
        <p:spPr>
          <a:xfrm>
            <a:off x="4064507" y="1947672"/>
            <a:ext cx="173736" cy="182880"/>
          </a:xfrm>
          <a:prstGeom prst="rightArrow">
            <a:avLst/>
          </a:prstGeom>
          <a:solidFill>
            <a:srgbClr val="1B8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8" name="Rounded Rectangle 17417"/>
          <p:cNvSpPr/>
          <p:nvPr/>
        </p:nvSpPr>
        <p:spPr>
          <a:xfrm>
            <a:off x="4251960" y="1444752"/>
            <a:ext cx="1719072" cy="1188720"/>
          </a:xfrm>
          <a:prstGeom prst="roundRect">
            <a:avLst>
              <a:gd name="adj" fmla="val 6000"/>
            </a:avLst>
          </a:prstGeom>
          <a:solidFill>
            <a:srgbClr val="FB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350" b="1">
                <a:solidFill>
                  <a:srgbClr val="C77700"/>
                </a:solidFill>
                <a:latin typeface="Arial"/>
              </a:rPr>
              <a:t>3  Validate</a:t>
            </a:r>
          </a:p>
          <a:p>
            <a:pPr>
              <a:lnSpc>
                <a:spcPct val="95000"/>
              </a:lnSpc>
              <a:spcBef>
                <a:spcPts val="400"/>
              </a:spcBef>
              <a:spcAft>
                <a:spcPts val="0"/>
              </a:spcAft>
            </a:pPr>
            <a:r>
              <a:rPr sz="1400" b="1">
                <a:solidFill>
                  <a:srgbClr val="1F497D"/>
                </a:solidFill>
                <a:latin typeface="Arial"/>
              </a:rPr>
              <a:t>38 of 40</a:t>
            </a:r>
          </a:p>
          <a:p>
            <a:pPr>
              <a:lnSpc>
                <a:spcPct val="95000"/>
              </a:lnSpc>
              <a:spcBef>
                <a:spcPts val="100"/>
              </a:spcBef>
              <a:spcAft>
                <a:spcPts val="0"/>
              </a:spcAft>
            </a:pPr>
            <a:r>
              <a:rPr sz="1050" b="0">
                <a:solidFill>
                  <a:srgbClr val="5A626C"/>
                </a:solidFill>
                <a:latin typeface="Arial"/>
              </a:rPr>
              <a:t>flights kept</a:t>
            </a:r>
          </a:p>
        </p:txBody>
      </p:sp>
      <p:sp>
        <p:nvSpPr>
          <p:cNvPr id="17419" name="Rectangle 17418"/>
          <p:cNvSpPr/>
          <p:nvPr/>
        </p:nvSpPr>
        <p:spPr>
          <a:xfrm>
            <a:off x="4251960" y="1444752"/>
            <a:ext cx="1719072" cy="64008"/>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0" name="Right Arrow 17419"/>
          <p:cNvSpPr/>
          <p:nvPr/>
        </p:nvSpPr>
        <p:spPr>
          <a:xfrm>
            <a:off x="5984748" y="1947672"/>
            <a:ext cx="173736" cy="182880"/>
          </a:xfrm>
          <a:prstGeom prst="rightArrow">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1" name="Rounded Rectangle 17420"/>
          <p:cNvSpPr/>
          <p:nvPr/>
        </p:nvSpPr>
        <p:spPr>
          <a:xfrm>
            <a:off x="6172200" y="1444752"/>
            <a:ext cx="1719072" cy="1188720"/>
          </a:xfrm>
          <a:prstGeom prst="roundRect">
            <a:avLst>
              <a:gd name="adj" fmla="val 6000"/>
            </a:avLst>
          </a:prstGeom>
          <a:solidFill>
            <a:srgbClr val="EC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350" b="1">
                <a:solidFill>
                  <a:srgbClr val="4B3F8C"/>
                </a:solidFill>
                <a:latin typeface="Arial"/>
              </a:rPr>
              <a:t>4  Clean</a:t>
            </a:r>
          </a:p>
          <a:p>
            <a:pPr>
              <a:lnSpc>
                <a:spcPct val="95000"/>
              </a:lnSpc>
              <a:spcBef>
                <a:spcPts val="400"/>
              </a:spcBef>
              <a:spcAft>
                <a:spcPts val="0"/>
              </a:spcAft>
            </a:pPr>
            <a:r>
              <a:rPr sz="1400" b="1">
                <a:solidFill>
                  <a:srgbClr val="1F497D"/>
                </a:solidFill>
                <a:latin typeface="Arial"/>
              </a:rPr>
              <a:t>min 3 obs</a:t>
            </a:r>
          </a:p>
          <a:p>
            <a:pPr>
              <a:lnSpc>
                <a:spcPct val="95000"/>
              </a:lnSpc>
              <a:spcBef>
                <a:spcPts val="100"/>
              </a:spcBef>
              <a:spcAft>
                <a:spcPts val="0"/>
              </a:spcAft>
            </a:pPr>
            <a:r>
              <a:rPr sz="1050" b="0">
                <a:solidFill>
                  <a:srgbClr val="5A626C"/>
                </a:solidFill>
                <a:latin typeface="Arial"/>
              </a:rPr>
              <a:t>per priced cell</a:t>
            </a:r>
          </a:p>
        </p:txBody>
      </p:sp>
      <p:sp>
        <p:nvSpPr>
          <p:cNvPr id="17422" name="Rectangle 17421"/>
          <p:cNvSpPr/>
          <p:nvPr/>
        </p:nvSpPr>
        <p:spPr>
          <a:xfrm>
            <a:off x="6172200" y="1444752"/>
            <a:ext cx="1719072" cy="64008"/>
          </a:xfrm>
          <a:prstGeom prst="rect">
            <a:avLst/>
          </a:prstGeom>
          <a:solidFill>
            <a:srgbClr val="4B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3" name="Right Arrow 17422"/>
          <p:cNvSpPr/>
          <p:nvPr/>
        </p:nvSpPr>
        <p:spPr>
          <a:xfrm>
            <a:off x="7904988" y="1947672"/>
            <a:ext cx="173736" cy="182880"/>
          </a:xfrm>
          <a:prstGeom prst="rightArrow">
            <a:avLst/>
          </a:prstGeom>
          <a:solidFill>
            <a:srgbClr val="4B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4" name="Rounded Rectangle 17423"/>
          <p:cNvSpPr/>
          <p:nvPr/>
        </p:nvSpPr>
        <p:spPr>
          <a:xfrm>
            <a:off x="8092440" y="1444752"/>
            <a:ext cx="1719072" cy="1188720"/>
          </a:xfrm>
          <a:prstGeom prst="roundRect">
            <a:avLst>
              <a:gd name="adj" fmla="val 6000"/>
            </a:avLst>
          </a:prstGeom>
          <a:solidFill>
            <a:srgbClr val="E2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350" b="1">
                <a:solidFill>
                  <a:srgbClr val="0E7C86"/>
                </a:solidFill>
                <a:latin typeface="Arial"/>
              </a:rPr>
              <a:t>5  Index</a:t>
            </a:r>
          </a:p>
          <a:p>
            <a:pPr>
              <a:lnSpc>
                <a:spcPct val="95000"/>
              </a:lnSpc>
              <a:spcBef>
                <a:spcPts val="400"/>
              </a:spcBef>
              <a:spcAft>
                <a:spcPts val="0"/>
              </a:spcAft>
            </a:pPr>
            <a:r>
              <a:rPr sz="1400" b="1">
                <a:solidFill>
                  <a:srgbClr val="1F497D"/>
                </a:solidFill>
                <a:latin typeface="Arial"/>
              </a:rPr>
              <a:t>75 cells</a:t>
            </a:r>
          </a:p>
          <a:p>
            <a:pPr>
              <a:lnSpc>
                <a:spcPct val="95000"/>
              </a:lnSpc>
              <a:spcBef>
                <a:spcPts val="100"/>
              </a:spcBef>
              <a:spcAft>
                <a:spcPts val="0"/>
              </a:spcAft>
            </a:pPr>
            <a:r>
              <a:rPr sz="1050" b="0">
                <a:solidFill>
                  <a:srgbClr val="5A626C"/>
                </a:solidFill>
                <a:latin typeface="Arial"/>
              </a:rPr>
              <a:t>weighted Jevons</a:t>
            </a:r>
          </a:p>
        </p:txBody>
      </p:sp>
      <p:sp>
        <p:nvSpPr>
          <p:cNvPr id="17425" name="Rectangle 17424"/>
          <p:cNvSpPr/>
          <p:nvPr/>
        </p:nvSpPr>
        <p:spPr>
          <a:xfrm>
            <a:off x="8092440" y="1444752"/>
            <a:ext cx="1719072" cy="6400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6" name="Right Arrow 17425"/>
          <p:cNvSpPr/>
          <p:nvPr/>
        </p:nvSpPr>
        <p:spPr>
          <a:xfrm>
            <a:off x="9825228" y="1947672"/>
            <a:ext cx="173736" cy="182880"/>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7" name="Rounded Rectangle 17426"/>
          <p:cNvSpPr/>
          <p:nvPr/>
        </p:nvSpPr>
        <p:spPr>
          <a:xfrm>
            <a:off x="10012680" y="1444752"/>
            <a:ext cx="1719072" cy="1188720"/>
          </a:xfrm>
          <a:prstGeom prst="roundRect">
            <a:avLst>
              <a:gd name="adj" fmla="val 6000"/>
            </a:avLst>
          </a:prstGeom>
          <a:solidFill>
            <a:srgbClr val="F4EA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350" b="1">
                <a:solidFill>
                  <a:srgbClr val="7A3E6B"/>
                </a:solidFill>
                <a:latin typeface="Arial"/>
              </a:rPr>
              <a:t>6  Publish</a:t>
            </a:r>
          </a:p>
          <a:p>
            <a:pPr>
              <a:lnSpc>
                <a:spcPct val="95000"/>
              </a:lnSpc>
              <a:spcBef>
                <a:spcPts val="400"/>
              </a:spcBef>
              <a:spcAft>
                <a:spcPts val="0"/>
              </a:spcAft>
            </a:pPr>
            <a:r>
              <a:rPr sz="1400" b="1">
                <a:solidFill>
                  <a:srgbClr val="1F497D"/>
                </a:solidFill>
                <a:latin typeface="Arial"/>
              </a:rPr>
              <a:t>2 endpoints</a:t>
            </a:r>
          </a:p>
          <a:p>
            <a:pPr>
              <a:lnSpc>
                <a:spcPct val="95000"/>
              </a:lnSpc>
              <a:spcBef>
                <a:spcPts val="100"/>
              </a:spcBef>
              <a:spcAft>
                <a:spcPts val="0"/>
              </a:spcAft>
            </a:pPr>
            <a:r>
              <a:rPr sz="1050" b="0">
                <a:solidFill>
                  <a:srgbClr val="5A626C"/>
                </a:solidFill>
                <a:latin typeface="Arial"/>
              </a:rPr>
              <a:t>portal + API</a:t>
            </a:r>
          </a:p>
        </p:txBody>
      </p:sp>
      <p:sp>
        <p:nvSpPr>
          <p:cNvPr id="17428" name="Rectangle 17427"/>
          <p:cNvSpPr/>
          <p:nvPr/>
        </p:nvSpPr>
        <p:spPr>
          <a:xfrm>
            <a:off x="10012680" y="1444752"/>
            <a:ext cx="1719072" cy="64008"/>
          </a:xfrm>
          <a:prstGeom prst="rect">
            <a:avLst/>
          </a:prstGeom>
          <a:solidFill>
            <a:srgbClr val="7A3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9" name="TextBox 17428"/>
          <p:cNvSpPr txBox="1"/>
          <p:nvPr/>
        </p:nvSpPr>
        <p:spPr>
          <a:xfrm>
            <a:off x="411480" y="2761488"/>
            <a:ext cx="11338560" cy="274320"/>
          </a:xfrm>
          <a:prstGeom prst="rect">
            <a:avLst/>
          </a:prstGeom>
          <a:noFill/>
        </p:spPr>
        <p:txBody>
          <a:bodyPr wrap="square" lIns="36576" rIns="36576" tIns="18288" bIns="18288">
            <a:spAutoFit/>
          </a:bodyPr>
          <a:lstStyle/>
          <a:p>
            <a:pPr>
              <a:lnSpc>
                <a:spcPct val="95000"/>
              </a:lnSpc>
              <a:spcBef>
                <a:spcPts val="0"/>
              </a:spcBef>
              <a:spcAft>
                <a:spcPts val="0"/>
              </a:spcAft>
            </a:pPr>
            <a:r>
              <a:rPr sz="1400" b="1">
                <a:solidFill>
                  <a:srgbClr val="1F497D"/>
                </a:solidFill>
                <a:latin typeface="Arial"/>
              </a:rPr>
              <a:t>What actually happens to one results page</a:t>
            </a:r>
          </a:p>
        </p:txBody>
      </p:sp>
      <p:sp>
        <p:nvSpPr>
          <p:cNvPr id="17430" name="Rectangle 17429"/>
          <p:cNvSpPr/>
          <p:nvPr/>
        </p:nvSpPr>
        <p:spPr>
          <a:xfrm>
            <a:off x="429768" y="3035808"/>
            <a:ext cx="1371600" cy="25603"/>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1" name="Rounded Rectangle 17430"/>
          <p:cNvSpPr/>
          <p:nvPr/>
        </p:nvSpPr>
        <p:spPr>
          <a:xfrm>
            <a:off x="411480" y="3145536"/>
            <a:ext cx="3703320" cy="2340864"/>
          </a:xfrm>
          <a:prstGeom prst="roundRect">
            <a:avLst>
              <a:gd name="adj" fmla="val 6000"/>
            </a:avLst>
          </a:prstGeom>
          <a:solidFill>
            <a:srgbClr val="E8F0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2" name="Rectangle 17431"/>
          <p:cNvSpPr/>
          <p:nvPr/>
        </p:nvSpPr>
        <p:spPr>
          <a:xfrm>
            <a:off x="411480" y="3145536"/>
            <a:ext cx="3703320" cy="64008"/>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3" name="TextBox 17432"/>
          <p:cNvSpPr txBox="1"/>
          <p:nvPr/>
        </p:nvSpPr>
        <p:spPr>
          <a:xfrm>
            <a:off x="557784" y="3291840"/>
            <a:ext cx="3410712" cy="237744"/>
          </a:xfrm>
          <a:prstGeom prst="rect">
            <a:avLst/>
          </a:prstGeom>
          <a:noFill/>
        </p:spPr>
        <p:txBody>
          <a:bodyPr wrap="square" lIns="36576" rIns="36576" tIns="18288" bIns="18288">
            <a:spAutoFit/>
          </a:bodyPr>
          <a:lstStyle/>
          <a:p>
            <a:pPr>
              <a:lnSpc>
                <a:spcPct val="95000"/>
              </a:lnSpc>
              <a:spcBef>
                <a:spcPts val="0"/>
              </a:spcBef>
              <a:spcAft>
                <a:spcPts val="0"/>
              </a:spcAft>
            </a:pPr>
            <a:r>
              <a:rPr sz="1100" b="1">
                <a:solidFill>
                  <a:srgbClr val="4F81BD"/>
                </a:solidFill>
                <a:latin typeface="Arial"/>
              </a:rPr>
              <a:t>1 · WHAT THE PAGE GIVES US</a:t>
            </a:r>
          </a:p>
        </p:txBody>
      </p:sp>
      <p:sp>
        <p:nvSpPr>
          <p:cNvPr id="17434" name="Rounded Rectangle 17433"/>
          <p:cNvSpPr/>
          <p:nvPr/>
        </p:nvSpPr>
        <p:spPr>
          <a:xfrm>
            <a:off x="557784" y="3566160"/>
            <a:ext cx="3410712" cy="950976"/>
          </a:xfrm>
          <a:prstGeom prst="roundRect">
            <a:avLst>
              <a:gd name="adj" fmla="val 6000"/>
            </a:avLst>
          </a:prstGeom>
          <a:solidFill>
            <a:srgbClr val="FFFFFF"/>
          </a:solidFill>
          <a:ln w="12700">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64008"/>
          <a:lstStyle/>
          <a:p>
            <a:pPr algn="ctr">
              <a:lnSpc>
                <a:spcPct val="105000"/>
              </a:lnSpc>
              <a:spcBef>
                <a:spcPts val="0"/>
              </a:spcBef>
              <a:spcAft>
                <a:spcPts val="0"/>
              </a:spcAft>
            </a:pPr>
            <a:r>
              <a:rPr sz="950">
                <a:solidFill>
                  <a:srgbClr val="262B33"/>
                </a:solidFill>
                <a:latin typeface="Consolas"/>
              </a:rPr>
              <a:t>IndiGo | 6E-955 | 20:20 | 2h |</a:t>
            </a:r>
          </a:p>
          <a:p>
            <a:pPr>
              <a:lnSpc>
                <a:spcPct val="105000"/>
              </a:lnSpc>
              <a:spcBef>
                <a:spcPts val="0"/>
              </a:spcBef>
              <a:spcAft>
                <a:spcPts val="0"/>
              </a:spcAft>
            </a:pPr>
            <a:r>
              <a:rPr sz="950">
                <a:solidFill>
                  <a:srgbClr val="262B33"/>
                </a:solidFill>
                <a:latin typeface="Consolas"/>
              </a:rPr>
              <a:t>Non-stop | 22:20 | ₹6,529 |</a:t>
            </a:r>
          </a:p>
          <a:p>
            <a:pPr>
              <a:lnSpc>
                <a:spcPct val="105000"/>
              </a:lnSpc>
              <a:spcBef>
                <a:spcPts val="0"/>
              </a:spcBef>
              <a:spcAft>
                <a:spcPts val="0"/>
              </a:spcAft>
            </a:pPr>
            <a:r>
              <a:rPr sz="950">
                <a:solidFill>
                  <a:srgbClr val="262B33"/>
                </a:solidFill>
                <a:latin typeface="Consolas"/>
              </a:rPr>
              <a:t>₹480 off with CTFKSBIC | Book</a:t>
            </a:r>
          </a:p>
        </p:txBody>
      </p:sp>
      <p:sp>
        <p:nvSpPr>
          <p:cNvPr id="17435" name="TextBox 17434"/>
          <p:cNvSpPr txBox="1"/>
          <p:nvPr/>
        </p:nvSpPr>
        <p:spPr>
          <a:xfrm>
            <a:off x="557784" y="4590288"/>
            <a:ext cx="3410712" cy="841248"/>
          </a:xfrm>
          <a:prstGeom prst="rect">
            <a:avLst/>
          </a:prstGeom>
          <a:noFill/>
        </p:spPr>
        <p:txBody>
          <a:bodyPr wrap="square" lIns="36576" rIns="36576" tIns="18288" bIns="18288">
            <a:spAutoFit/>
          </a:bodyPr>
          <a:lstStyle/>
          <a:p>
            <a:pPr>
              <a:lnSpc>
                <a:spcPct val="95000"/>
              </a:lnSpc>
              <a:spcBef>
                <a:spcPts val="0"/>
              </a:spcBef>
              <a:spcAft>
                <a:spcPts val="0"/>
              </a:spcAft>
            </a:pPr>
            <a:r>
              <a:rPr sz="1150" b="0">
                <a:solidFill>
                  <a:srgbClr val="262B33"/>
                </a:solidFill>
                <a:latin typeface="Arial"/>
              </a:rPr>
              <a:t>Found by structure — a time beside a price — not by CSS class names, so a redesign cannot break it.</a:t>
            </a:r>
          </a:p>
        </p:txBody>
      </p:sp>
      <p:sp>
        <p:nvSpPr>
          <p:cNvPr id="17436" name="Rounded Rectangle 17435"/>
          <p:cNvSpPr/>
          <p:nvPr/>
        </p:nvSpPr>
        <p:spPr>
          <a:xfrm>
            <a:off x="4370832" y="3145536"/>
            <a:ext cx="3703320" cy="2340864"/>
          </a:xfrm>
          <a:prstGeom prst="roundRect">
            <a:avLst>
              <a:gd name="adj" fmla="val 6000"/>
            </a:avLst>
          </a:prstGeom>
          <a:solidFill>
            <a:srgbClr val="FB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7" name="Rectangle 17436"/>
          <p:cNvSpPr/>
          <p:nvPr/>
        </p:nvSpPr>
        <p:spPr>
          <a:xfrm>
            <a:off x="4370832" y="3145536"/>
            <a:ext cx="3703320" cy="64008"/>
          </a:xfrm>
          <a:prstGeom prst="rect">
            <a:avLst/>
          </a:prstGeom>
          <a:solidFill>
            <a:srgbClr val="1B8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8" name="TextBox 17437"/>
          <p:cNvSpPr txBox="1"/>
          <p:nvPr/>
        </p:nvSpPr>
        <p:spPr>
          <a:xfrm>
            <a:off x="4517136" y="3291840"/>
            <a:ext cx="3410712" cy="237744"/>
          </a:xfrm>
          <a:prstGeom prst="rect">
            <a:avLst/>
          </a:prstGeom>
          <a:noFill/>
        </p:spPr>
        <p:txBody>
          <a:bodyPr wrap="square" lIns="36576" rIns="36576" tIns="18288" bIns="18288">
            <a:spAutoFit/>
          </a:bodyPr>
          <a:lstStyle/>
          <a:p>
            <a:pPr>
              <a:lnSpc>
                <a:spcPct val="95000"/>
              </a:lnSpc>
              <a:spcBef>
                <a:spcPts val="0"/>
              </a:spcBef>
              <a:spcAft>
                <a:spcPts val="0"/>
              </a:spcAft>
            </a:pPr>
            <a:r>
              <a:rPr sz="1100" b="1">
                <a:solidFill>
                  <a:srgbClr val="1B8A5A"/>
                </a:solidFill>
                <a:latin typeface="Arial"/>
              </a:rPr>
              <a:t>2 · WHAT THE MODEL RETURNS</a:t>
            </a:r>
          </a:p>
        </p:txBody>
      </p:sp>
      <p:sp>
        <p:nvSpPr>
          <p:cNvPr id="17439" name="Rounded Rectangle 17438"/>
          <p:cNvSpPr/>
          <p:nvPr/>
        </p:nvSpPr>
        <p:spPr>
          <a:xfrm>
            <a:off x="4517136" y="3566160"/>
            <a:ext cx="3410712" cy="950976"/>
          </a:xfrm>
          <a:prstGeom prst="roundRect">
            <a:avLst>
              <a:gd name="adj" fmla="val 6000"/>
            </a:avLst>
          </a:prstGeom>
          <a:solidFill>
            <a:srgbClr val="FFFFFF"/>
          </a:solidFill>
          <a:ln w="12700">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64008"/>
          <a:lstStyle/>
          <a:p>
            <a:pPr algn="ctr">
              <a:lnSpc>
                <a:spcPct val="105000"/>
              </a:lnSpc>
              <a:spcBef>
                <a:spcPts val="0"/>
              </a:spcBef>
              <a:spcAft>
                <a:spcPts val="0"/>
              </a:spcAft>
            </a:pPr>
            <a:r>
              <a:rPr sz="950">
                <a:solidFill>
                  <a:srgbClr val="262B33"/>
                </a:solidFill>
                <a:latin typeface="Consolas"/>
              </a:rPr>
              <a:t>{"carrier": "IndiGo",</a:t>
            </a:r>
          </a:p>
          <a:p>
            <a:pPr>
              <a:lnSpc>
                <a:spcPct val="105000"/>
              </a:lnSpc>
              <a:spcBef>
                <a:spcPts val="0"/>
              </a:spcBef>
              <a:spcAft>
                <a:spcPts val="0"/>
              </a:spcAft>
            </a:pPr>
            <a:r>
              <a:rPr sz="950">
                <a:solidFill>
                  <a:srgbClr val="262B33"/>
                </a:solidFill>
                <a:latin typeface="Consolas"/>
              </a:rPr>
              <a:t> "flight_number": "6E-955",</a:t>
            </a:r>
          </a:p>
          <a:p>
            <a:pPr>
              <a:lnSpc>
                <a:spcPct val="105000"/>
              </a:lnSpc>
              <a:spcBef>
                <a:spcPts val="0"/>
              </a:spcBef>
              <a:spcAft>
                <a:spcPts val="0"/>
              </a:spcAft>
            </a:pPr>
            <a:r>
              <a:rPr sz="950">
                <a:solidFill>
                  <a:srgbClr val="262B33"/>
                </a:solidFill>
                <a:latin typeface="Consolas"/>
              </a:rPr>
              <a:t> "departure_time": "20:20",</a:t>
            </a:r>
          </a:p>
          <a:p>
            <a:pPr>
              <a:lnSpc>
                <a:spcPct val="105000"/>
              </a:lnSpc>
              <a:spcBef>
                <a:spcPts val="0"/>
              </a:spcBef>
              <a:spcAft>
                <a:spcPts val="0"/>
              </a:spcAft>
            </a:pPr>
            <a:r>
              <a:rPr sz="950">
                <a:solidFill>
                  <a:srgbClr val="262B33"/>
                </a:solidFill>
                <a:latin typeface="Consolas"/>
              </a:rPr>
              <a:t> "total_fare": 6529,</a:t>
            </a:r>
          </a:p>
          <a:p>
            <a:pPr>
              <a:lnSpc>
                <a:spcPct val="105000"/>
              </a:lnSpc>
              <a:spcBef>
                <a:spcPts val="0"/>
              </a:spcBef>
              <a:spcAft>
                <a:spcPts val="0"/>
              </a:spcAft>
            </a:pPr>
            <a:r>
              <a:rPr sz="950">
                <a:solidFill>
                  <a:srgbClr val="262B33"/>
                </a:solidFill>
                <a:latin typeface="Consolas"/>
              </a:rPr>
              <a:t> "base_fare": null}</a:t>
            </a:r>
          </a:p>
        </p:txBody>
      </p:sp>
      <p:sp>
        <p:nvSpPr>
          <p:cNvPr id="17440" name="TextBox 17439"/>
          <p:cNvSpPr txBox="1"/>
          <p:nvPr/>
        </p:nvSpPr>
        <p:spPr>
          <a:xfrm>
            <a:off x="4517136" y="4590288"/>
            <a:ext cx="3410712" cy="841248"/>
          </a:xfrm>
          <a:prstGeom prst="rect">
            <a:avLst/>
          </a:prstGeom>
          <a:noFill/>
        </p:spPr>
        <p:txBody>
          <a:bodyPr wrap="square" lIns="36576" rIns="36576" tIns="18288" bIns="18288">
            <a:spAutoFit/>
          </a:bodyPr>
          <a:lstStyle/>
          <a:p>
            <a:pPr>
              <a:lnSpc>
                <a:spcPct val="95000"/>
              </a:lnSpc>
              <a:spcBef>
                <a:spcPts val="0"/>
              </a:spcBef>
              <a:spcAft>
                <a:spcPts val="0"/>
              </a:spcAft>
            </a:pPr>
            <a:r>
              <a:rPr sz="1150" b="0">
                <a:solidFill>
                  <a:srgbClr val="262B33"/>
                </a:solidFill>
                <a:latin typeface="Arial"/>
              </a:rPr>
              <a:t>Strict JSON only. Coupons and struck-through prices are ignored; unpublished fields stay null.</a:t>
            </a:r>
          </a:p>
        </p:txBody>
      </p:sp>
      <p:sp>
        <p:nvSpPr>
          <p:cNvPr id="17441" name="Rounded Rectangle 17440"/>
          <p:cNvSpPr/>
          <p:nvPr/>
        </p:nvSpPr>
        <p:spPr>
          <a:xfrm>
            <a:off x="8330183" y="3145536"/>
            <a:ext cx="3703320" cy="2340864"/>
          </a:xfrm>
          <a:prstGeom prst="roundRect">
            <a:avLst>
              <a:gd name="adj" fmla="val 6000"/>
            </a:avLst>
          </a:prstGeom>
          <a:solidFill>
            <a:srgbClr val="E2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42" name="Rectangle 17441"/>
          <p:cNvSpPr/>
          <p:nvPr/>
        </p:nvSpPr>
        <p:spPr>
          <a:xfrm>
            <a:off x="8330183" y="3145536"/>
            <a:ext cx="3703320" cy="64008"/>
          </a:xfrm>
          <a:prstGeom prst="rect">
            <a:avLst/>
          </a:prstGeom>
          <a:solidFill>
            <a:srgbClr val="4B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3" name="TextBox 17442"/>
          <p:cNvSpPr txBox="1"/>
          <p:nvPr/>
        </p:nvSpPr>
        <p:spPr>
          <a:xfrm>
            <a:off x="8476488" y="3291840"/>
            <a:ext cx="3410712" cy="237744"/>
          </a:xfrm>
          <a:prstGeom prst="rect">
            <a:avLst/>
          </a:prstGeom>
          <a:noFill/>
        </p:spPr>
        <p:txBody>
          <a:bodyPr wrap="square" lIns="36576" rIns="36576" tIns="18288" bIns="18288">
            <a:spAutoFit/>
          </a:bodyPr>
          <a:lstStyle/>
          <a:p>
            <a:pPr>
              <a:lnSpc>
                <a:spcPct val="95000"/>
              </a:lnSpc>
              <a:spcBef>
                <a:spcPts val="0"/>
              </a:spcBef>
              <a:spcAft>
                <a:spcPts val="0"/>
              </a:spcAft>
            </a:pPr>
            <a:r>
              <a:rPr sz="1100" b="1">
                <a:solidFill>
                  <a:srgbClr val="4B3F8C"/>
                </a:solidFill>
                <a:latin typeface="Arial"/>
              </a:rPr>
              <a:t>3 · WHAT POSTGRES STORES</a:t>
            </a:r>
          </a:p>
        </p:txBody>
      </p:sp>
      <p:sp>
        <p:nvSpPr>
          <p:cNvPr id="17444" name="Rounded Rectangle 17443"/>
          <p:cNvSpPr/>
          <p:nvPr/>
        </p:nvSpPr>
        <p:spPr>
          <a:xfrm>
            <a:off x="8476488" y="3566160"/>
            <a:ext cx="3410712" cy="950976"/>
          </a:xfrm>
          <a:prstGeom prst="roundRect">
            <a:avLst>
              <a:gd name="adj" fmla="val 6000"/>
            </a:avLst>
          </a:prstGeom>
          <a:solidFill>
            <a:srgbClr val="FFFFFF"/>
          </a:solidFill>
          <a:ln w="12700">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64008"/>
          <a:lstStyle/>
          <a:p>
            <a:pPr algn="ctr">
              <a:lnSpc>
                <a:spcPct val="105000"/>
              </a:lnSpc>
              <a:spcBef>
                <a:spcPts val="0"/>
              </a:spcBef>
              <a:spcAft>
                <a:spcPts val="0"/>
              </a:spcAft>
            </a:pPr>
            <a:r>
              <a:rPr sz="950">
                <a:solidFill>
                  <a:srgbClr val="262B33"/>
                </a:solidFill>
                <a:latin typeface="Consolas"/>
              </a:rPr>
              <a:t>DEL → BOM  ·  T+1</a:t>
            </a:r>
          </a:p>
          <a:p>
            <a:pPr>
              <a:lnSpc>
                <a:spcPct val="105000"/>
              </a:lnSpc>
              <a:spcBef>
                <a:spcPts val="0"/>
              </a:spcBef>
              <a:spcAft>
                <a:spcPts val="0"/>
              </a:spcAft>
            </a:pPr>
            <a:r>
              <a:rPr sz="950">
                <a:solidFill>
                  <a:srgbClr val="262B33"/>
                </a:solidFill>
                <a:latin typeface="Consolas"/>
              </a:rPr>
              <a:t>total_fare  ₹6,529</a:t>
            </a:r>
          </a:p>
          <a:p>
            <a:pPr>
              <a:lnSpc>
                <a:spcPct val="105000"/>
              </a:lnSpc>
              <a:spcBef>
                <a:spcPts val="0"/>
              </a:spcBef>
              <a:spcAft>
                <a:spcPts val="0"/>
              </a:spcAft>
            </a:pPr>
            <a:r>
              <a:rPr sz="950">
                <a:solidFill>
                  <a:srgbClr val="262B33"/>
                </a:solidFill>
                <a:latin typeface="Consolas"/>
              </a:rPr>
              <a:t>source      cleartrip</a:t>
            </a:r>
          </a:p>
          <a:p>
            <a:pPr>
              <a:lnSpc>
                <a:spcPct val="105000"/>
              </a:lnSpc>
              <a:spcBef>
                <a:spcPts val="0"/>
              </a:spcBef>
              <a:spcAft>
                <a:spcPts val="0"/>
              </a:spcAft>
            </a:pPr>
            <a:r>
              <a:rPr sz="950">
                <a:solidFill>
                  <a:srgbClr val="262B33"/>
                </a:solidFill>
                <a:latin typeface="Consolas"/>
              </a:rPr>
              <a:t>model_used  llama-3.2-11b</a:t>
            </a:r>
          </a:p>
          <a:p>
            <a:pPr>
              <a:lnSpc>
                <a:spcPct val="105000"/>
              </a:lnSpc>
              <a:spcBef>
                <a:spcPts val="0"/>
              </a:spcBef>
              <a:spcAft>
                <a:spcPts val="0"/>
              </a:spcAft>
            </a:pPr>
            <a:r>
              <a:rPr sz="950">
                <a:solidFill>
                  <a:srgbClr val="262B33"/>
                </a:solidFill>
                <a:latin typeface="Consolas"/>
              </a:rPr>
              <a:t>scraped_at  2026-09-04 19:54Z</a:t>
            </a:r>
          </a:p>
        </p:txBody>
      </p:sp>
      <p:sp>
        <p:nvSpPr>
          <p:cNvPr id="17445" name="TextBox 17444"/>
          <p:cNvSpPr txBox="1"/>
          <p:nvPr/>
        </p:nvSpPr>
        <p:spPr>
          <a:xfrm>
            <a:off x="8476488" y="4590288"/>
            <a:ext cx="3410712" cy="841248"/>
          </a:xfrm>
          <a:prstGeom prst="rect">
            <a:avLst/>
          </a:prstGeom>
          <a:noFill/>
        </p:spPr>
        <p:txBody>
          <a:bodyPr wrap="square" lIns="36576" rIns="36576" tIns="18288" bIns="18288">
            <a:spAutoFit/>
          </a:bodyPr>
          <a:lstStyle/>
          <a:p>
            <a:pPr>
              <a:lnSpc>
                <a:spcPct val="95000"/>
              </a:lnSpc>
              <a:spcBef>
                <a:spcPts val="0"/>
              </a:spcBef>
              <a:spcAft>
                <a:spcPts val="0"/>
              </a:spcAft>
            </a:pPr>
            <a:r>
              <a:rPr sz="1150" b="0">
                <a:solidFill>
                  <a:srgbClr val="262B33"/>
                </a:solidFill>
                <a:latin typeface="Arial"/>
              </a:rPr>
              <a:t>Every fare records its source, the moment it was seen and the model that read it — so any figure traces back.</a:t>
            </a:r>
          </a:p>
        </p:txBody>
      </p:sp>
      <p:sp>
        <p:nvSpPr>
          <p:cNvPr id="17446" name="Rounded Rectangle 17445"/>
          <p:cNvSpPr/>
          <p:nvPr/>
        </p:nvSpPr>
        <p:spPr>
          <a:xfrm>
            <a:off x="411480" y="5596128"/>
            <a:ext cx="11338560" cy="530352"/>
          </a:xfrm>
          <a:prstGeom prst="roundRect">
            <a:avLst>
              <a:gd name="adj" fmla="val 6000"/>
            </a:avLst>
          </a:prstGeom>
          <a:solidFill>
            <a:srgbClr val="EC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150" b="1">
                <a:solidFill>
                  <a:srgbClr val="4B3F8C"/>
                </a:solidFill>
                <a:latin typeface="Arial"/>
              </a:rPr>
              <a:t>STACK   Python · Playwright · OpenAI-compatible LLM with failover · Pydantic v2 · Supabase PostgreSQL · FastAPI · Cloudflare · cron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lgn="ctr"/>
            <a:r>
              <a:rPr sz="2800" b="1">
                <a:solidFill>
                  <a:srgbClr val="1F497D"/>
                </a:solidFill>
                <a:latin typeface="Times New Roman"/>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50" b="1"/>
              <a:t>Fare Enough 101</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Rounded Rectangle 17409"/>
          <p:cNvSpPr/>
          <p:nvPr/>
        </p:nvSpPr>
        <p:spPr>
          <a:xfrm>
            <a:off x="411480" y="1133856"/>
            <a:ext cx="5623560" cy="1188720"/>
          </a:xfrm>
          <a:prstGeom prst="roundRect">
            <a:avLst>
              <a:gd name="adj" fmla="val 6000"/>
            </a:avLst>
          </a:prstGeom>
          <a:solidFill>
            <a:srgbClr val="E8F0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450" b="1">
                <a:solidFill>
                  <a:srgbClr val="4F81BD"/>
                </a:solidFill>
                <a:latin typeface="Arial"/>
              </a:rPr>
              <a:t>Technical feasibility</a:t>
            </a:r>
          </a:p>
          <a:p>
            <a:pPr>
              <a:lnSpc>
                <a:spcPct val="95000"/>
              </a:lnSpc>
              <a:spcBef>
                <a:spcPts val="400"/>
              </a:spcBef>
              <a:spcAft>
                <a:spcPts val="0"/>
              </a:spcAft>
            </a:pPr>
            <a:r>
              <a:rPr sz="1200" b="0">
                <a:solidFill>
                  <a:srgbClr val="262B33"/>
                </a:solidFill>
                <a:latin typeface="Arial"/>
              </a:rPr>
              <a:t>India is the world's fifth-largest aviation market, worth USD 18.14 bn in 2026 and growing at 11.72% a year. The prices exist and change constantly — what is missing is a systematic way to measure them.</a:t>
            </a:r>
          </a:p>
        </p:txBody>
      </p:sp>
      <p:sp>
        <p:nvSpPr>
          <p:cNvPr id="17411" name="Rectangle 17410"/>
          <p:cNvSpPr/>
          <p:nvPr/>
        </p:nvSpPr>
        <p:spPr>
          <a:xfrm>
            <a:off x="411480" y="1133856"/>
            <a:ext cx="68580" cy="1188720"/>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Rounded Rectangle 17411"/>
          <p:cNvSpPr/>
          <p:nvPr/>
        </p:nvSpPr>
        <p:spPr>
          <a:xfrm>
            <a:off x="411480" y="2423160"/>
            <a:ext cx="5623560" cy="1188720"/>
          </a:xfrm>
          <a:prstGeom prst="roundRect">
            <a:avLst>
              <a:gd name="adj" fmla="val 6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450" b="1">
                <a:solidFill>
                  <a:srgbClr val="1B8A5A"/>
                </a:solidFill>
                <a:latin typeface="Arial"/>
              </a:rPr>
              <a:t>Operational feasibility</a:t>
            </a:r>
          </a:p>
          <a:p>
            <a:pPr>
              <a:lnSpc>
                <a:spcPct val="95000"/>
              </a:lnSpc>
              <a:spcBef>
                <a:spcPts val="400"/>
              </a:spcBef>
              <a:spcAft>
                <a:spcPts val="0"/>
              </a:spcAft>
            </a:pPr>
            <a:r>
              <a:rPr sz="1200" b="0">
                <a:solidFill>
                  <a:srgbClr val="262B33"/>
                </a:solidFill>
                <a:latin typeface="Arial"/>
              </a:rPr>
              <a:t>164 million domestic passengers a year across 148 operational airports, up from 74 in 2014. A fixed basket of the 15 busiest city pairs tracks the traffic that actually matters.</a:t>
            </a:r>
          </a:p>
        </p:txBody>
      </p:sp>
      <p:sp>
        <p:nvSpPr>
          <p:cNvPr id="17413" name="Rectangle 17412"/>
          <p:cNvSpPr/>
          <p:nvPr/>
        </p:nvSpPr>
        <p:spPr>
          <a:xfrm>
            <a:off x="411480" y="2423160"/>
            <a:ext cx="68580" cy="1188720"/>
          </a:xfrm>
          <a:prstGeom prst="rect">
            <a:avLst/>
          </a:prstGeom>
          <a:solidFill>
            <a:srgbClr val="1B8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4" name="Rounded Rectangle 17413"/>
          <p:cNvSpPr/>
          <p:nvPr/>
        </p:nvSpPr>
        <p:spPr>
          <a:xfrm>
            <a:off x="411480" y="3712463"/>
            <a:ext cx="5623560" cy="1188720"/>
          </a:xfrm>
          <a:prstGeom prst="roundRect">
            <a:avLst>
              <a:gd name="adj" fmla="val 6000"/>
            </a:avLst>
          </a:prstGeom>
          <a:solidFill>
            <a:srgbClr val="FB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450" b="1">
                <a:solidFill>
                  <a:srgbClr val="C77700"/>
                </a:solidFill>
                <a:latin typeface="Arial"/>
              </a:rPr>
              <a:t>Economic feasibility</a:t>
            </a:r>
          </a:p>
          <a:p>
            <a:pPr>
              <a:lnSpc>
                <a:spcPct val="95000"/>
              </a:lnSpc>
              <a:spcBef>
                <a:spcPts val="400"/>
              </a:spcBef>
              <a:spcAft>
                <a:spcPts val="0"/>
              </a:spcAft>
            </a:pPr>
            <a:r>
              <a:rPr sz="1200" b="0">
                <a:solidFill>
                  <a:srgbClr val="262B33"/>
                </a:solidFill>
                <a:latin typeface="Arial"/>
              </a:rPr>
              <a:t>The pipeline runs on free tiers at ₹0 a month and ~2 minutes of compute per cycle. MoSPI's field collectors visit shops and markets monthly; this observes 144 times a day without leaving a desk.</a:t>
            </a:r>
          </a:p>
        </p:txBody>
      </p:sp>
      <p:sp>
        <p:nvSpPr>
          <p:cNvPr id="17415" name="Rectangle 17414"/>
          <p:cNvSpPr/>
          <p:nvPr/>
        </p:nvSpPr>
        <p:spPr>
          <a:xfrm>
            <a:off x="411480" y="3712463"/>
            <a:ext cx="68580" cy="118872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6" name="Rounded Rectangle 17415"/>
          <p:cNvSpPr/>
          <p:nvPr/>
        </p:nvSpPr>
        <p:spPr>
          <a:xfrm>
            <a:off x="411480" y="5001768"/>
            <a:ext cx="5623560" cy="1188720"/>
          </a:xfrm>
          <a:prstGeom prst="roundRect">
            <a:avLst>
              <a:gd name="adj" fmla="val 6000"/>
            </a:avLst>
          </a:prstGeom>
          <a:solidFill>
            <a:srgbClr val="EC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450" b="1">
                <a:solidFill>
                  <a:srgbClr val="4B3F8C"/>
                </a:solidFill>
                <a:latin typeface="Arial"/>
              </a:rPr>
              <a:t>Regulatory feasibility</a:t>
            </a:r>
          </a:p>
          <a:p>
            <a:pPr>
              <a:lnSpc>
                <a:spcPct val="95000"/>
              </a:lnSpc>
              <a:spcBef>
                <a:spcPts val="400"/>
              </a:spcBef>
              <a:spcAft>
                <a:spcPts val="0"/>
              </a:spcAft>
            </a:pPr>
            <a:r>
              <a:rPr sz="1200" b="0">
                <a:solidFill>
                  <a:srgbClr val="262B33"/>
                </a:solidFill>
                <a:latin typeface="Arial"/>
              </a:rPr>
              <a:t>Eurostat publishes guidance on web-scraped prices for HICP and names air fares explicitly. ONS has done it since 2014. The method is precedented in official statistics, not experimental.</a:t>
            </a:r>
          </a:p>
        </p:txBody>
      </p:sp>
      <p:sp>
        <p:nvSpPr>
          <p:cNvPr id="17417" name="Rectangle 17416"/>
          <p:cNvSpPr/>
          <p:nvPr/>
        </p:nvSpPr>
        <p:spPr>
          <a:xfrm>
            <a:off x="411480" y="5001768"/>
            <a:ext cx="68580" cy="1188720"/>
          </a:xfrm>
          <a:prstGeom prst="rect">
            <a:avLst/>
          </a:prstGeom>
          <a:solidFill>
            <a:srgbClr val="4B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8" name="TextBox 17417"/>
          <p:cNvSpPr txBox="1"/>
          <p:nvPr/>
        </p:nvSpPr>
        <p:spPr>
          <a:xfrm>
            <a:off x="6400800" y="1133856"/>
            <a:ext cx="5394960" cy="274320"/>
          </a:xfrm>
          <a:prstGeom prst="rect">
            <a:avLst/>
          </a:prstGeom>
          <a:noFill/>
        </p:spPr>
        <p:txBody>
          <a:bodyPr wrap="square" lIns="36576" rIns="36576" tIns="18288" bIns="18288">
            <a:spAutoFit/>
          </a:bodyPr>
          <a:lstStyle/>
          <a:p>
            <a:pPr>
              <a:lnSpc>
                <a:spcPct val="95000"/>
              </a:lnSpc>
              <a:spcBef>
                <a:spcPts val="0"/>
              </a:spcBef>
              <a:spcAft>
                <a:spcPts val="0"/>
              </a:spcAft>
            </a:pPr>
            <a:r>
              <a:rPr sz="1500" b="1">
                <a:solidFill>
                  <a:srgbClr val="1F497D"/>
                </a:solidFill>
                <a:latin typeface="Arial"/>
              </a:rPr>
              <a:t>Risks, and what we did about them</a:t>
            </a:r>
          </a:p>
        </p:txBody>
      </p:sp>
      <p:sp>
        <p:nvSpPr>
          <p:cNvPr id="17419" name="Rectangle 17418"/>
          <p:cNvSpPr/>
          <p:nvPr/>
        </p:nvSpPr>
        <p:spPr>
          <a:xfrm>
            <a:off x="6419088" y="1408176"/>
            <a:ext cx="1371600" cy="25603"/>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0" name="Rounded Rectangle 17419"/>
          <p:cNvSpPr/>
          <p:nvPr/>
        </p:nvSpPr>
        <p:spPr>
          <a:xfrm>
            <a:off x="6400800" y="1554480"/>
            <a:ext cx="5394960" cy="868680"/>
          </a:xfrm>
          <a:prstGeom prst="roundRect">
            <a:avLst>
              <a:gd name="adj" fmla="val 6000"/>
            </a:avLst>
          </a:prstGeom>
          <a:solidFill>
            <a:srgbClr val="FA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1" name="Rectangle 17420"/>
          <p:cNvSpPr/>
          <p:nvPr/>
        </p:nvSpPr>
        <p:spPr>
          <a:xfrm>
            <a:off x="6400800" y="1554480"/>
            <a:ext cx="50292" cy="86868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2" name="TextBox 17421"/>
          <p:cNvSpPr txBox="1"/>
          <p:nvPr/>
        </p:nvSpPr>
        <p:spPr>
          <a:xfrm>
            <a:off x="6583680" y="1655064"/>
            <a:ext cx="5120640" cy="713232"/>
          </a:xfrm>
          <a:prstGeom prst="rect">
            <a:avLst/>
          </a:prstGeom>
          <a:noFill/>
        </p:spPr>
        <p:txBody>
          <a:bodyPr wrap="square" lIns="36576" rIns="36576" tIns="18288" bIns="18288">
            <a:spAutoFit/>
          </a:bodyPr>
          <a:lstStyle/>
          <a:p>
            <a:pPr>
              <a:lnSpc>
                <a:spcPct val="95000"/>
              </a:lnSpc>
              <a:spcBef>
                <a:spcPts val="0"/>
              </a:spcBef>
              <a:spcAft>
                <a:spcPts val="0"/>
              </a:spcAft>
            </a:pPr>
            <a:r>
              <a:rPr sz="1400" b="1">
                <a:solidFill>
                  <a:srgbClr val="A63A3A"/>
                </a:solidFill>
                <a:latin typeface="Arial"/>
              </a:rPr>
              <a:t>16 portals surveyed, one is usable</a:t>
            </a:r>
          </a:p>
          <a:p>
            <a:pPr>
              <a:lnSpc>
                <a:spcPct val="95000"/>
              </a:lnSpc>
              <a:spcBef>
                <a:spcPts val="400"/>
              </a:spcBef>
              <a:spcAft>
                <a:spcPts val="0"/>
              </a:spcAft>
            </a:pPr>
            <a:r>
              <a:rPr sz="1200" b="0">
                <a:solidFill>
                  <a:srgbClr val="262B33"/>
                </a:solidFill>
                <a:latin typeface="Arial"/>
              </a:rPr>
              <a:t>Ten disallow us, four block us, airlines refuse automation entirely.</a:t>
            </a:r>
          </a:p>
        </p:txBody>
      </p:sp>
      <p:sp>
        <p:nvSpPr>
          <p:cNvPr id="17423" name="Rounded Rectangle 17422"/>
          <p:cNvSpPr/>
          <p:nvPr/>
        </p:nvSpPr>
        <p:spPr>
          <a:xfrm>
            <a:off x="6400800" y="2496312"/>
            <a:ext cx="5394960" cy="868680"/>
          </a:xfrm>
          <a:prstGeom prst="roundRect">
            <a:avLst>
              <a:gd name="adj" fmla="val 6000"/>
            </a:avLst>
          </a:prstGeom>
          <a:solidFill>
            <a:srgbClr val="FA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4" name="Rectangle 17423"/>
          <p:cNvSpPr/>
          <p:nvPr/>
        </p:nvSpPr>
        <p:spPr>
          <a:xfrm>
            <a:off x="6400800" y="2496312"/>
            <a:ext cx="50292" cy="86868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5" name="TextBox 17424"/>
          <p:cNvSpPr txBox="1"/>
          <p:nvPr/>
        </p:nvSpPr>
        <p:spPr>
          <a:xfrm>
            <a:off x="6583680" y="2596896"/>
            <a:ext cx="5120640" cy="713232"/>
          </a:xfrm>
          <a:prstGeom prst="rect">
            <a:avLst/>
          </a:prstGeom>
          <a:noFill/>
        </p:spPr>
        <p:txBody>
          <a:bodyPr wrap="square" lIns="36576" rIns="36576" tIns="18288" bIns="18288">
            <a:spAutoFit/>
          </a:bodyPr>
          <a:lstStyle/>
          <a:p>
            <a:pPr>
              <a:lnSpc>
                <a:spcPct val="95000"/>
              </a:lnSpc>
              <a:spcBef>
                <a:spcPts val="0"/>
              </a:spcBef>
              <a:spcAft>
                <a:spcPts val="0"/>
              </a:spcAft>
            </a:pPr>
            <a:r>
              <a:rPr sz="1400" b="1">
                <a:solidFill>
                  <a:srgbClr val="A63A3A"/>
                </a:solidFill>
                <a:latin typeface="Arial"/>
              </a:rPr>
              <a:t>Cloud IPs are blocked too</a:t>
            </a:r>
          </a:p>
          <a:p>
            <a:pPr>
              <a:lnSpc>
                <a:spcPct val="95000"/>
              </a:lnSpc>
              <a:spcBef>
                <a:spcPts val="400"/>
              </a:spcBef>
              <a:spcAft>
                <a:spcPts val="0"/>
              </a:spcAft>
            </a:pPr>
            <a:r>
              <a:rPr sz="1200" b="0">
                <a:solidFill>
                  <a:srgbClr val="262B33"/>
                </a:solidFill>
                <a:latin typeface="Arial"/>
              </a:rPr>
              <a:t>Verified in CI — so collection runs from a residential host.</a:t>
            </a:r>
          </a:p>
        </p:txBody>
      </p:sp>
      <p:sp>
        <p:nvSpPr>
          <p:cNvPr id="17426" name="Rounded Rectangle 17425"/>
          <p:cNvSpPr/>
          <p:nvPr/>
        </p:nvSpPr>
        <p:spPr>
          <a:xfrm>
            <a:off x="6400800" y="3438144"/>
            <a:ext cx="5394960" cy="868680"/>
          </a:xfrm>
          <a:prstGeom prst="roundRect">
            <a:avLst>
              <a:gd name="adj" fmla="val 6000"/>
            </a:avLst>
          </a:prstGeom>
          <a:solidFill>
            <a:srgbClr val="FA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7" name="Rectangle 17426"/>
          <p:cNvSpPr/>
          <p:nvPr/>
        </p:nvSpPr>
        <p:spPr>
          <a:xfrm>
            <a:off x="6400800" y="3438144"/>
            <a:ext cx="50292" cy="86868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8" name="TextBox 17427"/>
          <p:cNvSpPr txBox="1"/>
          <p:nvPr/>
        </p:nvSpPr>
        <p:spPr>
          <a:xfrm>
            <a:off x="6583680" y="3538727"/>
            <a:ext cx="5120640" cy="713232"/>
          </a:xfrm>
          <a:prstGeom prst="rect">
            <a:avLst/>
          </a:prstGeom>
          <a:noFill/>
        </p:spPr>
        <p:txBody>
          <a:bodyPr wrap="square" lIns="36576" rIns="36576" tIns="18288" bIns="18288">
            <a:spAutoFit/>
          </a:bodyPr>
          <a:lstStyle/>
          <a:p>
            <a:pPr>
              <a:lnSpc>
                <a:spcPct val="95000"/>
              </a:lnSpc>
              <a:spcBef>
                <a:spcPts val="0"/>
              </a:spcBef>
              <a:spcAft>
                <a:spcPts val="0"/>
              </a:spcAft>
            </a:pPr>
            <a:r>
              <a:rPr sz="1400" b="1">
                <a:solidFill>
                  <a:srgbClr val="A63A3A"/>
                </a:solidFill>
                <a:latin typeface="Arial"/>
              </a:rPr>
              <a:t>Models get retired without notice</a:t>
            </a:r>
          </a:p>
          <a:p>
            <a:pPr>
              <a:lnSpc>
                <a:spcPct val="95000"/>
              </a:lnSpc>
              <a:spcBef>
                <a:spcPts val="400"/>
              </a:spcBef>
              <a:spcAft>
                <a:spcPts val="0"/>
              </a:spcAft>
            </a:pPr>
            <a:r>
              <a:rPr sz="1200" b="0">
                <a:solidFill>
                  <a:srgbClr val="262B33"/>
                </a:solidFill>
                <a:latin typeface="Arial"/>
              </a:rPr>
              <a:t>Three died during this build. Extraction now fails over automatically.</a:t>
            </a:r>
          </a:p>
        </p:txBody>
      </p:sp>
      <p:sp>
        <p:nvSpPr>
          <p:cNvPr id="17429" name="Rounded Rectangle 17428"/>
          <p:cNvSpPr/>
          <p:nvPr/>
        </p:nvSpPr>
        <p:spPr>
          <a:xfrm>
            <a:off x="6400800" y="4379976"/>
            <a:ext cx="5394960" cy="868680"/>
          </a:xfrm>
          <a:prstGeom prst="roundRect">
            <a:avLst>
              <a:gd name="adj" fmla="val 6000"/>
            </a:avLst>
          </a:prstGeom>
          <a:solidFill>
            <a:srgbClr val="FA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0" name="Rectangle 17429"/>
          <p:cNvSpPr/>
          <p:nvPr/>
        </p:nvSpPr>
        <p:spPr>
          <a:xfrm>
            <a:off x="6400800" y="4379976"/>
            <a:ext cx="50292" cy="86868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1" name="TextBox 17430"/>
          <p:cNvSpPr txBox="1"/>
          <p:nvPr/>
        </p:nvSpPr>
        <p:spPr>
          <a:xfrm>
            <a:off x="6583680" y="4480560"/>
            <a:ext cx="5120640" cy="713232"/>
          </a:xfrm>
          <a:prstGeom prst="rect">
            <a:avLst/>
          </a:prstGeom>
          <a:noFill/>
        </p:spPr>
        <p:txBody>
          <a:bodyPr wrap="square" lIns="36576" rIns="36576" tIns="18288" bIns="18288">
            <a:spAutoFit/>
          </a:bodyPr>
          <a:lstStyle/>
          <a:p>
            <a:pPr>
              <a:lnSpc>
                <a:spcPct val="95000"/>
              </a:lnSpc>
              <a:spcBef>
                <a:spcPts val="0"/>
              </a:spcBef>
              <a:spcAft>
                <a:spcPts val="0"/>
              </a:spcAft>
            </a:pPr>
            <a:r>
              <a:rPr sz="1400" b="1">
                <a:solidFill>
                  <a:srgbClr val="A63A3A"/>
                </a:solidFill>
                <a:latin typeface="Arial"/>
              </a:rPr>
              <a:t>Thin coverage would mislead</a:t>
            </a:r>
          </a:p>
          <a:p>
            <a:pPr>
              <a:lnSpc>
                <a:spcPct val="95000"/>
              </a:lnSpc>
              <a:spcBef>
                <a:spcPts val="400"/>
              </a:spcBef>
              <a:spcAft>
                <a:spcPts val="0"/>
              </a:spcAft>
            </a:pPr>
            <a:r>
              <a:rPr sz="1200" b="0">
                <a:solidFill>
                  <a:srgbClr val="262B33"/>
                </a:solidFill>
                <a:latin typeface="Arial"/>
              </a:rPr>
              <a:t>Days below 60% basket weight publish as provisional, with the reason.</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lgn="ctr"/>
            <a:r>
              <a:rPr sz="2800" b="1">
                <a:solidFill>
                  <a:srgbClr val="1F497D"/>
                </a:solidFill>
                <a:latin typeface="Times New Roman"/>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50" b="1"/>
              <a:t>Fare Enough 101</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411480" y="1097280"/>
            <a:ext cx="11338560" cy="274320"/>
          </a:xfrm>
          <a:prstGeom prst="rect">
            <a:avLst/>
          </a:prstGeom>
          <a:noFill/>
        </p:spPr>
        <p:txBody>
          <a:bodyPr wrap="square" lIns="36576" rIns="36576" tIns="18288" bIns="18288">
            <a:spAutoFit/>
          </a:bodyPr>
          <a:lstStyle/>
          <a:p>
            <a:pPr>
              <a:lnSpc>
                <a:spcPct val="95000"/>
              </a:lnSpc>
              <a:spcBef>
                <a:spcPts val="0"/>
              </a:spcBef>
              <a:spcAft>
                <a:spcPts val="0"/>
              </a:spcAft>
            </a:pPr>
            <a:r>
              <a:rPr sz="1500" b="1">
                <a:solidFill>
                  <a:srgbClr val="1F497D"/>
                </a:solidFill>
                <a:latin typeface="Arial"/>
              </a:rPr>
              <a:t>From a fare on a screen to a figure in the CPI</a:t>
            </a:r>
          </a:p>
        </p:txBody>
      </p:sp>
      <p:sp>
        <p:nvSpPr>
          <p:cNvPr id="17411" name="Rectangle 17410"/>
          <p:cNvSpPr/>
          <p:nvPr/>
        </p:nvSpPr>
        <p:spPr>
          <a:xfrm>
            <a:off x="429768" y="1371600"/>
            <a:ext cx="1371600" cy="25603"/>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Rounded Rectangle 17411"/>
          <p:cNvSpPr/>
          <p:nvPr/>
        </p:nvSpPr>
        <p:spPr>
          <a:xfrm>
            <a:off x="411480" y="1554480"/>
            <a:ext cx="1700784" cy="1298448"/>
          </a:xfrm>
          <a:prstGeom prst="roundRect">
            <a:avLst>
              <a:gd name="adj" fmla="val 6000"/>
            </a:avLst>
          </a:prstGeom>
          <a:solidFill>
            <a:srgbClr val="E8F0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200" b="1">
                <a:solidFill>
                  <a:srgbClr val="4F81BD"/>
                </a:solidFill>
                <a:latin typeface="Arial"/>
              </a:rPr>
              <a:t>1</a:t>
            </a:r>
          </a:p>
          <a:p>
            <a:pPr>
              <a:lnSpc>
                <a:spcPct val="95000"/>
              </a:lnSpc>
              <a:spcBef>
                <a:spcPts val="200"/>
              </a:spcBef>
              <a:spcAft>
                <a:spcPts val="0"/>
              </a:spcAft>
            </a:pPr>
            <a:r>
              <a:rPr sz="1300" b="1">
                <a:solidFill>
                  <a:srgbClr val="1F497D"/>
                </a:solidFill>
                <a:latin typeface="Arial"/>
              </a:rPr>
              <a:t>A fare is published</a:t>
            </a:r>
          </a:p>
          <a:p>
            <a:pPr>
              <a:lnSpc>
                <a:spcPct val="95000"/>
              </a:lnSpc>
              <a:spcBef>
                <a:spcPts val="400"/>
              </a:spcBef>
              <a:spcAft>
                <a:spcPts val="0"/>
              </a:spcAft>
            </a:pPr>
            <a:r>
              <a:rPr sz="1050" b="0">
                <a:solidFill>
                  <a:srgbClr val="5A626C"/>
                </a:solidFill>
                <a:latin typeface="Arial"/>
              </a:rPr>
              <a:t>A portal shows a price for one route
on one departure date</a:t>
            </a:r>
          </a:p>
        </p:txBody>
      </p:sp>
      <p:sp>
        <p:nvSpPr>
          <p:cNvPr id="17413" name="Right Arrow 17412"/>
          <p:cNvSpPr/>
          <p:nvPr/>
        </p:nvSpPr>
        <p:spPr>
          <a:xfrm>
            <a:off x="2130552" y="2084831"/>
            <a:ext cx="182879" cy="182880"/>
          </a:xfrm>
          <a:prstGeom prst="rightArrow">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4" name="Rounded Rectangle 17413"/>
          <p:cNvSpPr/>
          <p:nvPr/>
        </p:nvSpPr>
        <p:spPr>
          <a:xfrm>
            <a:off x="2331720" y="1554480"/>
            <a:ext cx="1700784" cy="1298448"/>
          </a:xfrm>
          <a:prstGeom prst="roundRect">
            <a:avLst>
              <a:gd name="adj" fmla="val 6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200" b="1">
                <a:solidFill>
                  <a:srgbClr val="1B8A5A"/>
                </a:solidFill>
                <a:latin typeface="Arial"/>
              </a:rPr>
              <a:t>2</a:t>
            </a:r>
          </a:p>
          <a:p>
            <a:pPr>
              <a:lnSpc>
                <a:spcPct val="95000"/>
              </a:lnSpc>
              <a:spcBef>
                <a:spcPts val="200"/>
              </a:spcBef>
              <a:spcAft>
                <a:spcPts val="0"/>
              </a:spcAft>
            </a:pPr>
            <a:r>
              <a:rPr sz="1300" b="1">
                <a:solidFill>
                  <a:srgbClr val="1F497D"/>
                </a:solidFill>
                <a:latin typeface="Arial"/>
              </a:rPr>
              <a:t>We observe it</a:t>
            </a:r>
          </a:p>
          <a:p>
            <a:pPr>
              <a:lnSpc>
                <a:spcPct val="95000"/>
              </a:lnSpc>
              <a:spcBef>
                <a:spcPts val="400"/>
              </a:spcBef>
              <a:spcAft>
                <a:spcPts val="0"/>
              </a:spcAft>
            </a:pPr>
            <a:r>
              <a:rPr sz="1050" b="0">
                <a:solidFill>
                  <a:srgbClr val="5A626C"/>
                </a:solidFill>
                <a:latin typeface="Arial"/>
              </a:rPr>
              <a:t>Collected every 10 minutes,
robots-checked, timestamped</a:t>
            </a:r>
          </a:p>
        </p:txBody>
      </p:sp>
      <p:sp>
        <p:nvSpPr>
          <p:cNvPr id="17415" name="Right Arrow 17414"/>
          <p:cNvSpPr/>
          <p:nvPr/>
        </p:nvSpPr>
        <p:spPr>
          <a:xfrm>
            <a:off x="4050791" y="2084831"/>
            <a:ext cx="182879" cy="182880"/>
          </a:xfrm>
          <a:prstGeom prst="rightArrow">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6" name="Rounded Rectangle 17415"/>
          <p:cNvSpPr/>
          <p:nvPr/>
        </p:nvSpPr>
        <p:spPr>
          <a:xfrm>
            <a:off x="4251960" y="1554480"/>
            <a:ext cx="1700784" cy="1298448"/>
          </a:xfrm>
          <a:prstGeom prst="roundRect">
            <a:avLst>
              <a:gd name="adj" fmla="val 6000"/>
            </a:avLst>
          </a:prstGeom>
          <a:solidFill>
            <a:srgbClr val="FB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200" b="1">
                <a:solidFill>
                  <a:srgbClr val="C77700"/>
                </a:solidFill>
                <a:latin typeface="Arial"/>
              </a:rPr>
              <a:t>3</a:t>
            </a:r>
          </a:p>
          <a:p>
            <a:pPr>
              <a:lnSpc>
                <a:spcPct val="95000"/>
              </a:lnSpc>
              <a:spcBef>
                <a:spcPts val="200"/>
              </a:spcBef>
              <a:spcAft>
                <a:spcPts val="0"/>
              </a:spcAft>
            </a:pPr>
            <a:r>
              <a:rPr sz="1300" b="1">
                <a:solidFill>
                  <a:srgbClr val="1F497D"/>
                </a:solidFill>
                <a:latin typeface="Arial"/>
              </a:rPr>
              <a:t>It becomes a price</a:t>
            </a:r>
          </a:p>
          <a:p>
            <a:pPr>
              <a:lnSpc>
                <a:spcPct val="95000"/>
              </a:lnSpc>
              <a:spcBef>
                <a:spcPts val="400"/>
              </a:spcBef>
              <a:spcAft>
                <a:spcPts val="0"/>
              </a:spcAft>
            </a:pPr>
            <a:r>
              <a:rPr sz="1050" b="0">
                <a:solidFill>
                  <a:srgbClr val="5A626C"/>
                </a:solidFill>
                <a:latin typeface="Arial"/>
              </a:rPr>
              <a:t>Cheapest fare per route × lead time
— what a traveller could transact at</a:t>
            </a:r>
          </a:p>
        </p:txBody>
      </p:sp>
      <p:sp>
        <p:nvSpPr>
          <p:cNvPr id="17417" name="Right Arrow 17416"/>
          <p:cNvSpPr/>
          <p:nvPr/>
        </p:nvSpPr>
        <p:spPr>
          <a:xfrm>
            <a:off x="5971032" y="2084831"/>
            <a:ext cx="182879" cy="182880"/>
          </a:xfrm>
          <a:prstGeom prst="rightArrow">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8" name="Rounded Rectangle 17417"/>
          <p:cNvSpPr/>
          <p:nvPr/>
        </p:nvSpPr>
        <p:spPr>
          <a:xfrm>
            <a:off x="6172200" y="1554480"/>
            <a:ext cx="1700784" cy="1298448"/>
          </a:xfrm>
          <a:prstGeom prst="roundRect">
            <a:avLst>
              <a:gd name="adj" fmla="val 6000"/>
            </a:avLst>
          </a:prstGeom>
          <a:solidFill>
            <a:srgbClr val="EC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200" b="1">
                <a:solidFill>
                  <a:srgbClr val="4B3F8C"/>
                </a:solidFill>
                <a:latin typeface="Arial"/>
              </a:rPr>
              <a:t>4</a:t>
            </a:r>
          </a:p>
          <a:p>
            <a:pPr>
              <a:lnSpc>
                <a:spcPct val="95000"/>
              </a:lnSpc>
              <a:spcBef>
                <a:spcPts val="200"/>
              </a:spcBef>
              <a:spcAft>
                <a:spcPts val="0"/>
              </a:spcAft>
            </a:pPr>
            <a:r>
              <a:rPr sz="1300" b="1">
                <a:solidFill>
                  <a:srgbClr val="1F497D"/>
                </a:solidFill>
                <a:latin typeface="Arial"/>
              </a:rPr>
              <a:t>It becomes an index</a:t>
            </a:r>
          </a:p>
          <a:p>
            <a:pPr>
              <a:lnSpc>
                <a:spcPct val="95000"/>
              </a:lnSpc>
              <a:spcBef>
                <a:spcPts val="400"/>
              </a:spcBef>
              <a:spcAft>
                <a:spcPts val="0"/>
              </a:spcAft>
            </a:pPr>
            <a:r>
              <a:rPr sz="1050" b="0">
                <a:solidFill>
                  <a:srgbClr val="5A626C"/>
                </a:solidFill>
                <a:latin typeface="Arial"/>
              </a:rPr>
              <a:t>Weighted Jevons across the basket
→ airfare inflation</a:t>
            </a:r>
          </a:p>
        </p:txBody>
      </p:sp>
      <p:sp>
        <p:nvSpPr>
          <p:cNvPr id="17419" name="Right Arrow 17418"/>
          <p:cNvSpPr/>
          <p:nvPr/>
        </p:nvSpPr>
        <p:spPr>
          <a:xfrm>
            <a:off x="7891272" y="2084831"/>
            <a:ext cx="182879" cy="182880"/>
          </a:xfrm>
          <a:prstGeom prst="rightArrow">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0" name="Rounded Rectangle 17419"/>
          <p:cNvSpPr/>
          <p:nvPr/>
        </p:nvSpPr>
        <p:spPr>
          <a:xfrm>
            <a:off x="8092440" y="1554480"/>
            <a:ext cx="1700784" cy="1298448"/>
          </a:xfrm>
          <a:prstGeom prst="roundRect">
            <a:avLst>
              <a:gd name="adj" fmla="val 6000"/>
            </a:avLst>
          </a:prstGeom>
          <a:solidFill>
            <a:srgbClr val="E2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200" b="1">
                <a:solidFill>
                  <a:srgbClr val="0E7C86"/>
                </a:solidFill>
                <a:latin typeface="Arial"/>
              </a:rPr>
              <a:t>5</a:t>
            </a:r>
          </a:p>
          <a:p>
            <a:pPr>
              <a:lnSpc>
                <a:spcPct val="95000"/>
              </a:lnSpc>
              <a:spcBef>
                <a:spcPts val="200"/>
              </a:spcBef>
              <a:spcAft>
                <a:spcPts val="0"/>
              </a:spcAft>
            </a:pPr>
            <a:r>
              <a:rPr sz="1300" b="1">
                <a:solidFill>
                  <a:srgbClr val="1F497D"/>
                </a:solidFill>
                <a:latin typeface="Arial"/>
              </a:rPr>
              <a:t>MoSPI ingests it</a:t>
            </a:r>
          </a:p>
          <a:p>
            <a:pPr>
              <a:lnSpc>
                <a:spcPct val="95000"/>
              </a:lnSpc>
              <a:spcBef>
                <a:spcPts val="400"/>
              </a:spcBef>
              <a:spcAft>
                <a:spcPts val="0"/>
              </a:spcAft>
            </a:pPr>
            <a:r>
              <a:rPr sz="1050" b="0">
                <a:solidFill>
                  <a:srgbClr val="5A626C"/>
                </a:solidFill>
                <a:latin typeface="Arial"/>
              </a:rPr>
              <a:t>REST API with method, coverage
and revision history attached</a:t>
            </a:r>
          </a:p>
        </p:txBody>
      </p:sp>
      <p:sp>
        <p:nvSpPr>
          <p:cNvPr id="17421" name="Right Arrow 17420"/>
          <p:cNvSpPr/>
          <p:nvPr/>
        </p:nvSpPr>
        <p:spPr>
          <a:xfrm>
            <a:off x="9811511" y="2084831"/>
            <a:ext cx="182879" cy="182880"/>
          </a:xfrm>
          <a:prstGeom prst="rightArrow">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2" name="Rounded Rectangle 17421"/>
          <p:cNvSpPr/>
          <p:nvPr/>
        </p:nvSpPr>
        <p:spPr>
          <a:xfrm>
            <a:off x="10012680" y="1554480"/>
            <a:ext cx="1700784" cy="1298448"/>
          </a:xfrm>
          <a:prstGeom prst="roundRect">
            <a:avLst>
              <a:gd name="adj" fmla="val 6000"/>
            </a:avLst>
          </a:prstGeom>
          <a:solidFill>
            <a:srgbClr val="F4EA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200" b="1">
                <a:solidFill>
                  <a:srgbClr val="7A3E6B"/>
                </a:solidFill>
                <a:latin typeface="Arial"/>
              </a:rPr>
              <a:t>6</a:t>
            </a:r>
          </a:p>
          <a:p>
            <a:pPr>
              <a:lnSpc>
                <a:spcPct val="95000"/>
              </a:lnSpc>
              <a:spcBef>
                <a:spcPts val="200"/>
              </a:spcBef>
              <a:spcAft>
                <a:spcPts val="0"/>
              </a:spcAft>
            </a:pPr>
            <a:r>
              <a:rPr sz="1300" b="1">
                <a:solidFill>
                  <a:srgbClr val="1F497D"/>
                </a:solidFill>
                <a:latin typeface="Arial"/>
              </a:rPr>
              <a:t>CPI reflects reality</a:t>
            </a:r>
          </a:p>
          <a:p>
            <a:pPr>
              <a:lnSpc>
                <a:spcPct val="95000"/>
              </a:lnSpc>
              <a:spcBef>
                <a:spcPts val="400"/>
              </a:spcBef>
              <a:spcAft>
                <a:spcPts val="0"/>
              </a:spcAft>
            </a:pPr>
            <a:r>
              <a:rPr sz="1050" b="0">
                <a:solidFill>
                  <a:srgbClr val="5A626C"/>
                </a:solidFill>
                <a:latin typeface="Arial"/>
              </a:rPr>
              <a:t>Transport sub-index priced from
144 daily observations, not 1 visit</a:t>
            </a:r>
          </a:p>
        </p:txBody>
      </p:sp>
      <p:pic>
        <p:nvPicPr>
          <p:cNvPr id="17423" name="Picture 17422" descr="portal-shot.png"/>
          <p:cNvPicPr>
            <a:picLocks noChangeAspect="1"/>
          </p:cNvPicPr>
          <p:nvPr/>
        </p:nvPicPr>
        <p:blipFill>
          <a:blip r:embed="rId4"/>
          <a:stretch>
            <a:fillRect/>
          </a:stretch>
        </p:blipFill>
        <p:spPr>
          <a:xfrm>
            <a:off x="411480" y="3072384"/>
            <a:ext cx="5669280" cy="2755900"/>
          </a:xfrm>
          <a:prstGeom prst="rect">
            <a:avLst/>
          </a:prstGeom>
        </p:spPr>
      </p:pic>
      <p:sp>
        <p:nvSpPr>
          <p:cNvPr id="17424" name="TextBox 17423"/>
          <p:cNvSpPr txBox="1"/>
          <p:nvPr/>
        </p:nvSpPr>
        <p:spPr>
          <a:xfrm>
            <a:off x="411480" y="5870448"/>
            <a:ext cx="5669280" cy="402336"/>
          </a:xfrm>
          <a:prstGeom prst="rect">
            <a:avLst/>
          </a:prstGeom>
          <a:noFill/>
        </p:spPr>
        <p:txBody>
          <a:bodyPr wrap="square" lIns="36576" rIns="36576">
            <a:spAutoFit/>
          </a:bodyPr>
          <a:lstStyle/>
          <a:p>
            <a:pPr>
              <a:lnSpc>
                <a:spcPct val="100000"/>
              </a:lnSpc>
              <a:spcBef>
                <a:spcPts val="0"/>
              </a:spcBef>
              <a:spcAft>
                <a:spcPts val="0"/>
              </a:spcAft>
            </a:pPr>
            <a:r>
              <a:rPr sz="1200" b="1">
                <a:solidFill>
                  <a:srgbClr val="4F81BD"/>
                </a:solidFill>
                <a:latin typeface="Arial"/>
                <a:hlinkClick r:id="rId5"/>
              </a:rPr>
              <a:t>Live: apix-portal.pages.dev</a:t>
            </a:r>
          </a:p>
          <a:p>
            <a:pPr>
              <a:lnSpc>
                <a:spcPct val="100000"/>
              </a:lnSpc>
              <a:spcBef>
                <a:spcPts val="200"/>
              </a:spcBef>
              <a:spcAft>
                <a:spcPts val="0"/>
              </a:spcAft>
            </a:pPr>
            <a:r>
              <a:rPr sz="1100" b="0">
                <a:solidFill>
                  <a:srgbClr val="5A626C"/>
                </a:solidFill>
                <a:latin typeface="Arial"/>
              </a:rPr>
              <a:t>Headline inflation, release status and the method, stated on the page.</a:t>
            </a:r>
          </a:p>
        </p:txBody>
      </p:sp>
      <p:sp>
        <p:nvSpPr>
          <p:cNvPr id="17425" name="TextBox 17424"/>
          <p:cNvSpPr txBox="1"/>
          <p:nvPr/>
        </p:nvSpPr>
        <p:spPr>
          <a:xfrm>
            <a:off x="6400800" y="3035808"/>
            <a:ext cx="5394960" cy="274320"/>
          </a:xfrm>
          <a:prstGeom prst="rect">
            <a:avLst/>
          </a:prstGeom>
          <a:noFill/>
        </p:spPr>
        <p:txBody>
          <a:bodyPr wrap="square" lIns="36576" rIns="36576" tIns="18288" bIns="18288">
            <a:spAutoFit/>
          </a:bodyPr>
          <a:lstStyle/>
          <a:p>
            <a:pPr>
              <a:lnSpc>
                <a:spcPct val="95000"/>
              </a:lnSpc>
              <a:spcBef>
                <a:spcPts val="0"/>
              </a:spcBef>
              <a:spcAft>
                <a:spcPts val="0"/>
              </a:spcAft>
            </a:pPr>
            <a:r>
              <a:rPr sz="1500" b="1">
                <a:solidFill>
                  <a:srgbClr val="1F497D"/>
                </a:solidFill>
                <a:latin typeface="Arial"/>
              </a:rPr>
              <a:t>Who benefits, and how</a:t>
            </a:r>
          </a:p>
        </p:txBody>
      </p:sp>
      <p:sp>
        <p:nvSpPr>
          <p:cNvPr id="17426" name="Rectangle 17425"/>
          <p:cNvSpPr/>
          <p:nvPr/>
        </p:nvSpPr>
        <p:spPr>
          <a:xfrm>
            <a:off x="6419088" y="3310127"/>
            <a:ext cx="1371600" cy="25603"/>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7" name="Rounded Rectangle 17426"/>
          <p:cNvSpPr/>
          <p:nvPr/>
        </p:nvSpPr>
        <p:spPr>
          <a:xfrm>
            <a:off x="6400800" y="3438144"/>
            <a:ext cx="1691640" cy="292608"/>
          </a:xfrm>
          <a:prstGeom prst="roundRect">
            <a:avLst>
              <a:gd name="adj" fmla="val 6000"/>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1100" b="1">
                <a:solidFill>
                  <a:srgbClr val="FFFFFF"/>
                </a:solidFill>
                <a:latin typeface="Arial"/>
              </a:rPr>
              <a:t>MoSPI / NSO</a:t>
            </a:r>
          </a:p>
        </p:txBody>
      </p:sp>
      <p:sp>
        <p:nvSpPr>
          <p:cNvPr id="17428" name="TextBox 17427"/>
          <p:cNvSpPr txBox="1"/>
          <p:nvPr/>
        </p:nvSpPr>
        <p:spPr>
          <a:xfrm>
            <a:off x="8275320" y="3419856"/>
            <a:ext cx="3520440" cy="457200"/>
          </a:xfrm>
          <a:prstGeom prst="rect">
            <a:avLst/>
          </a:prstGeom>
          <a:noFill/>
        </p:spPr>
        <p:txBody>
          <a:bodyPr wrap="square" lIns="36576" rIns="36576" tIns="18288" bIns="18288">
            <a:spAutoFit/>
          </a:bodyPr>
          <a:lstStyle/>
          <a:p>
            <a:pPr>
              <a:lnSpc>
                <a:spcPct val="95000"/>
              </a:lnSpc>
              <a:spcBef>
                <a:spcPts val="0"/>
              </a:spcBef>
              <a:spcAft>
                <a:spcPts val="0"/>
              </a:spcAft>
            </a:pPr>
            <a:r>
              <a:rPr sz="1200" b="0">
                <a:solidFill>
                  <a:srgbClr val="262B33"/>
                </a:solidFill>
                <a:latin typeface="Arial"/>
              </a:rPr>
              <a:t>A defensible transport input, recomputable from stored micro-data</a:t>
            </a:r>
          </a:p>
        </p:txBody>
      </p:sp>
      <p:sp>
        <p:nvSpPr>
          <p:cNvPr id="17429" name="Rounded Rectangle 17428"/>
          <p:cNvSpPr/>
          <p:nvPr/>
        </p:nvSpPr>
        <p:spPr>
          <a:xfrm>
            <a:off x="6400800" y="3986783"/>
            <a:ext cx="1691640" cy="292608"/>
          </a:xfrm>
          <a:prstGeom prst="roundRect">
            <a:avLst>
              <a:gd name="adj" fmla="val 6000"/>
            </a:avLst>
          </a:prstGeom>
          <a:solidFill>
            <a:srgbClr val="1B8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1100" b="1">
                <a:solidFill>
                  <a:srgbClr val="FFFFFF"/>
                </a:solidFill>
                <a:latin typeface="Arial"/>
              </a:rPr>
              <a:t>DGCA and policy</a:t>
            </a:r>
          </a:p>
        </p:txBody>
      </p:sp>
      <p:sp>
        <p:nvSpPr>
          <p:cNvPr id="17430" name="TextBox 17429"/>
          <p:cNvSpPr txBox="1"/>
          <p:nvPr/>
        </p:nvSpPr>
        <p:spPr>
          <a:xfrm>
            <a:off x="8275320" y="3968496"/>
            <a:ext cx="3520440" cy="457200"/>
          </a:xfrm>
          <a:prstGeom prst="rect">
            <a:avLst/>
          </a:prstGeom>
          <a:noFill/>
        </p:spPr>
        <p:txBody>
          <a:bodyPr wrap="square" lIns="36576" rIns="36576" tIns="18288" bIns="18288">
            <a:spAutoFit/>
          </a:bodyPr>
          <a:lstStyle/>
          <a:p>
            <a:pPr>
              <a:lnSpc>
                <a:spcPct val="95000"/>
              </a:lnSpc>
              <a:spcBef>
                <a:spcPts val="0"/>
              </a:spcBef>
              <a:spcAft>
                <a:spcPts val="0"/>
              </a:spcAft>
            </a:pPr>
            <a:r>
              <a:rPr sz="1200" b="0">
                <a:solidFill>
                  <a:srgbClr val="262B33"/>
                </a:solidFill>
                <a:latin typeface="Arial"/>
              </a:rPr>
              <a:t>Route-level fare behaviour nobody currently publishes</a:t>
            </a:r>
          </a:p>
        </p:txBody>
      </p:sp>
      <p:sp>
        <p:nvSpPr>
          <p:cNvPr id="17431" name="Rounded Rectangle 17430"/>
          <p:cNvSpPr/>
          <p:nvPr/>
        </p:nvSpPr>
        <p:spPr>
          <a:xfrm>
            <a:off x="6400800" y="4535423"/>
            <a:ext cx="1691640" cy="292608"/>
          </a:xfrm>
          <a:prstGeom prst="roundRect">
            <a:avLst>
              <a:gd name="adj" fmla="val 6000"/>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1100" b="1">
                <a:solidFill>
                  <a:srgbClr val="FFFFFF"/>
                </a:solidFill>
                <a:latin typeface="Arial"/>
              </a:rPr>
              <a:t>Citizens</a:t>
            </a:r>
          </a:p>
        </p:txBody>
      </p:sp>
      <p:sp>
        <p:nvSpPr>
          <p:cNvPr id="17432" name="TextBox 17431"/>
          <p:cNvSpPr txBox="1"/>
          <p:nvPr/>
        </p:nvSpPr>
        <p:spPr>
          <a:xfrm>
            <a:off x="8275320" y="4517136"/>
            <a:ext cx="3520440" cy="457200"/>
          </a:xfrm>
          <a:prstGeom prst="rect">
            <a:avLst/>
          </a:prstGeom>
          <a:noFill/>
        </p:spPr>
        <p:txBody>
          <a:bodyPr wrap="square" lIns="36576" rIns="36576" tIns="18288" bIns="18288">
            <a:spAutoFit/>
          </a:bodyPr>
          <a:lstStyle/>
          <a:p>
            <a:pPr>
              <a:lnSpc>
                <a:spcPct val="95000"/>
              </a:lnSpc>
              <a:spcBef>
                <a:spcPts val="0"/>
              </a:spcBef>
              <a:spcAft>
                <a:spcPts val="0"/>
              </a:spcAft>
            </a:pPr>
            <a:r>
              <a:rPr sz="1200" b="0">
                <a:solidFill>
                  <a:srgbClr val="262B33"/>
                </a:solidFill>
                <a:latin typeface="Arial"/>
              </a:rPr>
              <a:t>A public record of what air travel actually costs over time</a:t>
            </a:r>
          </a:p>
        </p:txBody>
      </p:sp>
      <p:sp>
        <p:nvSpPr>
          <p:cNvPr id="17433" name="Rounded Rectangle 17432"/>
          <p:cNvSpPr/>
          <p:nvPr/>
        </p:nvSpPr>
        <p:spPr>
          <a:xfrm>
            <a:off x="6400800" y="5084063"/>
            <a:ext cx="1691640" cy="292608"/>
          </a:xfrm>
          <a:prstGeom prst="roundRect">
            <a:avLst>
              <a:gd name="adj" fmla="val 6000"/>
            </a:avLst>
          </a:prstGeom>
          <a:solidFill>
            <a:srgbClr val="4B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1100" b="1">
                <a:solidFill>
                  <a:srgbClr val="FFFFFF"/>
                </a:solidFill>
                <a:latin typeface="Arial"/>
              </a:rPr>
              <a:t>Researchers</a:t>
            </a:r>
          </a:p>
        </p:txBody>
      </p:sp>
      <p:sp>
        <p:nvSpPr>
          <p:cNvPr id="17434" name="TextBox 17433"/>
          <p:cNvSpPr txBox="1"/>
          <p:nvPr/>
        </p:nvSpPr>
        <p:spPr>
          <a:xfrm>
            <a:off x="8275320" y="5065775"/>
            <a:ext cx="3520440" cy="457200"/>
          </a:xfrm>
          <a:prstGeom prst="rect">
            <a:avLst/>
          </a:prstGeom>
          <a:noFill/>
        </p:spPr>
        <p:txBody>
          <a:bodyPr wrap="square" lIns="36576" rIns="36576" tIns="18288" bIns="18288">
            <a:spAutoFit/>
          </a:bodyPr>
          <a:lstStyle/>
          <a:p>
            <a:pPr>
              <a:lnSpc>
                <a:spcPct val="95000"/>
              </a:lnSpc>
              <a:spcBef>
                <a:spcPts val="0"/>
              </a:spcBef>
              <a:spcAft>
                <a:spcPts val="0"/>
              </a:spcAft>
            </a:pPr>
            <a:r>
              <a:rPr sz="1200" b="0">
                <a:solidFill>
                  <a:srgbClr val="262B33"/>
                </a:solidFill>
                <a:latin typeface="Arial"/>
              </a:rPr>
              <a:t>An open, reproducible price series for a market that has none</a:t>
            </a:r>
          </a:p>
        </p:txBody>
      </p:sp>
      <p:sp>
        <p:nvSpPr>
          <p:cNvPr id="17435" name="Rounded Rectangle 17434"/>
          <p:cNvSpPr/>
          <p:nvPr/>
        </p:nvSpPr>
        <p:spPr>
          <a:xfrm>
            <a:off x="6400800" y="5504688"/>
            <a:ext cx="5394960" cy="768096"/>
          </a:xfrm>
          <a:prstGeom prst="roundRect">
            <a:avLst>
              <a:gd name="adj" fmla="val 6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150" b="1">
                <a:solidFill>
                  <a:srgbClr val="1B8A5A"/>
                </a:solidFill>
                <a:latin typeface="Arial"/>
              </a:rPr>
              <a:t>OUR PROMISE</a:t>
            </a:r>
          </a:p>
          <a:p>
            <a:pPr>
              <a:lnSpc>
                <a:spcPct val="95000"/>
              </a:lnSpc>
              <a:spcBef>
                <a:spcPts val="300"/>
              </a:spcBef>
              <a:spcAft>
                <a:spcPts val="0"/>
              </a:spcAft>
            </a:pPr>
            <a:r>
              <a:rPr sz="1300" b="0">
                <a:solidFill>
                  <a:srgbClr val="262B33"/>
                </a:solidFill>
                <a:latin typeface="Arial"/>
              </a:rPr>
              <a:t>Replace one manual price visit a month with 144 automated observations a day — at zero marginal cost.</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lgn="ctr"/>
            <a:r>
              <a:rPr sz="2800" b="1">
                <a:solidFill>
                  <a:srgbClr val="1F497D"/>
                </a:solidFill>
                <a:latin typeface="Times New Roman"/>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50" b="1"/>
              <a:t>Fare Enough 101</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Rounded Rectangle 17409"/>
          <p:cNvSpPr/>
          <p:nvPr/>
        </p:nvSpPr>
        <p:spPr>
          <a:xfrm>
            <a:off x="411480" y="1133856"/>
            <a:ext cx="3703320" cy="1700784"/>
          </a:xfrm>
          <a:prstGeom prst="roundRect">
            <a:avLst>
              <a:gd name="adj" fmla="val 6000"/>
            </a:avLst>
          </a:prstGeom>
          <a:solidFill>
            <a:srgbClr val="E8F0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1" name="Rectangle 17410"/>
          <p:cNvSpPr/>
          <p:nvPr/>
        </p:nvSpPr>
        <p:spPr>
          <a:xfrm>
            <a:off x="411480" y="1133856"/>
            <a:ext cx="3703320" cy="64008"/>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TextBox 17411"/>
          <p:cNvSpPr txBox="1"/>
          <p:nvPr/>
        </p:nvSpPr>
        <p:spPr>
          <a:xfrm>
            <a:off x="557784" y="1280160"/>
            <a:ext cx="3410712" cy="1444752"/>
          </a:xfrm>
          <a:prstGeom prst="rect">
            <a:avLst/>
          </a:prstGeom>
          <a:noFill/>
        </p:spPr>
        <p:txBody>
          <a:bodyPr wrap="square" lIns="36576" rIns="36576">
            <a:spAutoFit/>
          </a:bodyPr>
          <a:lstStyle/>
          <a:p>
            <a:pPr>
              <a:lnSpc>
                <a:spcPct val="100000"/>
              </a:lnSpc>
              <a:spcBef>
                <a:spcPts val="0"/>
              </a:spcBef>
              <a:spcAft>
                <a:spcPts val="0"/>
              </a:spcAft>
            </a:pPr>
            <a:r>
              <a:rPr sz="1350" b="1">
                <a:solidFill>
                  <a:srgbClr val="4F81BD"/>
                </a:solidFill>
                <a:latin typeface="Arial"/>
              </a:rPr>
              <a:t>Method — why Jevons</a:t>
            </a:r>
          </a:p>
          <a:p>
            <a:pPr>
              <a:lnSpc>
                <a:spcPct val="100000"/>
              </a:lnSpc>
              <a:spcBef>
                <a:spcPts val="400"/>
              </a:spcBef>
              <a:spcAft>
                <a:spcPts val="0"/>
              </a:spcAft>
            </a:pPr>
            <a:r>
              <a:rPr sz="1150" b="0">
                <a:solidFill>
                  <a:srgbClr val="262B33"/>
                </a:solidFill>
                <a:latin typeface="Arial"/>
              </a:rPr>
              <a:t>Eurostat, Practical guidelines on web scraping for the HICP (2020). Names air fares explicitly as a scraped category.</a:t>
            </a:r>
          </a:p>
          <a:p>
            <a:pPr>
              <a:lnSpc>
                <a:spcPct val="100000"/>
              </a:lnSpc>
              <a:spcBef>
                <a:spcPts val="500"/>
              </a:spcBef>
              <a:spcAft>
                <a:spcPts val="0"/>
              </a:spcAft>
            </a:pPr>
            <a:r>
              <a:rPr sz="1100" b="1">
                <a:solidFill>
                  <a:srgbClr val="4F81BD"/>
                </a:solidFill>
                <a:latin typeface="Arial"/>
                <a:hlinkClick r:id="rId4"/>
              </a:rPr>
              <a:t>Eurostat HICP guidance →</a:t>
            </a:r>
          </a:p>
        </p:txBody>
      </p:sp>
      <p:sp>
        <p:nvSpPr>
          <p:cNvPr id="17413" name="Rounded Rectangle 17412"/>
          <p:cNvSpPr/>
          <p:nvPr/>
        </p:nvSpPr>
        <p:spPr>
          <a:xfrm>
            <a:off x="4370832" y="1133856"/>
            <a:ext cx="3703320" cy="1700784"/>
          </a:xfrm>
          <a:prstGeom prst="roundRect">
            <a:avLst>
              <a:gd name="adj" fmla="val 6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4" name="Rectangle 17413"/>
          <p:cNvSpPr/>
          <p:nvPr/>
        </p:nvSpPr>
        <p:spPr>
          <a:xfrm>
            <a:off x="4370832" y="1133856"/>
            <a:ext cx="3703320" cy="64008"/>
          </a:xfrm>
          <a:prstGeom prst="rect">
            <a:avLst/>
          </a:prstGeom>
          <a:solidFill>
            <a:srgbClr val="1B8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5" name="TextBox 17414"/>
          <p:cNvSpPr txBox="1"/>
          <p:nvPr/>
        </p:nvSpPr>
        <p:spPr>
          <a:xfrm>
            <a:off x="4517136" y="1280160"/>
            <a:ext cx="3410712" cy="1444752"/>
          </a:xfrm>
          <a:prstGeom prst="rect">
            <a:avLst/>
          </a:prstGeom>
          <a:noFill/>
        </p:spPr>
        <p:txBody>
          <a:bodyPr wrap="square" lIns="36576" rIns="36576">
            <a:spAutoFit/>
          </a:bodyPr>
          <a:lstStyle/>
          <a:p>
            <a:pPr>
              <a:lnSpc>
                <a:spcPct val="100000"/>
              </a:lnSpc>
              <a:spcBef>
                <a:spcPts val="0"/>
              </a:spcBef>
              <a:spcAft>
                <a:spcPts val="0"/>
              </a:spcAft>
            </a:pPr>
            <a:r>
              <a:rPr sz="1350" b="1">
                <a:solidFill>
                  <a:srgbClr val="1B8A5A"/>
                </a:solidFill>
                <a:latin typeface="Arial"/>
              </a:rPr>
              <a:t>Precedent — already done</a:t>
            </a:r>
          </a:p>
          <a:p>
            <a:pPr>
              <a:lnSpc>
                <a:spcPct val="100000"/>
              </a:lnSpc>
              <a:spcBef>
                <a:spcPts val="400"/>
              </a:spcBef>
              <a:spcAft>
                <a:spcPts val="0"/>
              </a:spcAft>
            </a:pPr>
            <a:r>
              <a:rPr sz="1150" b="0">
                <a:solidFill>
                  <a:srgbClr val="262B33"/>
                </a:solidFill>
                <a:latin typeface="Arial"/>
              </a:rPr>
              <a:t>ONS ran a web-scraping programme for consumer prices from 2014, Eurostat-funded from 2015.</a:t>
            </a:r>
          </a:p>
          <a:p>
            <a:pPr>
              <a:lnSpc>
                <a:spcPct val="100000"/>
              </a:lnSpc>
              <a:spcBef>
                <a:spcPts val="500"/>
              </a:spcBef>
              <a:spcAft>
                <a:spcPts val="0"/>
              </a:spcAft>
            </a:pPr>
            <a:r>
              <a:rPr sz="1100" b="1">
                <a:solidFill>
                  <a:srgbClr val="4F81BD"/>
                </a:solidFill>
                <a:latin typeface="Arial"/>
                <a:hlinkClick r:id="rId5"/>
              </a:rPr>
              <a:t>ONS research indices →</a:t>
            </a:r>
          </a:p>
        </p:txBody>
      </p:sp>
      <p:sp>
        <p:nvSpPr>
          <p:cNvPr id="17416" name="Rounded Rectangle 17415"/>
          <p:cNvSpPr/>
          <p:nvPr/>
        </p:nvSpPr>
        <p:spPr>
          <a:xfrm>
            <a:off x="8330183" y="1133856"/>
            <a:ext cx="3703320" cy="1700784"/>
          </a:xfrm>
          <a:prstGeom prst="roundRect">
            <a:avLst>
              <a:gd name="adj" fmla="val 6000"/>
            </a:avLst>
          </a:prstGeom>
          <a:solidFill>
            <a:srgbClr val="FB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7" name="Rectangle 17416"/>
          <p:cNvSpPr/>
          <p:nvPr/>
        </p:nvSpPr>
        <p:spPr>
          <a:xfrm>
            <a:off x="8330183" y="1133856"/>
            <a:ext cx="3703320" cy="64008"/>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8" name="TextBox 17417"/>
          <p:cNvSpPr txBox="1"/>
          <p:nvPr/>
        </p:nvSpPr>
        <p:spPr>
          <a:xfrm>
            <a:off x="8476488" y="1280160"/>
            <a:ext cx="3410712" cy="1444752"/>
          </a:xfrm>
          <a:prstGeom prst="rect">
            <a:avLst/>
          </a:prstGeom>
          <a:noFill/>
        </p:spPr>
        <p:txBody>
          <a:bodyPr wrap="square" lIns="36576" rIns="36576">
            <a:spAutoFit/>
          </a:bodyPr>
          <a:lstStyle/>
          <a:p>
            <a:pPr>
              <a:lnSpc>
                <a:spcPct val="100000"/>
              </a:lnSpc>
              <a:spcBef>
                <a:spcPts val="0"/>
              </a:spcBef>
              <a:spcAft>
                <a:spcPts val="0"/>
              </a:spcAft>
            </a:pPr>
            <a:r>
              <a:rPr sz="1350" b="1">
                <a:solidFill>
                  <a:srgbClr val="C77700"/>
                </a:solidFill>
                <a:latin typeface="Arial"/>
              </a:rPr>
              <a:t>The Indian basket</a:t>
            </a:r>
          </a:p>
          <a:p>
            <a:pPr>
              <a:lnSpc>
                <a:spcPct val="100000"/>
              </a:lnSpc>
              <a:spcBef>
                <a:spcPts val="400"/>
              </a:spcBef>
              <a:spcAft>
                <a:spcPts val="0"/>
              </a:spcAft>
            </a:pPr>
            <a:r>
              <a:rPr sz="1150" b="0">
                <a:solidFill>
                  <a:srgbClr val="262B33"/>
                </a:solidFill>
                <a:latin typeface="Arial"/>
              </a:rPr>
              <a:t>DGCA city-pair statistics: 164 m domestic passengers, IndiGo 64.2%. Our own 1,000-fare sample returned 68.2% — arrived at independently.</a:t>
            </a:r>
          </a:p>
          <a:p>
            <a:pPr>
              <a:lnSpc>
                <a:spcPct val="100000"/>
              </a:lnSpc>
              <a:spcBef>
                <a:spcPts val="500"/>
              </a:spcBef>
              <a:spcAft>
                <a:spcPts val="0"/>
              </a:spcAft>
            </a:pPr>
            <a:r>
              <a:rPr sz="1100" b="1">
                <a:solidFill>
                  <a:srgbClr val="4F81BD"/>
                </a:solidFill>
                <a:latin typeface="Arial"/>
                <a:hlinkClick r:id="rId6"/>
              </a:rPr>
              <a:t>DGCA monthly statistics →</a:t>
            </a:r>
          </a:p>
        </p:txBody>
      </p:sp>
      <p:sp>
        <p:nvSpPr>
          <p:cNvPr id="17419" name="Rounded Rectangle 17418"/>
          <p:cNvSpPr/>
          <p:nvPr/>
        </p:nvSpPr>
        <p:spPr>
          <a:xfrm>
            <a:off x="411480" y="2999232"/>
            <a:ext cx="3703320" cy="1700784"/>
          </a:xfrm>
          <a:prstGeom prst="roundRect">
            <a:avLst>
              <a:gd name="adj" fmla="val 6000"/>
            </a:avLst>
          </a:prstGeom>
          <a:solidFill>
            <a:srgbClr val="EC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0" name="Rectangle 17419"/>
          <p:cNvSpPr/>
          <p:nvPr/>
        </p:nvSpPr>
        <p:spPr>
          <a:xfrm>
            <a:off x="411480" y="2999232"/>
            <a:ext cx="3703320" cy="64008"/>
          </a:xfrm>
          <a:prstGeom prst="rect">
            <a:avLst/>
          </a:prstGeom>
          <a:solidFill>
            <a:srgbClr val="4B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1" name="TextBox 17420"/>
          <p:cNvSpPr txBox="1"/>
          <p:nvPr/>
        </p:nvSpPr>
        <p:spPr>
          <a:xfrm>
            <a:off x="557784" y="3145536"/>
            <a:ext cx="3410712" cy="1444752"/>
          </a:xfrm>
          <a:prstGeom prst="rect">
            <a:avLst/>
          </a:prstGeom>
          <a:noFill/>
        </p:spPr>
        <p:txBody>
          <a:bodyPr wrap="square" lIns="36576" rIns="36576">
            <a:spAutoFit/>
          </a:bodyPr>
          <a:lstStyle/>
          <a:p>
            <a:pPr>
              <a:lnSpc>
                <a:spcPct val="100000"/>
              </a:lnSpc>
              <a:spcBef>
                <a:spcPts val="0"/>
              </a:spcBef>
              <a:spcAft>
                <a:spcPts val="0"/>
              </a:spcAft>
            </a:pPr>
            <a:r>
              <a:rPr sz="1350" b="1">
                <a:solidFill>
                  <a:srgbClr val="4B3F8C"/>
                </a:solidFill>
                <a:latin typeface="Arial"/>
              </a:rPr>
              <a:t>Standards we hold to</a:t>
            </a:r>
          </a:p>
          <a:p>
            <a:pPr>
              <a:lnSpc>
                <a:spcPct val="100000"/>
              </a:lnSpc>
              <a:spcBef>
                <a:spcPts val="400"/>
              </a:spcBef>
              <a:spcAft>
                <a:spcPts val="0"/>
              </a:spcAft>
            </a:pPr>
            <a:r>
              <a:rPr sz="1150" b="0">
                <a:solidFill>
                  <a:srgbClr val="262B33"/>
                </a:solidFill>
                <a:latin typeface="Arial"/>
              </a:rPr>
              <a:t>RFC 9309, the Robots Exclusion Protocol. We implemented it ourselves after finding Python's standard parser reports disallowed paths as allowed.</a:t>
            </a:r>
          </a:p>
          <a:p>
            <a:pPr>
              <a:lnSpc>
                <a:spcPct val="100000"/>
              </a:lnSpc>
              <a:spcBef>
                <a:spcPts val="500"/>
              </a:spcBef>
              <a:spcAft>
                <a:spcPts val="0"/>
              </a:spcAft>
            </a:pPr>
            <a:r>
              <a:rPr sz="1100" b="1">
                <a:solidFill>
                  <a:srgbClr val="4F81BD"/>
                </a:solidFill>
                <a:latin typeface="Arial"/>
                <a:hlinkClick r:id="rId7"/>
              </a:rPr>
              <a:t>RFC 9309 →</a:t>
            </a:r>
          </a:p>
        </p:txBody>
      </p:sp>
      <p:sp>
        <p:nvSpPr>
          <p:cNvPr id="17422" name="Rounded Rectangle 17421"/>
          <p:cNvSpPr/>
          <p:nvPr/>
        </p:nvSpPr>
        <p:spPr>
          <a:xfrm>
            <a:off x="4370832" y="2999232"/>
            <a:ext cx="3703320" cy="1700784"/>
          </a:xfrm>
          <a:prstGeom prst="roundRect">
            <a:avLst>
              <a:gd name="adj" fmla="val 6000"/>
            </a:avLst>
          </a:prstGeom>
          <a:solidFill>
            <a:srgbClr val="E2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3" name="Rectangle 17422"/>
          <p:cNvSpPr/>
          <p:nvPr/>
        </p:nvSpPr>
        <p:spPr>
          <a:xfrm>
            <a:off x="4370832" y="2999232"/>
            <a:ext cx="3703320" cy="6400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4" name="TextBox 17423"/>
          <p:cNvSpPr txBox="1"/>
          <p:nvPr/>
        </p:nvSpPr>
        <p:spPr>
          <a:xfrm>
            <a:off x="4517136" y="3145536"/>
            <a:ext cx="3410712" cy="1444752"/>
          </a:xfrm>
          <a:prstGeom prst="rect">
            <a:avLst/>
          </a:prstGeom>
          <a:noFill/>
        </p:spPr>
        <p:txBody>
          <a:bodyPr wrap="square" lIns="36576" rIns="36576">
            <a:spAutoFit/>
          </a:bodyPr>
          <a:lstStyle/>
          <a:p>
            <a:pPr>
              <a:lnSpc>
                <a:spcPct val="100000"/>
              </a:lnSpc>
              <a:spcBef>
                <a:spcPts val="0"/>
              </a:spcBef>
              <a:spcAft>
                <a:spcPts val="0"/>
              </a:spcAft>
            </a:pPr>
            <a:r>
              <a:rPr sz="1350" b="1">
                <a:solidFill>
                  <a:srgbClr val="0E7C86"/>
                </a:solidFill>
                <a:latin typeface="Arial"/>
              </a:rPr>
              <a:t>CPI methodology</a:t>
            </a:r>
          </a:p>
          <a:p>
            <a:pPr>
              <a:lnSpc>
                <a:spcPct val="100000"/>
              </a:lnSpc>
              <a:spcBef>
                <a:spcPts val="400"/>
              </a:spcBef>
              <a:spcAft>
                <a:spcPts val="0"/>
              </a:spcAft>
            </a:pPr>
            <a:r>
              <a:rPr sz="1150" b="0">
                <a:solidFill>
                  <a:srgbClr val="262B33"/>
                </a:solidFill>
                <a:latin typeface="Arial"/>
              </a:rPr>
              <a:t>MoSPI CPI (Base 2012=100). Field collectors visit shops and markets monthly — the process this augments.</a:t>
            </a:r>
          </a:p>
          <a:p>
            <a:pPr>
              <a:lnSpc>
                <a:spcPct val="100000"/>
              </a:lnSpc>
              <a:spcBef>
                <a:spcPts val="500"/>
              </a:spcBef>
              <a:spcAft>
                <a:spcPts val="0"/>
              </a:spcAft>
            </a:pPr>
            <a:r>
              <a:rPr sz="1100" b="1">
                <a:solidFill>
                  <a:srgbClr val="4F81BD"/>
                </a:solidFill>
                <a:latin typeface="Arial"/>
                <a:hlinkClick r:id="rId8"/>
              </a:rPr>
              <a:t>MoSPI CPI series →</a:t>
            </a:r>
          </a:p>
        </p:txBody>
      </p:sp>
      <p:sp>
        <p:nvSpPr>
          <p:cNvPr id="17425" name="Rounded Rectangle 17424"/>
          <p:cNvSpPr/>
          <p:nvPr/>
        </p:nvSpPr>
        <p:spPr>
          <a:xfrm>
            <a:off x="8330183" y="2999232"/>
            <a:ext cx="3703320" cy="1700784"/>
          </a:xfrm>
          <a:prstGeom prst="roundRect">
            <a:avLst>
              <a:gd name="adj" fmla="val 6000"/>
            </a:avLst>
          </a:prstGeom>
          <a:solidFill>
            <a:srgbClr val="F4EA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6" name="Rectangle 17425"/>
          <p:cNvSpPr/>
          <p:nvPr/>
        </p:nvSpPr>
        <p:spPr>
          <a:xfrm>
            <a:off x="8330183" y="2999232"/>
            <a:ext cx="3703320" cy="64008"/>
          </a:xfrm>
          <a:prstGeom prst="rect">
            <a:avLst/>
          </a:prstGeom>
          <a:solidFill>
            <a:srgbClr val="7A3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7" name="TextBox 17426"/>
          <p:cNvSpPr txBox="1"/>
          <p:nvPr/>
        </p:nvSpPr>
        <p:spPr>
          <a:xfrm>
            <a:off x="8476488" y="3145536"/>
            <a:ext cx="3410712" cy="1444752"/>
          </a:xfrm>
          <a:prstGeom prst="rect">
            <a:avLst/>
          </a:prstGeom>
          <a:noFill/>
        </p:spPr>
        <p:txBody>
          <a:bodyPr wrap="square" lIns="36576" rIns="36576">
            <a:spAutoFit/>
          </a:bodyPr>
          <a:lstStyle/>
          <a:p>
            <a:pPr>
              <a:lnSpc>
                <a:spcPct val="100000"/>
              </a:lnSpc>
              <a:spcBef>
                <a:spcPts val="0"/>
              </a:spcBef>
              <a:spcAft>
                <a:spcPts val="0"/>
              </a:spcAft>
            </a:pPr>
            <a:r>
              <a:rPr sz="1350" b="1">
                <a:solidFill>
                  <a:srgbClr val="7A3E6B"/>
                </a:solidFill>
                <a:latin typeface="Arial"/>
              </a:rPr>
              <a:t>Our code and full method</a:t>
            </a:r>
          </a:p>
          <a:p>
            <a:pPr>
              <a:lnSpc>
                <a:spcPct val="100000"/>
              </a:lnSpc>
              <a:spcBef>
                <a:spcPts val="400"/>
              </a:spcBef>
              <a:spcAft>
                <a:spcPts val="0"/>
              </a:spcAft>
            </a:pPr>
            <a:r>
              <a:rPr sz="1150" b="0">
                <a:solidFill>
                  <a:srgbClr val="262B33"/>
                </a:solidFill>
                <a:latin typeface="Arial"/>
              </a:rPr>
              <a:t>Collector, index engine, export API and portal. The README documents the method, the exclusion rules and the publication threshold.</a:t>
            </a:r>
          </a:p>
          <a:p>
            <a:pPr>
              <a:lnSpc>
                <a:spcPct val="100000"/>
              </a:lnSpc>
              <a:spcBef>
                <a:spcPts val="500"/>
              </a:spcBef>
              <a:spcAft>
                <a:spcPts val="0"/>
              </a:spcAft>
            </a:pPr>
            <a:r>
              <a:rPr sz="1100" b="1">
                <a:solidFill>
                  <a:srgbClr val="4F81BD"/>
                </a:solidFill>
                <a:latin typeface="Arial"/>
                <a:hlinkClick r:id="rId9"/>
              </a:rPr>
              <a:t>github.com/BradCage-afk/sih-2026-airfare-index →</a:t>
            </a:r>
          </a:p>
        </p:txBody>
      </p:sp>
      <p:pic>
        <p:nvPicPr>
          <p:cNvPr id="17428" name="Picture 17427" descr="chart-survey.png"/>
          <p:cNvPicPr>
            <a:picLocks noChangeAspect="1"/>
          </p:cNvPicPr>
          <p:nvPr/>
        </p:nvPicPr>
        <p:blipFill>
          <a:blip r:embed="rId10"/>
          <a:stretch>
            <a:fillRect/>
          </a:stretch>
        </p:blipFill>
        <p:spPr>
          <a:xfrm>
            <a:off x="411480" y="4809744"/>
            <a:ext cx="4023360" cy="1333831"/>
          </a:xfrm>
          <a:prstGeom prst="rect">
            <a:avLst/>
          </a:prstGeom>
        </p:spPr>
      </p:pic>
      <p:sp>
        <p:nvSpPr>
          <p:cNvPr id="17429" name="TextBox 17428"/>
          <p:cNvSpPr txBox="1"/>
          <p:nvPr/>
        </p:nvSpPr>
        <p:spPr>
          <a:xfrm>
            <a:off x="4663440" y="4864608"/>
            <a:ext cx="7086600" cy="1371600"/>
          </a:xfrm>
          <a:prstGeom prst="rect">
            <a:avLst/>
          </a:prstGeom>
          <a:noFill/>
        </p:spPr>
        <p:txBody>
          <a:bodyPr wrap="square" lIns="36576" rIns="36576">
            <a:spAutoFit/>
          </a:bodyPr>
          <a:lstStyle/>
          <a:p>
            <a:pPr>
              <a:lnSpc>
                <a:spcPct val="100000"/>
              </a:lnSpc>
              <a:spcBef>
                <a:spcPts val="0"/>
              </a:spcBef>
              <a:spcAft>
                <a:spcPts val="0"/>
              </a:spcAft>
            </a:pPr>
            <a:r>
              <a:rPr sz="1300" b="1">
                <a:solidFill>
                  <a:srgbClr val="1F497D"/>
                </a:solidFill>
                <a:latin typeface="Arial"/>
              </a:rPr>
              <a:t>Everything above is reproducible.</a:t>
            </a:r>
          </a:p>
          <a:p>
            <a:pPr>
              <a:lnSpc>
                <a:spcPct val="100000"/>
              </a:lnSpc>
              <a:spcBef>
                <a:spcPts val="400"/>
              </a:spcBef>
              <a:spcAft>
                <a:spcPts val="0"/>
              </a:spcAft>
            </a:pPr>
            <a:r>
              <a:rPr sz="1150" b="0">
                <a:solidFill>
                  <a:srgbClr val="262B33"/>
                </a:solidFill>
                <a:latin typeface="Arial"/>
              </a:rPr>
              <a:t>The index, every chart in this deck and every figure on the portal are regenerated from the database by scripts in the repository. Nothing is transcribed by hand, so no number here can drift from what the system holds.</a:t>
            </a:r>
          </a:p>
          <a:p>
            <a:pPr>
              <a:lnSpc>
                <a:spcPct val="100000"/>
              </a:lnSpc>
              <a:spcBef>
                <a:spcPts val="500"/>
              </a:spcBef>
              <a:spcAft>
                <a:spcPts val="0"/>
              </a:spcAft>
            </a:pPr>
            <a:r>
              <a:rPr sz="1150" b="1">
                <a:solidFill>
                  <a:srgbClr val="4F81BD"/>
                </a:solidFill>
                <a:latin typeface="Arial"/>
                <a:hlinkClick r:id="rId11"/>
              </a:rPr>
              <a:t>Live API and interactive documentation →</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