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84048" y="1965960"/>
            <a:ext cx="5806440" cy="4526280"/>
          </a:xfrm>
          <a:prstGeom prst="rect">
            <a:avLst/>
          </a:prstGeom>
          <a:noFill/>
        </p:spPr>
        <p:txBody>
          <a:bodyPr wrap="square" rtlCol="0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ID</a:t>
            </a:r>
            <a:endParaRPr lang="en-US" dirty="0"/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SIH26056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PROBLEM STATEMENT TITLE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200" b="1">
                <a:solidFill>
                  <a:srgbClr val="262B33"/>
                </a:solidFill>
                <a:latin typeface="Arial"/>
              </a:rPr>
              <a:t>Development of a Real-time Airfare Price Index for India through Automated Web Scraping of Airline and Online Travel Aggregator Portals for Augmentation of the Consumer Price Index (CPI)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THEME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Travel &amp; Tourism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PS CATEGORY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Software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SPONSORING MINISTRY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MoSPI — Ministry of Statistics and Programme Implementation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ID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ID›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950" b="1">
                <a:solidFill>
                  <a:srgbClr val="4F81BD"/>
                </a:solidFill>
                <a:latin typeface="Arial"/>
              </a:rPr>
              <a:t>TEAM NAME</a:t>
            </a:r>
          </a:p>
          <a:p>
            <a:pPr>
              <a:lnSpc>
                <a:spcPct val="95000"/>
              </a:lnSpc>
              <a:spcBef>
                <a:spcPts val="100"/>
              </a:spcBef>
              <a:spcAft>
                <a:spcPts val="0"/>
              </a:spcAft>
            </a:pPr>
            <a:r>
              <a:rPr sz="1300" b="1">
                <a:solidFill>
                  <a:srgbClr val="262B33"/>
                </a:solidFill>
                <a:latin typeface="Arial"/>
              </a:rPr>
              <a:t>‹TEAM NAME›  (as registered on portal)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 algn="ctr"/>
            <a:r>
              <a:rPr sz="2600" b="1">
                <a:solidFill>
                  <a:srgbClr val="1F497D"/>
                </a:solidFill>
                <a:latin typeface="Times New Roman"/>
              </a:rPr>
              <a:t>MEASURING AIRFARE INFLATION FOR THE CPI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ounded Rectangle 15361"/>
          <p:cNvSpPr/>
          <p:nvPr/>
        </p:nvSpPr>
        <p:spPr>
          <a:xfrm>
            <a:off x="411480" y="1115568"/>
            <a:ext cx="5669280" cy="74980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THE PROBLEM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India's CPI prices air travel from occasional manual quotes. An airfare is not one price — it depends on when you book — so a single quote cannot represent it.</a:t>
            </a:r>
          </a:p>
        </p:txBody>
      </p:sp>
      <p:sp>
        <p:nvSpPr>
          <p:cNvPr id="15363" name="TextBox 15362"/>
          <p:cNvSpPr txBox="1"/>
          <p:nvPr/>
        </p:nvSpPr>
        <p:spPr>
          <a:xfrm>
            <a:off x="411480" y="2066543"/>
            <a:ext cx="5669280" cy="12801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Proposed Solution</a:t>
            </a:r>
          </a:p>
          <a:p>
            <a:pPr>
              <a:lnSpc>
                <a:spcPct val="95000"/>
              </a:lnSpc>
              <a:spcBef>
                <a:spcPts val="800"/>
              </a:spcBef>
              <a:spcAft>
                <a:spcPts val="0"/>
              </a:spcAft>
            </a:pPr>
            <a:r>
              <a:rPr sz="1500" b="0">
                <a:solidFill>
                  <a:srgbClr val="262B33"/>
                </a:solidFill>
                <a:latin typeface="Arial"/>
              </a:rPr>
              <a:t>APIx — a daily airfare inflation index, built by the method Eurostat and ONS use and published for MoSPI to ingest.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429768" y="2340864"/>
            <a:ext cx="1371600" cy="27432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365" name="Picture 15364" descr="chart-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063240"/>
            <a:ext cx="5257800" cy="3169596"/>
          </a:xfrm>
          <a:prstGeom prst="rect">
            <a:avLst/>
          </a:prstGeom>
        </p:spPr>
      </p:pic>
      <p:pic>
        <p:nvPicPr>
          <p:cNvPr id="15366" name="Picture 15365" descr="chart-ap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1133856"/>
            <a:ext cx="5394960" cy="2329642"/>
          </a:xfrm>
          <a:prstGeom prst="rect">
            <a:avLst/>
          </a:prstGeom>
        </p:spPr>
      </p:pic>
      <p:sp>
        <p:nvSpPr>
          <p:cNvPr id="15367" name="TextBox 15366"/>
          <p:cNvSpPr txBox="1"/>
          <p:nvPr/>
        </p:nvSpPr>
        <p:spPr>
          <a:xfrm>
            <a:off x="6400800" y="4224528"/>
            <a:ext cx="5394960" cy="777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1F497D"/>
                </a:solidFill>
                <a:latin typeface="Arial"/>
              </a:rPr>
              <a:t>Published from live observations.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5A626C"/>
                </a:solidFill>
                <a:latin typeface="Arial"/>
              </a:rPr>
              <a:t>36,000 fares across 298 runs. Days below the coverage threshold publish as provisional, not as settled.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6400800" y="5102352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Innovation</a:t>
            </a:r>
          </a:p>
        </p:txBody>
      </p:sp>
      <p:sp>
        <p:nvSpPr>
          <p:cNvPr id="15369" name="Rectangle 15368"/>
          <p:cNvSpPr/>
          <p:nvPr/>
        </p:nvSpPr>
        <p:spPr>
          <a:xfrm>
            <a:off x="6419088" y="5376672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70" name="TextBox 15369"/>
          <p:cNvSpPr txBox="1"/>
          <p:nvPr/>
        </p:nvSpPr>
        <p:spPr>
          <a:xfrm>
            <a:off x="6400800" y="5486400"/>
            <a:ext cx="5394960" cy="7315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Weighted Jevons — the international standard method.</a:t>
            </a:r>
          </a:p>
          <a:p>
            <a:pPr>
              <a:lnSpc>
                <a:spcPct val="95000"/>
              </a:lnSpc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•  Weights form a matrix: route seats × booking lead time.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113385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Methodology — one route, one booking window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Rounded Rectangle 17411"/>
          <p:cNvSpPr/>
          <p:nvPr/>
        </p:nvSpPr>
        <p:spPr>
          <a:xfrm>
            <a:off x="4114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1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Collect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Robots-gated fetch
every 10 minutes</a:t>
            </a:r>
          </a:p>
        </p:txBody>
      </p:sp>
      <p:sp>
        <p:nvSpPr>
          <p:cNvPr id="17413" name="Right Arrow 17412"/>
          <p:cNvSpPr/>
          <p:nvPr/>
        </p:nvSpPr>
        <p:spPr>
          <a:xfrm>
            <a:off x="213055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4" name="Rounded Rectangle 17413"/>
          <p:cNvSpPr/>
          <p:nvPr/>
        </p:nvSpPr>
        <p:spPr>
          <a:xfrm>
            <a:off x="233172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2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Extract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LLM → strict JSON
retry, then fail over</a:t>
            </a:r>
          </a:p>
        </p:txBody>
      </p:sp>
      <p:sp>
        <p:nvSpPr>
          <p:cNvPr id="17415" name="Right Arrow 17414"/>
          <p:cNvSpPr/>
          <p:nvPr/>
        </p:nvSpPr>
        <p:spPr>
          <a:xfrm>
            <a:off x="405079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6" name="Rounded Rectangle 17415"/>
          <p:cNvSpPr/>
          <p:nvPr/>
        </p:nvSpPr>
        <p:spPr>
          <a:xfrm>
            <a:off x="425196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3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Validate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Schema + range
never estimates</a:t>
            </a:r>
          </a:p>
        </p:txBody>
      </p:sp>
      <p:sp>
        <p:nvSpPr>
          <p:cNvPr id="17417" name="Right Arrow 17416"/>
          <p:cNvSpPr/>
          <p:nvPr/>
        </p:nvSpPr>
        <p:spPr>
          <a:xfrm>
            <a:off x="597103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Rounded Rectangle 17417"/>
          <p:cNvSpPr/>
          <p:nvPr/>
        </p:nvSpPr>
        <p:spPr>
          <a:xfrm>
            <a:off x="617220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4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Clean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Min 3 observations
exclusions published</a:t>
            </a:r>
          </a:p>
        </p:txBody>
      </p:sp>
      <p:sp>
        <p:nvSpPr>
          <p:cNvPr id="17419" name="Right Arrow 17418"/>
          <p:cNvSpPr/>
          <p:nvPr/>
        </p:nvSpPr>
        <p:spPr>
          <a:xfrm>
            <a:off x="7891272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0" name="Rounded Rectangle 17419"/>
          <p:cNvSpPr/>
          <p:nvPr/>
        </p:nvSpPr>
        <p:spPr>
          <a:xfrm>
            <a:off x="809244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5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Index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Weighted Jevons
route × lead time</a:t>
            </a:r>
          </a:p>
        </p:txBody>
      </p:sp>
      <p:sp>
        <p:nvSpPr>
          <p:cNvPr id="17421" name="Right Arrow 17420"/>
          <p:cNvSpPr/>
          <p:nvPr/>
        </p:nvSpPr>
        <p:spPr>
          <a:xfrm>
            <a:off x="9811511" y="2212848"/>
            <a:ext cx="182879" cy="201168"/>
          </a:xfrm>
          <a:prstGeom prst="rightArrow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Rounded Rectangle 17421"/>
          <p:cNvSpPr/>
          <p:nvPr/>
        </p:nvSpPr>
        <p:spPr>
          <a:xfrm>
            <a:off x="10012680" y="1627632"/>
            <a:ext cx="1700784" cy="137160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4F81BD"/>
                </a:solidFill>
                <a:latin typeface="Arial"/>
              </a:rPr>
              <a:t>6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Publish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150" b="0">
                <a:solidFill>
                  <a:srgbClr val="5A626C"/>
                </a:solidFill>
                <a:latin typeface="Arial"/>
              </a:rPr>
              <a:t>Portal + REST API
for MoSPI ingestion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3246120"/>
            <a:ext cx="11338560" cy="84124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BUILT AND RUNNING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36,076 fares · 298 runs, 98.7% clean · APIx published daily and monthly · live portal and authenticated REST API, both reading Postgres directly.</a:t>
            </a:r>
          </a:p>
        </p:txBody>
      </p:sp>
      <p:pic>
        <p:nvPicPr>
          <p:cNvPr id="17424" name="Picture 17423" descr="chart-reco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187952"/>
            <a:ext cx="4069080" cy="2044781"/>
          </a:xfrm>
          <a:prstGeom prst="rect">
            <a:avLst/>
          </a:prstGeom>
        </p:spPr>
      </p:pic>
      <p:pic>
        <p:nvPicPr>
          <p:cNvPr id="17425" name="Picture 17424" descr="chart-cadenc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4224528"/>
            <a:ext cx="4206240" cy="1758472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9372600" y="4224528"/>
            <a:ext cx="23774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497D"/>
                </a:solidFill>
                <a:latin typeface="Arial"/>
              </a:rPr>
              <a:t>Stack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939088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9372600" y="4590288"/>
            <a:ext cx="2468880" cy="16459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Python · Playwright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OpenAI-compatible LLM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Pydantic validation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Supabase Postgres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150" b="0">
                <a:solidFill>
                  <a:srgbClr val="262B33"/>
                </a:solidFill>
                <a:latin typeface="Arial"/>
              </a:rPr>
              <a:t>•  cron · HTML + SVG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48640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Feasibility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54480"/>
            <a:ext cx="5486400" cy="1828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working prototype, collecting right now.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₹0 a month: free tiers end to end.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~2 minutes of compute per 10-minute cycle.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400" b="0">
                <a:solidFill>
                  <a:srgbClr val="262B33"/>
                </a:solidFill>
                <a:latin typeface="Arial"/>
              </a:rPr>
              <a:t>•  A new route is one line; a new portal, one entry.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11480" y="3611880"/>
            <a:ext cx="5486400" cy="868680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MANUAL COLLECTION vs THIS PIPELINE</a:t>
            </a:r>
          </a:p>
          <a:p>
            <a:pPr>
              <a:lnSpc>
                <a:spcPct val="95000"/>
              </a:lnSpc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periodic → every 10 minutes  ·  one quoted price → 75 priced cells  ·  field notes → source, timestamp and model stored per fare</a:t>
            </a:r>
          </a:p>
        </p:txBody>
      </p:sp>
      <p:pic>
        <p:nvPicPr>
          <p:cNvPr id="17414" name="Picture 17413" descr="chart-surve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498848"/>
            <a:ext cx="5120640" cy="1697603"/>
          </a:xfrm>
          <a:prstGeom prst="rect">
            <a:avLst/>
          </a:prstGeom>
        </p:spPr>
      </p:pic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Risks, and what we did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Rounded Rectangle 17416"/>
          <p:cNvSpPr/>
          <p:nvPr/>
        </p:nvSpPr>
        <p:spPr>
          <a:xfrm>
            <a:off x="6400800" y="1554480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Rectangle 17417"/>
          <p:cNvSpPr/>
          <p:nvPr/>
        </p:nvSpPr>
        <p:spPr>
          <a:xfrm>
            <a:off x="6400800" y="1554480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TextBox 17418"/>
          <p:cNvSpPr txBox="1"/>
          <p:nvPr/>
        </p:nvSpPr>
        <p:spPr>
          <a:xfrm>
            <a:off x="6583680" y="1664207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16 portals surveyed, one is usable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Ten disallow us, four block us, airlines refuse automation entirely.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6400800" y="2496312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Rectangle 17420"/>
          <p:cNvSpPr/>
          <p:nvPr/>
        </p:nvSpPr>
        <p:spPr>
          <a:xfrm>
            <a:off x="6400800" y="2496312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6583680" y="2606040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Cloud IPs are blocked too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Verified in CI — so collection runs from a residential host.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6400800" y="3438144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Rectangle 17423"/>
          <p:cNvSpPr/>
          <p:nvPr/>
        </p:nvSpPr>
        <p:spPr>
          <a:xfrm>
            <a:off x="6400800" y="3438144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TextBox 17424"/>
          <p:cNvSpPr txBox="1"/>
          <p:nvPr/>
        </p:nvSpPr>
        <p:spPr>
          <a:xfrm>
            <a:off x="6583680" y="3547872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Models get retired without notice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Three died during this build. Extraction now fails over.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6400800" y="4379976"/>
            <a:ext cx="5394960" cy="86868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C7D3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Rectangle 17426"/>
          <p:cNvSpPr/>
          <p:nvPr/>
        </p:nvSpPr>
        <p:spPr>
          <a:xfrm>
            <a:off x="6400800" y="4379976"/>
            <a:ext cx="50292" cy="868680"/>
          </a:xfrm>
          <a:prstGeom prst="rect">
            <a:avLst/>
          </a:prstGeom>
          <a:solidFill>
            <a:srgbClr val="C0504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8" name="TextBox 17427"/>
          <p:cNvSpPr txBox="1"/>
          <p:nvPr/>
        </p:nvSpPr>
        <p:spPr>
          <a:xfrm>
            <a:off x="6583680" y="4489704"/>
            <a:ext cx="5120640" cy="6858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Thin coverage would mislead</a:t>
            </a:r>
          </a:p>
          <a:p>
            <a:pPr>
              <a:lnSpc>
                <a:spcPct val="95000"/>
              </a:lnSpc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Days below 60% basket weight publish as provisional, with the reason.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chart-premium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188720"/>
            <a:ext cx="5760720" cy="2573277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4224528"/>
            <a:ext cx="576072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Who it serves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429768" y="4498848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617720"/>
            <a:ext cx="5760720" cy="10972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/ NSO — a defensible CPI transport input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and policy — evidence on fare behaviour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Citizens — when to book, and what is normal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5577840"/>
            <a:ext cx="5760720" cy="658368"/>
          </a:xfrm>
          <a:prstGeom prst="roundRect">
            <a:avLst>
              <a:gd name="adj" fmla="val 6000"/>
            </a:avLst>
          </a:prstGeom>
          <a:solidFill>
            <a:srgbClr val="DCE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1F497D"/>
                </a:solidFill>
                <a:latin typeface="Arial"/>
              </a:rPr>
              <a:t>NEXT</a:t>
            </a:r>
          </a:p>
          <a:p>
            <a:pPr>
              <a:lnSpc>
                <a:spcPct val="95000"/>
              </a:lnSpc>
              <a:spcBef>
                <a:spcPts val="300"/>
              </a:spcBef>
              <a:spcAft>
                <a:spcPts val="0"/>
              </a:spcAft>
            </a:pPr>
            <a:r>
              <a:rPr sz="1300" b="0">
                <a:solidFill>
                  <a:srgbClr val="262B33"/>
                </a:solidFill>
                <a:latin typeface="Arial"/>
              </a:rPr>
              <a:t>Official DGCA and CES weights, source access via the ministry, then rail and bus on the same pipeline.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1F497D"/>
                </a:solidFill>
                <a:latin typeface="Arial"/>
              </a:rPr>
              <a:t>What changes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6400800" y="1554480"/>
            <a:ext cx="5394960" cy="19202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A daily airfare inflation series for the CPI transport group.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The booking-window dimension a single quote cannot capture.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Machine-readable: MoSPI systems ingest it, nobody retypes it.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Every figure carries its method, coverage and revision history.</a:t>
            </a:r>
          </a:p>
        </p:txBody>
      </p:sp>
      <p:pic>
        <p:nvPicPr>
          <p:cNvPr id="17418" name="Picture 17417" descr="dash-liv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3493008"/>
            <a:ext cx="4800600" cy="2466062"/>
          </a:xfrm>
          <a:prstGeom prst="rect">
            <a:avLst/>
          </a:prstGeom>
        </p:spPr>
      </p:pic>
      <p:sp>
        <p:nvSpPr>
          <p:cNvPr id="17419" name="TextBox 17418"/>
          <p:cNvSpPr txBox="1"/>
          <p:nvPr/>
        </p:nvSpPr>
        <p:spPr>
          <a:xfrm>
            <a:off x="6400800" y="5888736"/>
            <a:ext cx="5394960" cy="457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Portal: apix-portal.pages.dev</a:t>
            </a:r>
          </a:p>
          <a:p>
            <a:pPr>
              <a:lnSpc>
                <a:spcPct val="95000"/>
              </a:lnSpc>
              <a:spcBef>
                <a:spcPts val="200"/>
              </a:spcBef>
              <a:spcAft>
                <a:spcPts val="0"/>
              </a:spcAft>
            </a:pPr>
            <a:r>
              <a:rPr sz="1200" b="1">
                <a:solidFill>
                  <a:srgbClr val="1F497D"/>
                </a:solidFill>
                <a:latin typeface="Arial"/>
              </a:rPr>
              <a:t>API: apix-api-n5ux.onrender.com/docs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 algn="ctr"/>
            <a:r>
              <a:rPr sz="2800" b="1">
                <a:solidFill>
                  <a:srgbClr val="1F497D"/>
                </a:solidFill>
                <a:latin typeface="Times New Roman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050" b="1"/>
              <a:t>‹TEAM NAME›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33856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Methodology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42976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1527048"/>
            <a:ext cx="5577840" cy="17373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CPI Manual: Concepts and Methods (IMF / ILO, 2020)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MoSPI — CPI (Base 2012=100), Transport sub-index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Eurostat — web-scraped data in HICP compilation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ONS (UK) — web-scraped data in consumer prices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520440"/>
            <a:ext cx="557784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Standards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429768" y="3794760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3913632"/>
            <a:ext cx="5577840" cy="13716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RFC 9309 — Robots Exclusion Protocol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Each portal's robots.txt, re-checked at run time</a:t>
            </a:r>
          </a:p>
          <a:p>
            <a:pPr>
              <a:lnSpc>
                <a:spcPct val="95000"/>
              </a:lnSpc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DGCA monthly domestic traffic — basket selection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6400800" y="1133856"/>
            <a:ext cx="5394960" cy="27432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497D"/>
                </a:solidFill>
                <a:latin typeface="Arial"/>
              </a:rPr>
              <a:t>Our own field research</a:t>
            </a:r>
          </a:p>
        </p:txBody>
      </p:sp>
      <p:sp>
        <p:nvSpPr>
          <p:cNvPr id="17417" name="Rectangle 17416"/>
          <p:cNvSpPr/>
          <p:nvPr/>
        </p:nvSpPr>
        <p:spPr>
          <a:xfrm>
            <a:off x="6419088" y="1408176"/>
            <a:ext cx="1371600" cy="25603"/>
          </a:xfrm>
          <a:prstGeom prst="rect">
            <a:avLst/>
          </a:prstGeom>
          <a:solidFill>
            <a:srgbClr val="4F81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8" name="TextBox 17417"/>
          <p:cNvSpPr txBox="1"/>
          <p:nvPr/>
        </p:nvSpPr>
        <p:spPr>
          <a:xfrm>
            <a:off x="6400800" y="1527048"/>
            <a:ext cx="5394960" cy="310896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Portal survey, 16 sites: one is usable. Ten disallow us in robots.txt, four are unreachable, and every airline site blocks automation.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Python's standard robots parser wrongly permits paths these sites disallow — we implemented RFC 9309.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Of 56 free-tier models, six answered; three reached end-of-life during the build, one mid-run — hence automatic model failover.</a:t>
            </a:r>
          </a:p>
          <a:p>
            <a:pPr>
              <a:lnSpc>
                <a:spcPct val="95000"/>
              </a:lnSpc>
              <a:spcBef>
                <a:spcPts val="900"/>
              </a:spcBef>
              <a:spcAft>
                <a:spcPts val="0"/>
              </a:spcAft>
            </a:pPr>
            <a:r>
              <a:rPr sz="1350" b="0">
                <a:solidFill>
                  <a:srgbClr val="262B33"/>
                </a:solidFill>
                <a:latin typeface="Arial"/>
              </a:rPr>
              <a:t>•  Splitting the prompt into 800-character chunks took a small model from 1 of 40 fares to 38.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