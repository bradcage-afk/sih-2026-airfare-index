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1"/>
  </p:sldMasterIdLst>
  <p:notesMasterIdLst>
    <p:notesMasterId r:id="rId9"/>
  </p:notesMasterIdLst>
  <p:sldIdLst>
    <p:sldId id="291" r:id="rId2"/>
    <p:sldId id="281" r:id="rId3"/>
    <p:sldId id="290" r:id="rId4"/>
    <p:sldId id="293" r:id="rId5"/>
    <p:sldId id="294" r:id="rId6"/>
    <p:sldId id="296" r:id="rId7"/>
  </p:sldIdLst>
  <p:sldSz cx="12192000" cy="6858000"/>
  <p:notesSz cx="6858000" cy="9144000"/>
  <p:defaultTextStyle>
    <a:defPPr>
      <a:defRPr lang="en-US"/>
    </a:defPPr>
    <a:lvl1pPr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1pPr>
    <a:lvl2pPr marL="4572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2pPr>
    <a:lvl3pPr marL="9144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3pPr>
    <a:lvl4pPr marL="13716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4pPr>
    <a:lvl5pPr marL="18288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9BBB59"/>
    <a:srgbClr val="39B0D4"/>
    <a:srgbClr val="727272"/>
    <a:srgbClr val="010000"/>
    <a:srgbClr val="FFA751"/>
    <a:srgbClr val="32323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68" d="100"/>
          <a:sy n="68" d="100"/>
        </p:scale>
        <p:origin x="792" y="72"/>
      </p:cViewPr>
      <p:guideLst>
        <p:guide orient="horz" pos="2160"/>
        <p:guide pos="3840"/>
      </p:guideLst>
    </p:cSldViewPr>
  </p:slid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25" d="100"/>
        <a:sy n="125" d="100"/>
      </p:scale>
      <p:origin x="0" y="0"/>
    </p:cViewPr>
  </p:sorter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C4D5ADD5-2BBC-4A94-8F86-D9013941F742}" type="datetimeFigureOut">
              <a:rPr lang="en-US"/>
              <a:pPr/>
              <a:t>6/2/2026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lvl="0"/>
            <a:endParaRPr lang="en-US" noProof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EC790738-CFC9-4A5E-8424-6B42AA5706F7}" type="slidenum">
              <a:rPr lang="en-US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749454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ＭＳ Ｐゴシック" charset="0"/>
      </a:defRPr>
    </a:lvl1pPr>
    <a:lvl2pPr marL="4572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2pPr>
    <a:lvl3pPr marL="9144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3pPr>
    <a:lvl4pPr marL="13716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4pPr>
    <a:lvl5pPr marL="18288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5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6386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6387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fld id="{65F62A7E-A2F8-438F-9CF8-47DE63F471B4}" type="slidenum">
              <a:rPr lang="en-US"/>
              <a:pPr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407322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fld id="{0CA7B74D-3791-4AC6-8451-F10DBCCCDD9A}" type="slidenum">
              <a:rPr lang="en-US"/>
              <a:pPr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3520629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77350546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64172284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908672725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400" y="2130428"/>
            <a:ext cx="103632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E60792E3-D524-454C-8AFD-A91972900BCB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5B7E1BAA-A38D-40DE-B22C-DF9BD7D82058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708B7524-32A2-4C20-A58C-BC3BAA1042FC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77C3CE7-23F7-4828-823C-E0205DF2CF97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84" y="4406903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1E994447-D6B2-43BB-A877-57F1A267B999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41DB31D2-2A87-4F4C-A9AD-05C6CC2B321D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0" y="1600203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00" y="1600203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68920E16-BD35-483C-AA6B-346FC7E46DEA}" type="datetime1">
              <a:rPr lang="en-US" smtClean="0"/>
              <a:t>6/2/2026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E1FC16D9-1635-4844-816A-0A8A2160FADA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369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369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2FEAC6F8-5103-4FC0-A69E-5C6AE6469DA8}" type="datetime1">
              <a:rPr lang="en-US" smtClean="0"/>
              <a:t>6/2/2026</a:t>
            </a:fld>
            <a:endParaRPr lang="en-US"/>
          </a:p>
        </p:txBody>
      </p:sp>
      <p:sp>
        <p:nvSpPr>
          <p:cNvPr id="8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9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71C4100A-98DE-4944-910A-A93F5CA9F724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C60C6921-0627-4C8F-83D5-0CF936D2FFDD}" type="datetime1">
              <a:rPr lang="en-US" smtClean="0"/>
              <a:t>6/2/2026</a:t>
            </a:fld>
            <a:endParaRPr lang="en-US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5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A63342B-5A73-45DC-864D-086DE78037EF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2FF08AD7-8103-40F8-983C-E2BA6BB9CBE0}" type="datetime1">
              <a:rPr lang="en-US" smtClean="0"/>
              <a:t>6/2/2026</a:t>
            </a:fld>
            <a:endParaRPr lang="en-US"/>
          </a:p>
        </p:txBody>
      </p:sp>
      <p:sp>
        <p:nvSpPr>
          <p:cNvPr id="3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B635AFB3-1ACD-44AC-8702-86B1729DF035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2" y="273050"/>
            <a:ext cx="401108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733" y="273053"/>
            <a:ext cx="6815667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602" y="1435103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DF8C06B4-9380-4A4D-AF49-A3596E17DAF5}" type="datetime1">
              <a:rPr lang="en-US" smtClean="0"/>
              <a:t>6/2/2026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05CF15F3-5E77-4C57-9E21-50D6D1D6C022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 rtlCol="0">
            <a:normAutofit/>
          </a:bodyPr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en-US" noProof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EF7FDEF1-C582-4E22-9E77-D68326471F28}" type="datetime1">
              <a:rPr lang="en-US" smtClean="0"/>
              <a:t>6/2/2026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1242169A-B3C7-4FB6-967F-AF95F4EB3315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053C3A68-6922-42D3-8905-ECC2D82A3469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94FDD027-5576-4F27-AAB6-1D994836EE78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0" y="274641"/>
            <a:ext cx="27432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600" y="274641"/>
            <a:ext cx="80264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CB69E9F4-7604-4950-A8B2-8ACDEDB1506E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2957CE61-8714-431B-A40A-01B1C5541AB7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Title Placeholder 1"/>
          <p:cNvSpPr>
            <a:spLocks noGrp="1"/>
          </p:cNvSpPr>
          <p:nvPr>
            <p:ph type="title"/>
          </p:nvPr>
        </p:nvSpPr>
        <p:spPr bwMode="auto">
          <a:xfrm>
            <a:off x="609600" y="-47625"/>
            <a:ext cx="10972800" cy="1143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1027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609600" y="1095375"/>
            <a:ext cx="10972800" cy="50307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600" y="6356353"/>
            <a:ext cx="28448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>
              <a:defRPr sz="1200">
                <a:solidFill>
                  <a:srgbClr val="898989"/>
                </a:solidFill>
                <a:latin typeface="TradeGothic" pitchFamily="1" charset="0"/>
              </a:defRPr>
            </a:lvl1pPr>
          </a:lstStyle>
          <a:p>
            <a:fld id="{780A9602-A9A9-453F-AEF1-37B5837E02CD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600" y="6356353"/>
            <a:ext cx="3860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 fontAlgn="auto">
              <a:spcBef>
                <a:spcPts val="0"/>
              </a:spcBef>
              <a:spcAft>
                <a:spcPts val="0"/>
              </a:spcAft>
              <a:defRPr sz="1200">
                <a:solidFill>
                  <a:schemeClr val="tx1">
                    <a:tint val="75000"/>
                  </a:schemeClr>
                </a:solidFill>
                <a:latin typeface="TradeGothic"/>
                <a:ea typeface="+mn-ea"/>
                <a:cs typeface="+mn-cs"/>
              </a:defRPr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600" y="6356353"/>
            <a:ext cx="28448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r">
              <a:defRPr sz="1200">
                <a:solidFill>
                  <a:srgbClr val="898989"/>
                </a:solidFill>
                <a:latin typeface="TradeGothic" pitchFamily="1" charset="0"/>
              </a:defRPr>
            </a:lvl1pPr>
          </a:lstStyle>
          <a:p>
            <a:fld id="{1411BA53-830D-4830-BB65-E58DBE17D0B7}" type="slidenum">
              <a:rPr lang="en-US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dt="0"/>
  <p:txStyles>
    <p:titleStyle>
      <a:lvl1pPr algn="ctr" defTabSz="457200" rtl="0" eaLnBrk="0" fontAlgn="base" hangingPunct="0">
        <a:spcBef>
          <a:spcPct val="0"/>
        </a:spcBef>
        <a:spcAft>
          <a:spcPct val="0"/>
        </a:spcAft>
        <a:defRPr sz="4400" kern="1200">
          <a:solidFill>
            <a:schemeClr val="tx1"/>
          </a:solidFill>
          <a:latin typeface="TradeGothic"/>
          <a:ea typeface="ＭＳ Ｐゴシック" charset="0"/>
          <a:cs typeface="ＭＳ Ｐゴシック" charset="0"/>
        </a:defRPr>
      </a:lvl1pPr>
      <a:lvl2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2pPr>
      <a:lvl3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3pPr>
      <a:lvl4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4pPr>
      <a:lvl5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5pPr>
      <a:lvl6pPr marL="4572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6pPr>
      <a:lvl7pPr marL="9144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7pPr>
      <a:lvl8pPr marL="13716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8pPr>
      <a:lvl9pPr marL="18288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9pPr>
    </p:titleStyle>
    <p:bodyStyle>
      <a:lvl1pPr marL="342900" indent="-3429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3200" kern="1200">
          <a:solidFill>
            <a:schemeClr val="tx1"/>
          </a:solidFill>
          <a:latin typeface="TradeGothic"/>
          <a:ea typeface="ＭＳ Ｐゴシック" charset="0"/>
          <a:cs typeface="ＭＳ Ｐゴシック" charset="0"/>
        </a:defRPr>
      </a:lvl1pPr>
      <a:lvl2pPr marL="742950" indent="-28575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28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2pPr>
      <a:lvl3pPr marL="11430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24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3pPr>
      <a:lvl4pPr marL="16002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20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4pPr>
      <a:lvl5pPr marL="20574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»"/>
        <a:defRPr sz="20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hyperlink" Target="https://apix-portal.pages.dev" TargetMode="Externa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Relationship Id="rId4" Type="http://schemas.openxmlformats.org/officeDocument/2006/relationships/hyperlink" Target="https://ec.europa.eu/eurostat/documents/272892/12032198/Guidelines-web-scraping-HICP-11-2020.pdf" TargetMode="External"/><Relationship Id="rId5" Type="http://schemas.openxmlformats.org/officeDocument/2006/relationships/hyperlink" Target="https://www.ilo.org/publications/consumer-price-index-manual-concepts-and-methods-2020" TargetMode="External"/><Relationship Id="rId6" Type="http://schemas.openxmlformats.org/officeDocument/2006/relationships/hyperlink" Target="https://www.ons.gov.uk/economy/inflationandpriceindices/articles/researchindicesusingwebscrapedpricedata/august2017update/previous/v1/pdf" TargetMode="External"/><Relationship Id="rId7" Type="http://schemas.openxmlformats.org/officeDocument/2006/relationships/hyperlink" Target="https://www.pib.gov.in/PressReleasePage.aspx?PRID=2227012&amp;reg=3&amp;lang=1" TargetMode="External"/><Relationship Id="rId8" Type="http://schemas.openxmlformats.org/officeDocument/2006/relationships/hyperlink" Target="https://www.mospi.gov.in/uploads/documents/documents/1770891066052-Annexure_V.pdf" TargetMode="External"/><Relationship Id="rId9" Type="http://schemas.openxmlformats.org/officeDocument/2006/relationships/hyperlink" Target="https://www.dgca.gov.in/digigov-portal/" TargetMode="External"/><Relationship Id="rId10" Type="http://schemas.openxmlformats.org/officeDocument/2006/relationships/hyperlink" Target="https://www.rfc-editor.org/rfc/rfc9309" TargetMode="External"/><Relationship Id="rId11" Type="http://schemas.openxmlformats.org/officeDocument/2006/relationships/hyperlink" Target="https://www.ibef.org/industry/indian-aviation" TargetMode="External"/><Relationship Id="rId12" Type="http://schemas.openxmlformats.org/officeDocument/2006/relationships/hyperlink" Target="https://github.com/BradCage-afk/sih-2026-airfare-index" TargetMode="External"/><Relationship Id="rId13" Type="http://schemas.openxmlformats.org/officeDocument/2006/relationships/hyperlink" Target="https://apix-api-n5ux.onrender.com/docs" TargetMode="External"/><Relationship Id="rId14" Type="http://schemas.openxmlformats.org/officeDocument/2006/relationships/hyperlink" Target="https://apix-portal.pages.dev" TargetMode="External"/><Relationship Id="rId15" Type="http://schemas.openxmlformats.org/officeDocument/2006/relationships/hyperlink" Target="https://github.com/BradCage-afk/sih-2026-airfare-index#readme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6" name="Rectangle 24">
            <a:extLst>
              <a:ext uri="{FF2B5EF4-FFF2-40B4-BE49-F238E27FC236}">
                <a16:creationId xmlns:a16="http://schemas.microsoft.com/office/drawing/2014/main" id="{3E443FD7-A66B-4AA0-872D-B088B9BC5F17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52400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Freeform: Shape 26">
            <a:extLst>
              <a:ext uri="{FF2B5EF4-FFF2-40B4-BE49-F238E27FC236}">
                <a16:creationId xmlns:a16="http://schemas.microsoft.com/office/drawing/2014/main" id="{C04BE0EF-3561-49B4-9A29-F283168A91C7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656780" y="851521"/>
            <a:ext cx="4638605" cy="5154967"/>
          </a:xfrm>
          <a:custGeom>
            <a:avLst/>
            <a:gdLst>
              <a:gd name="connsiteX0" fmla="*/ 363179 w 6184806"/>
              <a:gd name="connsiteY0" fmla="*/ 3125191 h 5154967"/>
              <a:gd name="connsiteX1" fmla="*/ 898270 w 6184806"/>
              <a:gd name="connsiteY1" fmla="*/ 3125191 h 5154967"/>
              <a:gd name="connsiteX2" fmla="*/ 980326 w 6184806"/>
              <a:gd name="connsiteY2" fmla="*/ 3173551 h 5154967"/>
              <a:gd name="connsiteX3" fmla="*/ 1248448 w 6184806"/>
              <a:gd name="connsiteY3" fmla="*/ 3635277 h 5154967"/>
              <a:gd name="connsiteX4" fmla="*/ 1248448 w 6184806"/>
              <a:gd name="connsiteY4" fmla="*/ 3729695 h 5154967"/>
              <a:gd name="connsiteX5" fmla="*/ 980326 w 6184806"/>
              <a:gd name="connsiteY5" fmla="*/ 4191421 h 5154967"/>
              <a:gd name="connsiteX6" fmla="*/ 898270 w 6184806"/>
              <a:gd name="connsiteY6" fmla="*/ 4239781 h 5154967"/>
              <a:gd name="connsiteX7" fmla="*/ 363179 w 6184806"/>
              <a:gd name="connsiteY7" fmla="*/ 4239781 h 5154967"/>
              <a:gd name="connsiteX8" fmla="*/ 279969 w 6184806"/>
              <a:gd name="connsiteY8" fmla="*/ 4191421 h 5154967"/>
              <a:gd name="connsiteX9" fmla="*/ 13002 w 6184806"/>
              <a:gd name="connsiteY9" fmla="*/ 3729695 h 5154967"/>
              <a:gd name="connsiteX10" fmla="*/ 13002 w 6184806"/>
              <a:gd name="connsiteY10" fmla="*/ 3635277 h 5154967"/>
              <a:gd name="connsiteX11" fmla="*/ 279969 w 6184806"/>
              <a:gd name="connsiteY11" fmla="*/ 3173551 h 5154967"/>
              <a:gd name="connsiteX12" fmla="*/ 363179 w 6184806"/>
              <a:gd name="connsiteY12" fmla="*/ 3125191 h 5154967"/>
              <a:gd name="connsiteX13" fmla="*/ 2489721 w 6184806"/>
              <a:gd name="connsiteY13" fmla="*/ 570035 h 5154967"/>
              <a:gd name="connsiteX14" fmla="*/ 2764862 w 6184806"/>
              <a:gd name="connsiteY14" fmla="*/ 570035 h 5154967"/>
              <a:gd name="connsiteX15" fmla="*/ 2796959 w 6184806"/>
              <a:gd name="connsiteY15" fmla="*/ 570035 h 5154967"/>
              <a:gd name="connsiteX16" fmla="*/ 2827587 w 6184806"/>
              <a:gd name="connsiteY16" fmla="*/ 622777 h 5154967"/>
              <a:gd name="connsiteX17" fmla="*/ 2977604 w 6184806"/>
              <a:gd name="connsiteY17" fmla="*/ 881117 h 5154967"/>
              <a:gd name="connsiteX18" fmla="*/ 2977604 w 6184806"/>
              <a:gd name="connsiteY18" fmla="*/ 1025720 h 5154967"/>
              <a:gd name="connsiteX19" fmla="*/ 2566968 w 6184806"/>
              <a:gd name="connsiteY19" fmla="*/ 1732863 h 5154967"/>
              <a:gd name="connsiteX20" fmla="*/ 2441299 w 6184806"/>
              <a:gd name="connsiteY20" fmla="*/ 1806927 h 5154967"/>
              <a:gd name="connsiteX21" fmla="*/ 1621798 w 6184806"/>
              <a:gd name="connsiteY21" fmla="*/ 1806927 h 5154967"/>
              <a:gd name="connsiteX22" fmla="*/ 1583218 w 6184806"/>
              <a:gd name="connsiteY22" fmla="*/ 1801802 h 5154967"/>
              <a:gd name="connsiteX23" fmla="*/ 1556683 w 6184806"/>
              <a:gd name="connsiteY23" fmla="*/ 1790677 h 5154967"/>
              <a:gd name="connsiteX24" fmla="*/ 1572899 w 6184806"/>
              <a:gd name="connsiteY24" fmla="*/ 1762630 h 5154967"/>
              <a:gd name="connsiteX25" fmla="*/ 2147429 w 6184806"/>
              <a:gd name="connsiteY25" fmla="*/ 768968 h 5154967"/>
              <a:gd name="connsiteX26" fmla="*/ 2489721 w 6184806"/>
              <a:gd name="connsiteY26" fmla="*/ 570035 h 5154967"/>
              <a:gd name="connsiteX27" fmla="*/ 1573268 w 6184806"/>
              <a:gd name="connsiteY27" fmla="*/ 0 h 5154967"/>
              <a:gd name="connsiteX28" fmla="*/ 2497662 w 6184806"/>
              <a:gd name="connsiteY28" fmla="*/ 0 h 5154967"/>
              <a:gd name="connsiteX29" fmla="*/ 2639415 w 6184806"/>
              <a:gd name="connsiteY29" fmla="*/ 83546 h 5154967"/>
              <a:gd name="connsiteX30" fmla="*/ 2887862 w 6184806"/>
              <a:gd name="connsiteY30" fmla="*/ 511387 h 5154967"/>
              <a:gd name="connsiteX31" fmla="*/ 2915928 w 6184806"/>
              <a:gd name="connsiteY31" fmla="*/ 559720 h 5154967"/>
              <a:gd name="connsiteX32" fmla="*/ 2893844 w 6184806"/>
              <a:gd name="connsiteY32" fmla="*/ 559720 h 5154967"/>
              <a:gd name="connsiteX33" fmla="*/ 2789466 w 6184806"/>
              <a:gd name="connsiteY33" fmla="*/ 559720 h 5154967"/>
              <a:gd name="connsiteX34" fmla="*/ 2744122 w 6184806"/>
              <a:gd name="connsiteY34" fmla="*/ 481634 h 5154967"/>
              <a:gd name="connsiteX35" fmla="*/ 2570885 w 6184806"/>
              <a:gd name="connsiteY35" fmla="*/ 183309 h 5154967"/>
              <a:gd name="connsiteX36" fmla="*/ 2445216 w 6184806"/>
              <a:gd name="connsiteY36" fmla="*/ 109243 h 5154967"/>
              <a:gd name="connsiteX37" fmla="*/ 1625714 w 6184806"/>
              <a:gd name="connsiteY37" fmla="*/ 109243 h 5154967"/>
              <a:gd name="connsiteX38" fmla="*/ 1498276 w 6184806"/>
              <a:gd name="connsiteY38" fmla="*/ 183309 h 5154967"/>
              <a:gd name="connsiteX39" fmla="*/ 1089410 w 6184806"/>
              <a:gd name="connsiteY39" fmla="*/ 890450 h 5154967"/>
              <a:gd name="connsiteX40" fmla="*/ 1089410 w 6184806"/>
              <a:gd name="connsiteY40" fmla="*/ 1035054 h 5154967"/>
              <a:gd name="connsiteX41" fmla="*/ 1498276 w 6184806"/>
              <a:gd name="connsiteY41" fmla="*/ 1742196 h 5154967"/>
              <a:gd name="connsiteX42" fmla="*/ 1552039 w 6184806"/>
              <a:gd name="connsiteY42" fmla="*/ 1796422 h 5154967"/>
              <a:gd name="connsiteX43" fmla="*/ 1558260 w 6184806"/>
              <a:gd name="connsiteY43" fmla="*/ 1799029 h 5154967"/>
              <a:gd name="connsiteX44" fmla="*/ 1524911 w 6184806"/>
              <a:gd name="connsiteY44" fmla="*/ 1856707 h 5154967"/>
              <a:gd name="connsiteX45" fmla="*/ 1500108 w 6184806"/>
              <a:gd name="connsiteY45" fmla="*/ 1899604 h 5154967"/>
              <a:gd name="connsiteX46" fmla="*/ 1525834 w 6184806"/>
              <a:gd name="connsiteY46" fmla="*/ 1910390 h 5154967"/>
              <a:gd name="connsiteX47" fmla="*/ 1569352 w 6184806"/>
              <a:gd name="connsiteY47" fmla="*/ 1916170 h 5154967"/>
              <a:gd name="connsiteX48" fmla="*/ 2493745 w 6184806"/>
              <a:gd name="connsiteY48" fmla="*/ 1916170 h 5154967"/>
              <a:gd name="connsiteX49" fmla="*/ 2635498 w 6184806"/>
              <a:gd name="connsiteY49" fmla="*/ 1832627 h 5154967"/>
              <a:gd name="connsiteX50" fmla="*/ 3098693 w 6184806"/>
              <a:gd name="connsiteY50" fmla="*/ 1034974 h 5154967"/>
              <a:gd name="connsiteX51" fmla="*/ 3098693 w 6184806"/>
              <a:gd name="connsiteY51" fmla="*/ 871863 h 5154967"/>
              <a:gd name="connsiteX52" fmla="*/ 2945803 w 6184806"/>
              <a:gd name="connsiteY52" fmla="*/ 608576 h 5154967"/>
              <a:gd name="connsiteX53" fmla="*/ 2923422 w 6184806"/>
              <a:gd name="connsiteY53" fmla="*/ 570035 h 5154967"/>
              <a:gd name="connsiteX54" fmla="*/ 3027104 w 6184806"/>
              <a:gd name="connsiteY54" fmla="*/ 570035 h 5154967"/>
              <a:gd name="connsiteX55" fmla="*/ 4690846 w 6184806"/>
              <a:gd name="connsiteY55" fmla="*/ 570035 h 5154967"/>
              <a:gd name="connsiteX56" fmla="*/ 5028384 w 6184806"/>
              <a:gd name="connsiteY56" fmla="*/ 768968 h 5154967"/>
              <a:gd name="connsiteX57" fmla="*/ 6131323 w 6184806"/>
              <a:gd name="connsiteY57" fmla="*/ 2668304 h 5154967"/>
              <a:gd name="connsiteX58" fmla="*/ 6131323 w 6184806"/>
              <a:gd name="connsiteY58" fmla="*/ 3056698 h 5154967"/>
              <a:gd name="connsiteX59" fmla="*/ 5028384 w 6184806"/>
              <a:gd name="connsiteY59" fmla="*/ 4956035 h 5154967"/>
              <a:gd name="connsiteX60" fmla="*/ 4690846 w 6184806"/>
              <a:gd name="connsiteY60" fmla="*/ 5154967 h 5154967"/>
              <a:gd name="connsiteX61" fmla="*/ 2489721 w 6184806"/>
              <a:gd name="connsiteY61" fmla="*/ 5154967 h 5154967"/>
              <a:gd name="connsiteX62" fmla="*/ 2147429 w 6184806"/>
              <a:gd name="connsiteY62" fmla="*/ 4956035 h 5154967"/>
              <a:gd name="connsiteX63" fmla="*/ 1049243 w 6184806"/>
              <a:gd name="connsiteY63" fmla="*/ 3056698 h 5154967"/>
              <a:gd name="connsiteX64" fmla="*/ 1049243 w 6184806"/>
              <a:gd name="connsiteY64" fmla="*/ 2668304 h 5154967"/>
              <a:gd name="connsiteX65" fmla="*/ 1457007 w 6184806"/>
              <a:gd name="connsiteY65" fmla="*/ 1963067 h 5154967"/>
              <a:gd name="connsiteX66" fmla="*/ 1491373 w 6184806"/>
              <a:gd name="connsiteY66" fmla="*/ 1903634 h 5154967"/>
              <a:gd name="connsiteX67" fmla="*/ 1490164 w 6184806"/>
              <a:gd name="connsiteY67" fmla="*/ 1903127 h 5154967"/>
              <a:gd name="connsiteX68" fmla="*/ 1429519 w 6184806"/>
              <a:gd name="connsiteY68" fmla="*/ 1841960 h 5154967"/>
              <a:gd name="connsiteX69" fmla="*/ 968320 w 6184806"/>
              <a:gd name="connsiteY69" fmla="*/ 1044307 h 5154967"/>
              <a:gd name="connsiteX70" fmla="*/ 968320 w 6184806"/>
              <a:gd name="connsiteY70" fmla="*/ 881196 h 5154967"/>
              <a:gd name="connsiteX71" fmla="*/ 1429519 w 6184806"/>
              <a:gd name="connsiteY71" fmla="*/ 83546 h 5154967"/>
              <a:gd name="connsiteX72" fmla="*/ 1573268 w 6184806"/>
              <a:gd name="connsiteY72" fmla="*/ 0 h 515496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</a:cxnLst>
            <a:rect l="l" t="t" r="r" b="b"/>
            <a:pathLst>
              <a:path w="6184806" h="5154967">
                <a:moveTo>
                  <a:pt x="363179" y="3125191"/>
                </a:moveTo>
                <a:cubicBezTo>
                  <a:pt x="363179" y="3125191"/>
                  <a:pt x="363179" y="3125191"/>
                  <a:pt x="898270" y="3125191"/>
                </a:cubicBezTo>
                <a:cubicBezTo>
                  <a:pt x="931786" y="3125191"/>
                  <a:pt x="964145" y="3143614"/>
                  <a:pt x="980326" y="3173551"/>
                </a:cubicBezTo>
                <a:cubicBezTo>
                  <a:pt x="980326" y="3173551"/>
                  <a:pt x="980326" y="3173551"/>
                  <a:pt x="1248448" y="3635277"/>
                </a:cubicBezTo>
                <a:cubicBezTo>
                  <a:pt x="1265784" y="3664063"/>
                  <a:pt x="1265784" y="3700909"/>
                  <a:pt x="1248448" y="3729695"/>
                </a:cubicBezTo>
                <a:cubicBezTo>
                  <a:pt x="1248448" y="3729695"/>
                  <a:pt x="1248448" y="3729695"/>
                  <a:pt x="980326" y="4191421"/>
                </a:cubicBezTo>
                <a:cubicBezTo>
                  <a:pt x="964145" y="4221358"/>
                  <a:pt x="931786" y="4239781"/>
                  <a:pt x="898270" y="4239781"/>
                </a:cubicBezTo>
                <a:cubicBezTo>
                  <a:pt x="898270" y="4239781"/>
                  <a:pt x="898270" y="4239781"/>
                  <a:pt x="363179" y="4239781"/>
                </a:cubicBezTo>
                <a:cubicBezTo>
                  <a:pt x="328508" y="4239781"/>
                  <a:pt x="297305" y="4221358"/>
                  <a:pt x="279969" y="4191421"/>
                </a:cubicBezTo>
                <a:cubicBezTo>
                  <a:pt x="279969" y="4191421"/>
                  <a:pt x="279969" y="4191421"/>
                  <a:pt x="13002" y="3729695"/>
                </a:cubicBezTo>
                <a:cubicBezTo>
                  <a:pt x="-4334" y="3700909"/>
                  <a:pt x="-4334" y="3664063"/>
                  <a:pt x="13002" y="3635277"/>
                </a:cubicBezTo>
                <a:cubicBezTo>
                  <a:pt x="13002" y="3635277"/>
                  <a:pt x="13002" y="3635277"/>
                  <a:pt x="279969" y="3173551"/>
                </a:cubicBezTo>
                <a:cubicBezTo>
                  <a:pt x="297305" y="3143614"/>
                  <a:pt x="328508" y="3125191"/>
                  <a:pt x="363179" y="3125191"/>
                </a:cubicBezTo>
                <a:close/>
                <a:moveTo>
                  <a:pt x="2489721" y="570035"/>
                </a:moveTo>
                <a:cubicBezTo>
                  <a:pt x="2489721" y="570035"/>
                  <a:pt x="2489721" y="570035"/>
                  <a:pt x="2764862" y="570035"/>
                </a:cubicBezTo>
                <a:lnTo>
                  <a:pt x="2796959" y="570035"/>
                </a:lnTo>
                <a:lnTo>
                  <a:pt x="2827587" y="622777"/>
                </a:lnTo>
                <a:cubicBezTo>
                  <a:pt x="2870233" y="696217"/>
                  <a:pt x="2919858" y="781675"/>
                  <a:pt x="2977604" y="881117"/>
                </a:cubicBezTo>
                <a:cubicBezTo>
                  <a:pt x="3004153" y="925204"/>
                  <a:pt x="3004153" y="981634"/>
                  <a:pt x="2977604" y="1025720"/>
                </a:cubicBezTo>
                <a:cubicBezTo>
                  <a:pt x="2977604" y="1025720"/>
                  <a:pt x="2977604" y="1025720"/>
                  <a:pt x="2566968" y="1732863"/>
                </a:cubicBezTo>
                <a:cubicBezTo>
                  <a:pt x="2542188" y="1778712"/>
                  <a:pt x="2492629" y="1806927"/>
                  <a:pt x="2441299" y="1806927"/>
                </a:cubicBezTo>
                <a:cubicBezTo>
                  <a:pt x="2441299" y="1806927"/>
                  <a:pt x="2441299" y="1806927"/>
                  <a:pt x="1621798" y="1806927"/>
                </a:cubicBezTo>
                <a:cubicBezTo>
                  <a:pt x="1608523" y="1806927"/>
                  <a:pt x="1595580" y="1805163"/>
                  <a:pt x="1583218" y="1801802"/>
                </a:cubicBezTo>
                <a:lnTo>
                  <a:pt x="1556683" y="1790677"/>
                </a:lnTo>
                <a:lnTo>
                  <a:pt x="1572899" y="1762630"/>
                </a:lnTo>
                <a:cubicBezTo>
                  <a:pt x="1719523" y="1509042"/>
                  <a:pt x="1907201" y="1184448"/>
                  <a:pt x="2147429" y="768968"/>
                </a:cubicBezTo>
                <a:cubicBezTo>
                  <a:pt x="2218739" y="645819"/>
                  <a:pt x="2347099" y="570035"/>
                  <a:pt x="2489721" y="570035"/>
                </a:cubicBezTo>
                <a:close/>
                <a:moveTo>
                  <a:pt x="1573268" y="0"/>
                </a:moveTo>
                <a:cubicBezTo>
                  <a:pt x="1573268" y="0"/>
                  <a:pt x="1573268" y="0"/>
                  <a:pt x="2497662" y="0"/>
                </a:cubicBezTo>
                <a:cubicBezTo>
                  <a:pt x="2555561" y="0"/>
                  <a:pt x="2611463" y="31828"/>
                  <a:pt x="2639415" y="83546"/>
                </a:cubicBezTo>
                <a:cubicBezTo>
                  <a:pt x="2639415" y="83546"/>
                  <a:pt x="2639415" y="83546"/>
                  <a:pt x="2887862" y="511387"/>
                </a:cubicBezTo>
                <a:lnTo>
                  <a:pt x="2915928" y="559720"/>
                </a:lnTo>
                <a:lnTo>
                  <a:pt x="2893844" y="559720"/>
                </a:lnTo>
                <a:lnTo>
                  <a:pt x="2789466" y="559720"/>
                </a:lnTo>
                <a:lnTo>
                  <a:pt x="2744122" y="481634"/>
                </a:lnTo>
                <a:cubicBezTo>
                  <a:pt x="2570885" y="183309"/>
                  <a:pt x="2570885" y="183309"/>
                  <a:pt x="2570885" y="183309"/>
                </a:cubicBezTo>
                <a:cubicBezTo>
                  <a:pt x="2546104" y="137459"/>
                  <a:pt x="2496545" y="109243"/>
                  <a:pt x="2445216" y="109243"/>
                </a:cubicBezTo>
                <a:cubicBezTo>
                  <a:pt x="1625714" y="109243"/>
                  <a:pt x="1625714" y="109243"/>
                  <a:pt x="1625714" y="109243"/>
                </a:cubicBezTo>
                <a:cubicBezTo>
                  <a:pt x="1572615" y="109243"/>
                  <a:pt x="1524825" y="137459"/>
                  <a:pt x="1498276" y="183309"/>
                </a:cubicBezTo>
                <a:cubicBezTo>
                  <a:pt x="1089410" y="890450"/>
                  <a:pt x="1089410" y="890450"/>
                  <a:pt x="1089410" y="890450"/>
                </a:cubicBezTo>
                <a:cubicBezTo>
                  <a:pt x="1062860" y="934537"/>
                  <a:pt x="1062860" y="990967"/>
                  <a:pt x="1089410" y="1035054"/>
                </a:cubicBezTo>
                <a:cubicBezTo>
                  <a:pt x="1498276" y="1742196"/>
                  <a:pt x="1498276" y="1742196"/>
                  <a:pt x="1498276" y="1742196"/>
                </a:cubicBezTo>
                <a:cubicBezTo>
                  <a:pt x="1511551" y="1765121"/>
                  <a:pt x="1530135" y="1783637"/>
                  <a:pt x="1552039" y="1796422"/>
                </a:cubicBezTo>
                <a:lnTo>
                  <a:pt x="1558260" y="1799029"/>
                </a:lnTo>
                <a:lnTo>
                  <a:pt x="1524911" y="1856707"/>
                </a:lnTo>
                <a:lnTo>
                  <a:pt x="1500108" y="1899604"/>
                </a:lnTo>
                <a:lnTo>
                  <a:pt x="1525834" y="1910390"/>
                </a:lnTo>
                <a:cubicBezTo>
                  <a:pt x="1539779" y="1914181"/>
                  <a:pt x="1554378" y="1916170"/>
                  <a:pt x="1569352" y="1916170"/>
                </a:cubicBezTo>
                <a:cubicBezTo>
                  <a:pt x="2493745" y="1916170"/>
                  <a:pt x="2493745" y="1916170"/>
                  <a:pt x="2493745" y="1916170"/>
                </a:cubicBezTo>
                <a:cubicBezTo>
                  <a:pt x="2551645" y="1916170"/>
                  <a:pt x="2607546" y="1884345"/>
                  <a:pt x="2635498" y="1832627"/>
                </a:cubicBezTo>
                <a:cubicBezTo>
                  <a:pt x="3098693" y="1034974"/>
                  <a:pt x="3098693" y="1034974"/>
                  <a:pt x="3098693" y="1034974"/>
                </a:cubicBezTo>
                <a:cubicBezTo>
                  <a:pt x="3128641" y="985246"/>
                  <a:pt x="3128641" y="921593"/>
                  <a:pt x="3098693" y="871863"/>
                </a:cubicBezTo>
                <a:cubicBezTo>
                  <a:pt x="3040794" y="772157"/>
                  <a:pt x="2990132" y="684914"/>
                  <a:pt x="2945803" y="608576"/>
                </a:cubicBezTo>
                <a:lnTo>
                  <a:pt x="2923422" y="570035"/>
                </a:lnTo>
                <a:lnTo>
                  <a:pt x="3027104" y="570035"/>
                </a:lnTo>
                <a:cubicBezTo>
                  <a:pt x="3349535" y="570035"/>
                  <a:pt x="3865424" y="570035"/>
                  <a:pt x="4690846" y="570035"/>
                </a:cubicBezTo>
                <a:cubicBezTo>
                  <a:pt x="4828714" y="570035"/>
                  <a:pt x="4961827" y="645819"/>
                  <a:pt x="5028384" y="768968"/>
                </a:cubicBezTo>
                <a:cubicBezTo>
                  <a:pt x="5028384" y="768968"/>
                  <a:pt x="5028384" y="768968"/>
                  <a:pt x="6131323" y="2668304"/>
                </a:cubicBezTo>
                <a:cubicBezTo>
                  <a:pt x="6202634" y="2786717"/>
                  <a:pt x="6202634" y="2938285"/>
                  <a:pt x="6131323" y="3056698"/>
                </a:cubicBezTo>
                <a:cubicBezTo>
                  <a:pt x="6131323" y="3056698"/>
                  <a:pt x="6131323" y="3056698"/>
                  <a:pt x="5028384" y="4956035"/>
                </a:cubicBezTo>
                <a:cubicBezTo>
                  <a:pt x="4961827" y="5079184"/>
                  <a:pt x="4828714" y="5154967"/>
                  <a:pt x="4690846" y="5154967"/>
                </a:cubicBezTo>
                <a:cubicBezTo>
                  <a:pt x="4690846" y="5154967"/>
                  <a:pt x="4690846" y="5154967"/>
                  <a:pt x="2489721" y="5154967"/>
                </a:cubicBezTo>
                <a:cubicBezTo>
                  <a:pt x="2347099" y="5154967"/>
                  <a:pt x="2218739" y="5079184"/>
                  <a:pt x="2147429" y="4956035"/>
                </a:cubicBezTo>
                <a:cubicBezTo>
                  <a:pt x="2147429" y="4956035"/>
                  <a:pt x="2147429" y="4956035"/>
                  <a:pt x="1049243" y="3056698"/>
                </a:cubicBezTo>
                <a:cubicBezTo>
                  <a:pt x="977932" y="2938285"/>
                  <a:pt x="977932" y="2786717"/>
                  <a:pt x="1049243" y="2668304"/>
                </a:cubicBezTo>
                <a:cubicBezTo>
                  <a:pt x="1049243" y="2668304"/>
                  <a:pt x="1049243" y="2668304"/>
                  <a:pt x="1457007" y="1963067"/>
                </a:cubicBezTo>
                <a:lnTo>
                  <a:pt x="1491373" y="1903634"/>
                </a:lnTo>
                <a:lnTo>
                  <a:pt x="1490164" y="1903127"/>
                </a:lnTo>
                <a:cubicBezTo>
                  <a:pt x="1465456" y="1888705"/>
                  <a:pt x="1444493" y="1867820"/>
                  <a:pt x="1429519" y="1841960"/>
                </a:cubicBezTo>
                <a:cubicBezTo>
                  <a:pt x="1429519" y="1841960"/>
                  <a:pt x="1429519" y="1841960"/>
                  <a:pt x="968320" y="1044307"/>
                </a:cubicBezTo>
                <a:cubicBezTo>
                  <a:pt x="938371" y="994579"/>
                  <a:pt x="938371" y="930926"/>
                  <a:pt x="968320" y="881196"/>
                </a:cubicBezTo>
                <a:cubicBezTo>
                  <a:pt x="968320" y="881196"/>
                  <a:pt x="968320" y="881196"/>
                  <a:pt x="1429519" y="83546"/>
                </a:cubicBezTo>
                <a:cubicBezTo>
                  <a:pt x="1459466" y="31828"/>
                  <a:pt x="1513373" y="0"/>
                  <a:pt x="1573268" y="0"/>
                </a:cubicBezTo>
                <a:close/>
              </a:path>
            </a:pathLst>
          </a:custGeom>
          <a:solidFill>
            <a:schemeClr val="tx1">
              <a:lumMod val="50000"/>
              <a:lumOff val="50000"/>
              <a:alpha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120848B-B2B4-45BE-A961-AEC0B06CF41B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r="59916"/>
          <a:stretch/>
        </p:blipFill>
        <p:spPr>
          <a:xfrm>
            <a:off x="6854891" y="1715881"/>
            <a:ext cx="3203509" cy="3426237"/>
          </a:xfrm>
          <a:prstGeom prst="rect">
            <a:avLst/>
          </a:prstGeom>
        </p:spPr>
      </p:pic>
      <p:sp>
        <p:nvSpPr>
          <p:cNvPr id="8" name="Title 7"/>
          <p:cNvSpPr>
            <a:spLocks noGrp="1"/>
          </p:cNvSpPr>
          <p:nvPr>
            <p:ph type="ctrTitle"/>
          </p:nvPr>
        </p:nvSpPr>
        <p:spPr>
          <a:xfrm>
            <a:off x="331286" y="-526757"/>
            <a:ext cx="10363200" cy="2076450"/>
          </a:xfrm>
        </p:spPr>
        <p:txBody>
          <a:bodyPr/>
          <a:lstStyle/>
          <a:p>
            <a:r>
              <a:rPr lang="en-US" sz="4000" b="1" dirty="0">
                <a:solidFill>
                  <a:schemeClr val="tx2"/>
                </a:solidFill>
                <a:latin typeface="Garamond" panose="02020404030301010803" pitchFamily="18" charset="0"/>
              </a:rPr>
              <a:t>SMART INDIA HACKATHON </a:t>
            </a:r>
            <a:r>
              <a:rPr lang="en-US" sz="4000" b="1" dirty="0" smtClean="0">
                <a:solidFill>
                  <a:schemeClr val="tx2"/>
                </a:solidFill>
                <a:latin typeface="Garamond" panose="02020404030301010803" pitchFamily="18" charset="0"/>
              </a:rPr>
              <a:t>2026</a:t>
            </a:r>
            <a:endParaRPr lang="en-IN" sz="4000" b="1" dirty="0">
              <a:solidFill>
                <a:schemeClr val="tx2"/>
              </a:solidFill>
              <a:latin typeface="Garamond" panose="02020404030301010803" pitchFamily="18" charset="0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329184" y="2075688"/>
            <a:ext cx="5925312" cy="4700016"/>
          </a:xfrm>
          <a:prstGeom prst="rect">
            <a:avLst/>
          </a:prstGeom>
          <a:noFill/>
        </p:spPr>
        <p:txBody>
          <a:bodyPr wrap="square" rtlCol="0" lIns="36576" rIns="36576" tIns="18288" bIns="18288">
            <a:spAutoFit/>
          </a:bodyPr>
          <a:lstStyle/>
          <a:p>
            <a:pPr algn="just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262B33"/>
                </a:solidFill>
                <a:latin typeface="Arial"/>
              </a:rPr>
              <a:t>Problem Statement ID - SIH26056</a:t>
            </a:r>
            <a:endParaRPr lang="en-US" dirty="0"/>
          </a:p>
          <a:p>
            <a:pPr algn="just">
              <a:lnSpc>
                <a:spcPct val="106000"/>
              </a:lnSpc>
              <a:spcBef>
                <a:spcPts val="800"/>
              </a:spcBef>
              <a:spcAft>
                <a:spcPts val="0"/>
              </a:spcAft>
            </a:pPr>
            <a:r>
              <a:rPr sz="2000" b="1">
                <a:solidFill>
                  <a:srgbClr val="262B33"/>
                </a:solidFill>
                <a:latin typeface="Arial"/>
              </a:rPr>
              <a:t>Problem Statement Title - Development of a Real-time Airfare Price Index for India through Automated Web Scraping of Airline and Online Travel Aggregator Portals for Augmentation of the Consumer Price Index (CPI)</a:t>
            </a:r>
          </a:p>
          <a:p>
            <a:pPr algn="just">
              <a:lnSpc>
                <a:spcPct val="106000"/>
              </a:lnSpc>
              <a:spcBef>
                <a:spcPts val="800"/>
              </a:spcBef>
              <a:spcAft>
                <a:spcPts val="0"/>
              </a:spcAft>
            </a:pPr>
            <a:r>
              <a:rPr sz="2000" b="1">
                <a:solidFill>
                  <a:srgbClr val="262B33"/>
                </a:solidFill>
                <a:latin typeface="Arial"/>
              </a:rPr>
              <a:t>Theme - Travel &amp; Tourism</a:t>
            </a:r>
          </a:p>
          <a:p>
            <a:pPr algn="just">
              <a:lnSpc>
                <a:spcPct val="106000"/>
              </a:lnSpc>
              <a:spcBef>
                <a:spcPts val="800"/>
              </a:spcBef>
              <a:spcAft>
                <a:spcPts val="0"/>
              </a:spcAft>
            </a:pPr>
            <a:r>
              <a:rPr sz="2000" b="1">
                <a:solidFill>
                  <a:srgbClr val="262B33"/>
                </a:solidFill>
                <a:latin typeface="Arial"/>
              </a:rPr>
              <a:t>PS Category - Software</a:t>
            </a:r>
          </a:p>
          <a:p>
            <a:pPr algn="just">
              <a:lnSpc>
                <a:spcPct val="106000"/>
              </a:lnSpc>
              <a:spcBef>
                <a:spcPts val="800"/>
              </a:spcBef>
              <a:spcAft>
                <a:spcPts val="0"/>
              </a:spcAft>
            </a:pPr>
            <a:r>
              <a:rPr sz="2000" b="1">
                <a:solidFill>
                  <a:srgbClr val="262B33"/>
                </a:solidFill>
                <a:latin typeface="Arial"/>
              </a:rPr>
              <a:t>Team ID - ‹TEAM ID›</a:t>
            </a:r>
          </a:p>
          <a:p>
            <a:pPr algn="just">
              <a:lnSpc>
                <a:spcPct val="106000"/>
              </a:lnSpc>
              <a:spcBef>
                <a:spcPts val="800"/>
              </a:spcBef>
              <a:spcAft>
                <a:spcPts val="0"/>
              </a:spcAft>
            </a:pPr>
            <a:r>
              <a:rPr sz="2000" b="1">
                <a:solidFill>
                  <a:srgbClr val="262B33"/>
                </a:solidFill>
                <a:latin typeface="Arial"/>
              </a:rPr>
              <a:t>Team Name (Registered on portal) - Fare Enough 101</a:t>
            </a:r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>
              <a:solidFill>
                <a:schemeClr val="accent2">
                  <a:lumMod val="75000"/>
                </a:schemeClr>
              </a:solidFill>
              <a:latin typeface="+mn-lt"/>
              <a:ea typeface="+mn-ea"/>
            </a:endParaRPr>
          </a:p>
        </p:txBody>
      </p:sp>
      <p:sp>
        <p:nvSpPr>
          <p:cNvPr id="15361" name="Title 1"/>
          <p:cNvSpPr>
            <a:spLocks noGrp="1"/>
          </p:cNvSpPr>
          <p:nvPr>
            <p:ph type="title"/>
          </p:nvPr>
        </p:nvSpPr>
        <p:spPr>
          <a:xfrm>
            <a:off x="182998" y="0"/>
            <a:ext cx="10972800" cy="1143000"/>
          </a:xfrm>
        </p:spPr>
        <p:txBody>
          <a:bodyPr/>
          <a:lstStyle/>
          <a:p>
            <a:pPr eaLnBrk="1" hangingPunct="1" algn="ctr"/>
            <a:r>
              <a:rPr sz="3600" b="1">
                <a:solidFill>
                  <a:srgbClr val="1F497D"/>
                </a:solidFill>
                <a:latin typeface="Times New Roman"/>
              </a:rPr>
              <a:t>APIx — AIRFARE PRICE INDEX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7C3CE7-23F7-4828-823C-E0205DF2CF97}" type="slidenum">
              <a:rPr lang="en-US" b="1" smtClean="0">
                <a:solidFill>
                  <a:schemeClr val="bg1"/>
                </a:solidFill>
              </a:rPr>
              <a:pPr/>
              <a:t>2</a:t>
            </a:fld>
            <a:endParaRPr lang="en-US" b="1" dirty="0">
              <a:solidFill>
                <a:schemeClr val="bg1"/>
              </a:solidFill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>
              <a:defRPr/>
            </a:pPr>
            <a:r>
              <a:rPr lang="en-US">
                <a:solidFill>
                  <a:schemeClr val="bg1"/>
                </a:solidFill>
              </a:rPr>
              <a:t>@SIH Idea submission- Template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10" name="Oval 9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 wrap="square"/>
          <a:lstStyle/>
          <a:p>
            <a:pPr algn="ctr"/>
            <a:r>
              <a:rPr lang="en-US" dirty="0" sz="1050" b="1"/>
              <a:t>Fare Enough 101</a:t>
            </a:r>
            <a:endParaRPr lang="en-IN" dirty="0"/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5362" name="TextBox 15361"/>
          <p:cNvSpPr txBox="1"/>
          <p:nvPr/>
        </p:nvSpPr>
        <p:spPr>
          <a:xfrm>
            <a:off x="411480" y="896112"/>
            <a:ext cx="7726679" cy="969264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4F81BD"/>
                </a:solidFill>
                <a:latin typeface="Arial"/>
              </a:rPr>
              <a:t>PROPOSED SOLUTION</a:t>
            </a:r>
          </a:p>
          <a:p>
            <a:pPr>
              <a:lnSpc>
                <a:spcPct val="95000"/>
              </a:lnSpc>
              <a:spcBef>
                <a:spcPts val="200"/>
              </a:spcBef>
              <a:spcAft>
                <a:spcPts val="0"/>
              </a:spcAft>
            </a:pPr>
            <a:r>
              <a:rPr sz="1450" b="1">
                <a:solidFill>
                  <a:srgbClr val="1F497D"/>
                </a:solidFill>
                <a:latin typeface="Arial"/>
              </a:rPr>
              <a:t>A daily airfare inflation index for the CPI</a:t>
            </a:r>
          </a:p>
          <a:p>
            <a:pPr>
              <a:lnSpc>
                <a:spcPct val="95000"/>
              </a:lnSpc>
              <a:spcBef>
                <a:spcPts val="500"/>
              </a:spcBef>
              <a:spcAft>
                <a:spcPts val="0"/>
              </a:spcAft>
            </a:pPr>
            <a:r>
              <a:rPr sz="1200" b="0">
                <a:solidFill>
                  <a:srgbClr val="5A626C"/>
                </a:solidFill>
                <a:latin typeface="Arial"/>
              </a:rPr>
              <a:t>MoSPI prices air travel by hand, once a month, for one departure date. APIx reads the same public pages every ten minutes and delivers one weighted index number to MoSPI through an API.</a:t>
            </a:r>
          </a:p>
        </p:txBody>
      </p:sp>
      <p:sp>
        <p:nvSpPr>
          <p:cNvPr id="15363" name="Rounded Rectangle 15362"/>
          <p:cNvSpPr/>
          <p:nvPr/>
        </p:nvSpPr>
        <p:spPr>
          <a:xfrm>
            <a:off x="8275320" y="932688"/>
            <a:ext cx="3474720" cy="822960"/>
          </a:xfrm>
          <a:prstGeom prst="roundRect">
            <a:avLst>
              <a:gd name="adj" fmla="val 6000"/>
            </a:avLst>
          </a:prstGeom>
          <a:solidFill>
            <a:srgbClr val="E4F4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B8A5A"/>
                </a:solidFill>
                <a:latin typeface="Arial"/>
              </a:rPr>
              <a:t>BUILT AND RUNNING</a:t>
            </a:r>
          </a:p>
          <a:p>
            <a:pPr>
              <a:lnSpc>
                <a:spcPct val="95000"/>
              </a:lnSpc>
              <a:spcBef>
                <a:spcPts val="400"/>
              </a:spcBef>
              <a:spcAft>
                <a:spcPts val="0"/>
              </a:spcAft>
            </a:pPr>
            <a:r>
              <a:rPr sz="1050" b="0">
                <a:solidFill>
                  <a:srgbClr val="262B33"/>
                </a:solidFill>
                <a:latin typeface="Arial"/>
              </a:rPr>
              <a:t>36,000+ fares collected · 15 city pairs × 5 lead times · every 10 minutes · ₹0 a month to run</a:t>
            </a:r>
          </a:p>
        </p:txBody>
      </p:sp>
      <p:sp>
        <p:nvSpPr>
          <p:cNvPr id="15364" name="Rounded Rectangle 15363"/>
          <p:cNvSpPr/>
          <p:nvPr/>
        </p:nvSpPr>
        <p:spPr>
          <a:xfrm>
            <a:off x="411480" y="1901952"/>
            <a:ext cx="6355080" cy="1719072"/>
          </a:xfrm>
          <a:prstGeom prst="roundRect">
            <a:avLst>
              <a:gd name="adj" fmla="val 6000"/>
            </a:avLst>
          </a:prstGeom>
          <a:solidFill>
            <a:srgbClr val="E8F0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365" name="TextBox 15364"/>
          <p:cNvSpPr txBox="1"/>
          <p:nvPr/>
        </p:nvSpPr>
        <p:spPr>
          <a:xfrm>
            <a:off x="548640" y="1965960"/>
            <a:ext cx="3840480" cy="237744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4F81BD"/>
                </a:solidFill>
                <a:latin typeface="Arial"/>
              </a:rPr>
              <a:t>WHAT CHANGES FOR THE CPI</a:t>
            </a:r>
          </a:p>
        </p:txBody>
      </p:sp>
      <p:sp>
        <p:nvSpPr>
          <p:cNvPr id="15366" name="TextBox 15365"/>
          <p:cNvSpPr txBox="1"/>
          <p:nvPr/>
        </p:nvSpPr>
        <p:spPr>
          <a:xfrm>
            <a:off x="2148840" y="2240280"/>
            <a:ext cx="1920240" cy="237744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6C"/>
                </a:solidFill>
                <a:latin typeface="Arial"/>
              </a:rPr>
              <a:t>TODAY</a:t>
            </a:r>
          </a:p>
        </p:txBody>
      </p:sp>
      <p:sp>
        <p:nvSpPr>
          <p:cNvPr id="15367" name="TextBox 15366"/>
          <p:cNvSpPr txBox="1"/>
          <p:nvPr/>
        </p:nvSpPr>
        <p:spPr>
          <a:xfrm>
            <a:off x="4160520" y="2240280"/>
            <a:ext cx="2468880" cy="237744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1B8A5A"/>
                </a:solidFill>
                <a:latin typeface="Arial"/>
              </a:rPr>
              <a:t>WITH APIx</a:t>
            </a:r>
          </a:p>
        </p:txBody>
      </p:sp>
      <p:sp>
        <p:nvSpPr>
          <p:cNvPr id="15368" name="TextBox 15367"/>
          <p:cNvSpPr txBox="1"/>
          <p:nvPr/>
        </p:nvSpPr>
        <p:spPr>
          <a:xfrm>
            <a:off x="548640" y="2532888"/>
            <a:ext cx="1600200" cy="237744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262B33"/>
                </a:solidFill>
                <a:latin typeface="Arial"/>
              </a:rPr>
              <a:t>Frequency</a:t>
            </a:r>
          </a:p>
        </p:txBody>
      </p:sp>
      <p:sp>
        <p:nvSpPr>
          <p:cNvPr id="15369" name="TextBox 15368"/>
          <p:cNvSpPr txBox="1"/>
          <p:nvPr/>
        </p:nvSpPr>
        <p:spPr>
          <a:xfrm>
            <a:off x="2148840" y="2532888"/>
            <a:ext cx="1920240" cy="237744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5A626C"/>
                </a:solidFill>
                <a:latin typeface="Arial"/>
              </a:rPr>
              <a:t>once a month</a:t>
            </a:r>
          </a:p>
        </p:txBody>
      </p:sp>
      <p:sp>
        <p:nvSpPr>
          <p:cNvPr id="15370" name="TextBox 15369"/>
          <p:cNvSpPr txBox="1"/>
          <p:nvPr/>
        </p:nvSpPr>
        <p:spPr>
          <a:xfrm>
            <a:off x="4160520" y="2532888"/>
            <a:ext cx="2468880" cy="237744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262B33"/>
                </a:solidFill>
                <a:latin typeface="Arial"/>
              </a:rPr>
              <a:t>every 10 minutes</a:t>
            </a:r>
          </a:p>
        </p:txBody>
      </p:sp>
      <p:sp>
        <p:nvSpPr>
          <p:cNvPr id="15371" name="TextBox 15370"/>
          <p:cNvSpPr txBox="1"/>
          <p:nvPr/>
        </p:nvSpPr>
        <p:spPr>
          <a:xfrm>
            <a:off x="548640" y="2798064"/>
            <a:ext cx="1600200" cy="237744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262B33"/>
                </a:solidFill>
                <a:latin typeface="Arial"/>
              </a:rPr>
              <a:t>Coverage</a:t>
            </a:r>
          </a:p>
        </p:txBody>
      </p:sp>
      <p:sp>
        <p:nvSpPr>
          <p:cNvPr id="15372" name="TextBox 15371"/>
          <p:cNvSpPr txBox="1"/>
          <p:nvPr/>
        </p:nvSpPr>
        <p:spPr>
          <a:xfrm>
            <a:off x="2148840" y="2798064"/>
            <a:ext cx="1920240" cy="237744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5A626C"/>
                </a:solidFill>
                <a:latin typeface="Arial"/>
              </a:rPr>
              <a:t>a handful of quotes</a:t>
            </a:r>
          </a:p>
        </p:txBody>
      </p:sp>
      <p:sp>
        <p:nvSpPr>
          <p:cNvPr id="15373" name="TextBox 15372"/>
          <p:cNvSpPr txBox="1"/>
          <p:nvPr/>
        </p:nvSpPr>
        <p:spPr>
          <a:xfrm>
            <a:off x="4160520" y="2798064"/>
            <a:ext cx="2468880" cy="237744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262B33"/>
                </a:solidFill>
                <a:latin typeface="Arial"/>
              </a:rPr>
              <a:t>75 priced cells</a:t>
            </a:r>
          </a:p>
        </p:txBody>
      </p:sp>
      <p:sp>
        <p:nvSpPr>
          <p:cNvPr id="15374" name="TextBox 15373"/>
          <p:cNvSpPr txBox="1"/>
          <p:nvPr/>
        </p:nvSpPr>
        <p:spPr>
          <a:xfrm>
            <a:off x="548640" y="3063240"/>
            <a:ext cx="1600200" cy="237744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262B33"/>
                </a:solidFill>
                <a:latin typeface="Arial"/>
              </a:rPr>
              <a:t>Price basis</a:t>
            </a:r>
          </a:p>
        </p:txBody>
      </p:sp>
      <p:sp>
        <p:nvSpPr>
          <p:cNvPr id="15375" name="TextBox 15374"/>
          <p:cNvSpPr txBox="1"/>
          <p:nvPr/>
        </p:nvSpPr>
        <p:spPr>
          <a:xfrm>
            <a:off x="2148840" y="3063240"/>
            <a:ext cx="1920240" cy="237744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5A626C"/>
                </a:solidFill>
                <a:latin typeface="Arial"/>
              </a:rPr>
              <a:t>one quoted price</a:t>
            </a:r>
          </a:p>
        </p:txBody>
      </p:sp>
      <p:sp>
        <p:nvSpPr>
          <p:cNvPr id="15376" name="TextBox 15375"/>
          <p:cNvSpPr txBox="1"/>
          <p:nvPr/>
        </p:nvSpPr>
        <p:spPr>
          <a:xfrm>
            <a:off x="4160520" y="3063240"/>
            <a:ext cx="2468880" cy="237744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262B33"/>
                </a:solidFill>
                <a:latin typeface="Arial"/>
              </a:rPr>
              <a:t>minimum logical fare</a:t>
            </a:r>
          </a:p>
        </p:txBody>
      </p:sp>
      <p:sp>
        <p:nvSpPr>
          <p:cNvPr id="15377" name="TextBox 15376"/>
          <p:cNvSpPr txBox="1"/>
          <p:nvPr/>
        </p:nvSpPr>
        <p:spPr>
          <a:xfrm>
            <a:off x="548640" y="3328415"/>
            <a:ext cx="1600200" cy="237744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262B33"/>
                </a:solidFill>
                <a:latin typeface="Arial"/>
              </a:rPr>
              <a:t>Delivery</a:t>
            </a:r>
          </a:p>
        </p:txBody>
      </p:sp>
      <p:sp>
        <p:nvSpPr>
          <p:cNvPr id="15378" name="TextBox 15377"/>
          <p:cNvSpPr txBox="1"/>
          <p:nvPr/>
        </p:nvSpPr>
        <p:spPr>
          <a:xfrm>
            <a:off x="2148840" y="3328415"/>
            <a:ext cx="1920240" cy="237744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5A626C"/>
                </a:solidFill>
                <a:latin typeface="Arial"/>
              </a:rPr>
              <a:t>typed into a form</a:t>
            </a:r>
          </a:p>
        </p:txBody>
      </p:sp>
      <p:sp>
        <p:nvSpPr>
          <p:cNvPr id="15379" name="TextBox 15378"/>
          <p:cNvSpPr txBox="1"/>
          <p:nvPr/>
        </p:nvSpPr>
        <p:spPr>
          <a:xfrm>
            <a:off x="4160520" y="3328415"/>
            <a:ext cx="2468880" cy="237744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262B33"/>
                </a:solidFill>
                <a:latin typeface="Arial"/>
              </a:rPr>
              <a:t>authenticated REST API</a:t>
            </a:r>
          </a:p>
        </p:txBody>
      </p:sp>
      <p:sp>
        <p:nvSpPr>
          <p:cNvPr id="15380" name="Rounded Rectangle 15379"/>
          <p:cNvSpPr/>
          <p:nvPr/>
        </p:nvSpPr>
        <p:spPr>
          <a:xfrm>
            <a:off x="6903720" y="1901952"/>
            <a:ext cx="4846320" cy="896112"/>
          </a:xfrm>
          <a:prstGeom prst="roundRect">
            <a:avLst>
              <a:gd name="adj" fmla="val 6000"/>
            </a:avLst>
          </a:prstGeom>
          <a:solidFill>
            <a:srgbClr val="ECE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381" name="TextBox 15380"/>
          <p:cNvSpPr txBox="1"/>
          <p:nvPr/>
        </p:nvSpPr>
        <p:spPr>
          <a:xfrm>
            <a:off x="7040880" y="1947672"/>
            <a:ext cx="4572000" cy="219456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4B3F8C"/>
                </a:solidFill>
                <a:latin typeface="Arial"/>
              </a:rPr>
              <a:t>THE INDEX IN ONE LINE</a:t>
            </a:r>
          </a:p>
        </p:txBody>
      </p:sp>
      <p:sp>
        <p:nvSpPr>
          <p:cNvPr id="15382" name="TextBox 15381"/>
          <p:cNvSpPr txBox="1"/>
          <p:nvPr/>
        </p:nvSpPr>
        <p:spPr>
          <a:xfrm>
            <a:off x="7040880" y="2185416"/>
            <a:ext cx="4572000" cy="237744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262B33"/>
                </a:solidFill>
                <a:latin typeface="Arial"/>
              </a:rPr>
              <a:t>APIxₜ = 100 × exp( Σ wᵢ·ln(Pᵢ,ₜ/Pᵢ,₀) / Σ wᵢ )</a:t>
            </a:r>
          </a:p>
        </p:txBody>
      </p:sp>
      <p:sp>
        <p:nvSpPr>
          <p:cNvPr id="15383" name="TextBox 15382"/>
          <p:cNvSpPr txBox="1"/>
          <p:nvPr/>
        </p:nvSpPr>
        <p:spPr>
          <a:xfrm>
            <a:off x="7040880" y="2432304"/>
            <a:ext cx="4572000" cy="329184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A626C"/>
                </a:solidFill>
                <a:latin typeface="Arial"/>
              </a:rPr>
              <a:t>Weighted Jevons — the elementary-aggregate formula Eurostat and the ONS use for their own price indices.</a:t>
            </a:r>
          </a:p>
        </p:txBody>
      </p:sp>
      <p:sp>
        <p:nvSpPr>
          <p:cNvPr id="15384" name="Rounded Rectangle 15383"/>
          <p:cNvSpPr/>
          <p:nvPr/>
        </p:nvSpPr>
        <p:spPr>
          <a:xfrm>
            <a:off x="6903720" y="2834640"/>
            <a:ext cx="4846320" cy="786384"/>
          </a:xfrm>
          <a:prstGeom prst="roundRect">
            <a:avLst>
              <a:gd name="adj" fmla="val 6000"/>
            </a:avLst>
          </a:prstGeom>
          <a:solidFill>
            <a:srgbClr val="E2F2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385" name="TextBox 15384"/>
          <p:cNvSpPr txBox="1"/>
          <p:nvPr/>
        </p:nvSpPr>
        <p:spPr>
          <a:xfrm>
            <a:off x="7040880" y="2862072"/>
            <a:ext cx="4572000" cy="219456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E7C86"/>
                </a:solidFill>
                <a:latin typeface="Arial"/>
              </a:rPr>
              <a:t>WHAT THE TERMS MEAN</a:t>
            </a:r>
          </a:p>
        </p:txBody>
      </p:sp>
      <p:sp>
        <p:nvSpPr>
          <p:cNvPr id="15386" name="TextBox 15385"/>
          <p:cNvSpPr txBox="1"/>
          <p:nvPr/>
        </p:nvSpPr>
        <p:spPr>
          <a:xfrm>
            <a:off x="7040880" y="3044952"/>
            <a:ext cx="777240" cy="146304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0E7C86"/>
                </a:solidFill>
                <a:latin typeface="Arial"/>
              </a:rPr>
              <a:t>Basket</a:t>
            </a:r>
          </a:p>
        </p:txBody>
      </p:sp>
      <p:sp>
        <p:nvSpPr>
          <p:cNvPr id="15387" name="TextBox 15386"/>
          <p:cNvSpPr txBox="1"/>
          <p:nvPr/>
        </p:nvSpPr>
        <p:spPr>
          <a:xfrm>
            <a:off x="7818120" y="3044952"/>
            <a:ext cx="3840480" cy="146304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262B33"/>
                </a:solidFill>
                <a:latin typeface="Arial"/>
              </a:rPr>
              <a:t>15 city pairs × 5 lead times = 75 cells</a:t>
            </a:r>
          </a:p>
        </p:txBody>
      </p:sp>
      <p:sp>
        <p:nvSpPr>
          <p:cNvPr id="15388" name="TextBox 15387"/>
          <p:cNvSpPr txBox="1"/>
          <p:nvPr/>
        </p:nvSpPr>
        <p:spPr>
          <a:xfrm>
            <a:off x="7040880" y="3182112"/>
            <a:ext cx="777240" cy="146304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0E7C86"/>
                </a:solidFill>
                <a:latin typeface="Arial"/>
              </a:rPr>
              <a:t>Price</a:t>
            </a:r>
          </a:p>
        </p:txBody>
      </p:sp>
      <p:sp>
        <p:nvSpPr>
          <p:cNvPr id="15389" name="TextBox 15388"/>
          <p:cNvSpPr txBox="1"/>
          <p:nvPr/>
        </p:nvSpPr>
        <p:spPr>
          <a:xfrm>
            <a:off x="7818120" y="3182112"/>
            <a:ext cx="3840480" cy="146304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262B33"/>
                </a:solidFill>
                <a:latin typeface="Arial"/>
              </a:rPr>
              <a:t>minimum logical fare, no add-ons</a:t>
            </a:r>
          </a:p>
        </p:txBody>
      </p:sp>
      <p:sp>
        <p:nvSpPr>
          <p:cNvPr id="15390" name="TextBox 15389"/>
          <p:cNvSpPr txBox="1"/>
          <p:nvPr/>
        </p:nvSpPr>
        <p:spPr>
          <a:xfrm>
            <a:off x="7040880" y="3319272"/>
            <a:ext cx="777240" cy="146304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0E7C86"/>
                </a:solidFill>
                <a:latin typeface="Arial"/>
              </a:rPr>
              <a:t>Weight</a:t>
            </a:r>
          </a:p>
        </p:txBody>
      </p:sp>
      <p:sp>
        <p:nvSpPr>
          <p:cNvPr id="15391" name="TextBox 15390"/>
          <p:cNvSpPr txBox="1"/>
          <p:nvPr/>
        </p:nvSpPr>
        <p:spPr>
          <a:xfrm>
            <a:off x="7818120" y="3319272"/>
            <a:ext cx="3840480" cy="146304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262B33"/>
                </a:solidFill>
                <a:latin typeface="Arial"/>
              </a:rPr>
              <a:t>route seat share × lead-time share</a:t>
            </a:r>
          </a:p>
        </p:txBody>
      </p:sp>
      <p:sp>
        <p:nvSpPr>
          <p:cNvPr id="15392" name="TextBox 15391"/>
          <p:cNvSpPr txBox="1"/>
          <p:nvPr/>
        </p:nvSpPr>
        <p:spPr>
          <a:xfrm>
            <a:off x="7040880" y="3456432"/>
            <a:ext cx="777240" cy="146304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0E7C86"/>
                </a:solidFill>
                <a:latin typeface="Arial"/>
              </a:rPr>
              <a:t>Base</a:t>
            </a:r>
          </a:p>
        </p:txBody>
      </p:sp>
      <p:sp>
        <p:nvSpPr>
          <p:cNvPr id="15393" name="TextBox 15392"/>
          <p:cNvSpPr txBox="1"/>
          <p:nvPr/>
        </p:nvSpPr>
        <p:spPr>
          <a:xfrm>
            <a:off x="7818120" y="3456432"/>
            <a:ext cx="3840480" cy="146304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262B33"/>
                </a:solidFill>
                <a:latin typeface="Arial"/>
              </a:rPr>
              <a:t>August 2026 = 100</a:t>
            </a:r>
          </a:p>
        </p:txBody>
      </p:sp>
      <p:sp>
        <p:nvSpPr>
          <p:cNvPr id="15394" name="TextBox 15393"/>
          <p:cNvSpPr txBox="1"/>
          <p:nvPr/>
        </p:nvSpPr>
        <p:spPr>
          <a:xfrm>
            <a:off x="411480" y="3712463"/>
            <a:ext cx="11338560" cy="2743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F497D"/>
                </a:solidFill>
                <a:latin typeface="Arial"/>
              </a:rPr>
              <a:t>Why it stands out</a:t>
            </a:r>
          </a:p>
        </p:txBody>
      </p:sp>
      <p:sp>
        <p:nvSpPr>
          <p:cNvPr id="15395" name="Rectangle 15394"/>
          <p:cNvSpPr/>
          <p:nvPr/>
        </p:nvSpPr>
        <p:spPr>
          <a:xfrm>
            <a:off x="429768" y="3986783"/>
            <a:ext cx="1371600" cy="25603"/>
          </a:xfrm>
          <a:prstGeom prst="rect">
            <a:avLst/>
          </a:prstGeom>
          <a:solidFill>
            <a:srgbClr val="4F81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96" name="Rounded Rectangle 15395"/>
          <p:cNvSpPr/>
          <p:nvPr/>
        </p:nvSpPr>
        <p:spPr>
          <a:xfrm>
            <a:off x="411480" y="4059936"/>
            <a:ext cx="3621024" cy="1060704"/>
          </a:xfrm>
          <a:prstGeom prst="roundRect">
            <a:avLst>
              <a:gd name="adj" fmla="val 6000"/>
            </a:avLst>
          </a:prstGeom>
          <a:solidFill>
            <a:srgbClr val="E8F0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09728" bIns="18288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4F81BD"/>
                </a:solidFill>
                <a:latin typeface="Arial"/>
              </a:rPr>
              <a:t>The standard method</a:t>
            </a:r>
          </a:p>
          <a:p>
            <a:pPr>
              <a:lnSpc>
                <a:spcPct val="95000"/>
              </a:lnSpc>
              <a:spcBef>
                <a:spcPts val="500"/>
              </a:spcBef>
              <a:spcAft>
                <a:spcPts val="0"/>
              </a:spcAft>
            </a:pPr>
            <a:r>
              <a:rPr sz="1100" b="0">
                <a:solidFill>
                  <a:srgbClr val="262B33"/>
                </a:solidFill>
                <a:latin typeface="Arial"/>
              </a:rPr>
              <a:t>Weighted Jevons on minimum logical fares — the elementary-aggregate method Eurostat and ONS use for their own price indices.</a:t>
            </a:r>
          </a:p>
        </p:txBody>
      </p:sp>
      <p:sp>
        <p:nvSpPr>
          <p:cNvPr id="15397" name="Rectangle 15396"/>
          <p:cNvSpPr/>
          <p:nvPr/>
        </p:nvSpPr>
        <p:spPr>
          <a:xfrm>
            <a:off x="411480" y="4059936"/>
            <a:ext cx="3621024" cy="64008"/>
          </a:xfrm>
          <a:prstGeom prst="rect">
            <a:avLst/>
          </a:prstGeom>
          <a:solidFill>
            <a:srgbClr val="4F81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98" name="Rounded Rectangle 15397"/>
          <p:cNvSpPr/>
          <p:nvPr/>
        </p:nvSpPr>
        <p:spPr>
          <a:xfrm>
            <a:off x="4270248" y="4059936"/>
            <a:ext cx="3621024" cy="1060704"/>
          </a:xfrm>
          <a:prstGeom prst="roundRect">
            <a:avLst>
              <a:gd name="adj" fmla="val 6000"/>
            </a:avLst>
          </a:prstGeom>
          <a:solidFill>
            <a:srgbClr val="E4F4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09728" bIns="18288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1B8A5A"/>
                </a:solidFill>
                <a:latin typeface="Arial"/>
              </a:rPr>
              <a:t>Weighting is a matrix</a:t>
            </a:r>
          </a:p>
          <a:p>
            <a:pPr>
              <a:lnSpc>
                <a:spcPct val="95000"/>
              </a:lnSpc>
              <a:spcBef>
                <a:spcPts val="500"/>
              </a:spcBef>
              <a:spcAft>
                <a:spcPts val="0"/>
              </a:spcAft>
            </a:pPr>
            <a:r>
              <a:rPr sz="1100" b="0">
                <a:solidFill>
                  <a:srgbClr val="262B33"/>
                </a:solidFill>
                <a:latin typeface="Arial"/>
              </a:rPr>
              <a:t>Every cell carries route seat share × booking lead time, so Delhi–Mumbai moves the index three times as hard as Delhi–Srinagar.</a:t>
            </a:r>
          </a:p>
        </p:txBody>
      </p:sp>
      <p:sp>
        <p:nvSpPr>
          <p:cNvPr id="15399" name="Rectangle 15398"/>
          <p:cNvSpPr/>
          <p:nvPr/>
        </p:nvSpPr>
        <p:spPr>
          <a:xfrm>
            <a:off x="4270248" y="4059936"/>
            <a:ext cx="3621024" cy="64008"/>
          </a:xfrm>
          <a:prstGeom prst="rect">
            <a:avLst/>
          </a:prstGeom>
          <a:solidFill>
            <a:srgbClr val="1B8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00" name="Rounded Rectangle 15399"/>
          <p:cNvSpPr/>
          <p:nvPr/>
        </p:nvSpPr>
        <p:spPr>
          <a:xfrm>
            <a:off x="8129015" y="4059936"/>
            <a:ext cx="3621024" cy="1060704"/>
          </a:xfrm>
          <a:prstGeom prst="roundRect">
            <a:avLst>
              <a:gd name="adj" fmla="val 6000"/>
            </a:avLst>
          </a:prstGeom>
          <a:solidFill>
            <a:srgbClr val="FBF0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09728" bIns="18288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C77700"/>
                </a:solidFill>
                <a:latin typeface="Arial"/>
              </a:rPr>
              <a:t>It knows when not to publish</a:t>
            </a:r>
          </a:p>
          <a:p>
            <a:pPr>
              <a:lnSpc>
                <a:spcPct val="95000"/>
              </a:lnSpc>
              <a:spcBef>
                <a:spcPts val="500"/>
              </a:spcBef>
              <a:spcAft>
                <a:spcPts val="0"/>
              </a:spcAft>
            </a:pPr>
            <a:r>
              <a:rPr sz="1100" b="0">
                <a:solidFill>
                  <a:srgbClr val="262B33"/>
                </a:solidFill>
                <a:latin typeface="Arial"/>
              </a:rPr>
              <a:t>Below 60% basket coverage the figure ships marked provisional, with the reason attached. An index that admits thin coverage beats one that never does.</a:t>
            </a:r>
          </a:p>
        </p:txBody>
      </p:sp>
      <p:sp>
        <p:nvSpPr>
          <p:cNvPr id="15401" name="Rectangle 15400"/>
          <p:cNvSpPr/>
          <p:nvPr/>
        </p:nvSpPr>
        <p:spPr>
          <a:xfrm>
            <a:off x="8129015" y="4059936"/>
            <a:ext cx="3621024" cy="64008"/>
          </a:xfrm>
          <a:prstGeom prst="rect">
            <a:avLst/>
          </a:prstGeom>
          <a:solidFill>
            <a:srgbClr val="C77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02" name="Rounded Rectangle 15401"/>
          <p:cNvSpPr/>
          <p:nvPr/>
        </p:nvSpPr>
        <p:spPr>
          <a:xfrm>
            <a:off x="411480" y="5266944"/>
            <a:ext cx="3621024" cy="1060704"/>
          </a:xfrm>
          <a:prstGeom prst="roundRect">
            <a:avLst>
              <a:gd name="adj" fmla="val 6000"/>
            </a:avLst>
          </a:prstGeom>
          <a:solidFill>
            <a:srgbClr val="ECE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09728" bIns="18288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4B3F8C"/>
                </a:solidFill>
                <a:latin typeface="Arial"/>
              </a:rPr>
              <a:t>Machine-readable for MoSPI</a:t>
            </a:r>
          </a:p>
          <a:p>
            <a:pPr>
              <a:lnSpc>
                <a:spcPct val="95000"/>
              </a:lnSpc>
              <a:spcBef>
                <a:spcPts val="500"/>
              </a:spcBef>
              <a:spcAft>
                <a:spcPts val="0"/>
              </a:spcAft>
            </a:pPr>
            <a:r>
              <a:rPr sz="1100" b="0">
                <a:solidFill>
                  <a:srgbClr val="262B33"/>
                </a:solidFill>
                <a:latin typeface="Arial"/>
              </a:rPr>
              <a:t>One authenticated REST call returns the index with its method, coverage and revision history. Nobody retypes a number off a screen.</a:t>
            </a:r>
          </a:p>
        </p:txBody>
      </p:sp>
      <p:sp>
        <p:nvSpPr>
          <p:cNvPr id="15403" name="Rectangle 15402"/>
          <p:cNvSpPr/>
          <p:nvPr/>
        </p:nvSpPr>
        <p:spPr>
          <a:xfrm>
            <a:off x="411480" y="5266944"/>
            <a:ext cx="3621024" cy="64008"/>
          </a:xfrm>
          <a:prstGeom prst="rect">
            <a:avLst/>
          </a:prstGeom>
          <a:solidFill>
            <a:srgbClr val="4B3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04" name="Rounded Rectangle 15403"/>
          <p:cNvSpPr/>
          <p:nvPr/>
        </p:nvSpPr>
        <p:spPr>
          <a:xfrm>
            <a:off x="4270248" y="5266944"/>
            <a:ext cx="3621024" cy="1060704"/>
          </a:xfrm>
          <a:prstGeom prst="roundRect">
            <a:avLst>
              <a:gd name="adj" fmla="val 6000"/>
            </a:avLst>
          </a:prstGeom>
          <a:solidFill>
            <a:srgbClr val="E2F2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09728" bIns="18288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0E7C86"/>
                </a:solidFill>
                <a:latin typeface="Arial"/>
              </a:rPr>
              <a:t>Compliance by construction</a:t>
            </a:r>
          </a:p>
          <a:p>
            <a:pPr>
              <a:lnSpc>
                <a:spcPct val="95000"/>
              </a:lnSpc>
              <a:spcBef>
                <a:spcPts val="500"/>
              </a:spcBef>
              <a:spcAft>
                <a:spcPts val="0"/>
              </a:spcAft>
            </a:pPr>
            <a:r>
              <a:rPr sz="1100" b="0">
                <a:solidFill>
                  <a:srgbClr val="262B33"/>
                </a:solidFill>
                <a:latin typeface="Arial"/>
              </a:rPr>
              <a:t>robots.txt is re-checked to RFC 9309 before every request. We wrote the parser ourselves because Python's standard one gets it wrong.</a:t>
            </a:r>
          </a:p>
        </p:txBody>
      </p:sp>
      <p:sp>
        <p:nvSpPr>
          <p:cNvPr id="15405" name="Rectangle 15404"/>
          <p:cNvSpPr/>
          <p:nvPr/>
        </p:nvSpPr>
        <p:spPr>
          <a:xfrm>
            <a:off x="4270248" y="5266944"/>
            <a:ext cx="3621024" cy="64008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06" name="Rounded Rectangle 15405"/>
          <p:cNvSpPr/>
          <p:nvPr/>
        </p:nvSpPr>
        <p:spPr>
          <a:xfrm>
            <a:off x="8129015" y="5266944"/>
            <a:ext cx="3621024" cy="1060704"/>
          </a:xfrm>
          <a:prstGeom prst="roundRect">
            <a:avLst>
              <a:gd name="adj" fmla="val 6000"/>
            </a:avLst>
          </a:prstGeom>
          <a:solidFill>
            <a:srgbClr val="F4EA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09728" bIns="18288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7A3E6B"/>
                </a:solidFill>
                <a:latin typeface="Arial"/>
              </a:rPr>
              <a:t>It never estimates</a:t>
            </a:r>
          </a:p>
          <a:p>
            <a:pPr>
              <a:lnSpc>
                <a:spcPct val="95000"/>
              </a:lnSpc>
              <a:spcBef>
                <a:spcPts val="500"/>
              </a:spcBef>
              <a:spcAft>
                <a:spcPts val="0"/>
              </a:spcAft>
            </a:pPr>
            <a:r>
              <a:rPr sz="1100" b="0">
                <a:solidFill>
                  <a:srgbClr val="262B33"/>
                </a:solidFill>
                <a:latin typeface="Arial"/>
              </a:rPr>
              <a:t>Fields a portal does not publish stay NULL. Cells with too few observations are excluded, not filled in — the system says when it does not know.</a:t>
            </a:r>
          </a:p>
        </p:txBody>
      </p:sp>
      <p:sp>
        <p:nvSpPr>
          <p:cNvPr id="15407" name="Rectangle 15406"/>
          <p:cNvSpPr/>
          <p:nvPr/>
        </p:nvSpPr>
        <p:spPr>
          <a:xfrm>
            <a:off x="8129015" y="5266944"/>
            <a:ext cx="3621024" cy="64008"/>
          </a:xfrm>
          <a:prstGeom prst="rect">
            <a:avLst/>
          </a:prstGeom>
          <a:solidFill>
            <a:srgbClr val="7A3E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>
              <a:solidFill>
                <a:schemeClr val="accent2">
                  <a:lumMod val="75000"/>
                </a:schemeClr>
              </a:solidFill>
              <a:latin typeface="+mn-lt"/>
              <a:ea typeface="+mn-ea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 algn="ctr"/>
            <a:r>
              <a:rPr sz="3600" b="1">
                <a:solidFill>
                  <a:srgbClr val="1F497D"/>
                </a:solidFill>
                <a:latin typeface="Times New Roman"/>
              </a:rPr>
              <a:t>TECHNICAL APPROACH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7C3CE7-23F7-4828-823C-E0205DF2CF97}" type="slidenum">
              <a:rPr lang="en-US" b="1">
                <a:solidFill>
                  <a:schemeClr val="bg1"/>
                </a:solidFill>
              </a:rPr>
              <a:pPr/>
              <a:t>3</a:t>
            </a:fld>
            <a:endParaRPr lang="en-US" b="1" dirty="0">
              <a:solidFill>
                <a:schemeClr val="bg1"/>
              </a:solidFill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>
              <a:defRPr/>
            </a:pPr>
            <a:r>
              <a:rPr lang="en-US">
                <a:solidFill>
                  <a:schemeClr val="bg1"/>
                </a:solidFill>
              </a:rPr>
              <a:t>@SIH Idea submission- Template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11" name="Oval 10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 wrap="square"/>
          <a:lstStyle/>
          <a:p>
            <a:pPr algn="ctr"/>
            <a:r>
              <a:rPr lang="en-US" dirty="0" sz="1050" b="1"/>
              <a:t>Fare Enough 101</a:t>
            </a:r>
            <a:endParaRPr lang="en-IN" dirty="0"/>
          </a:p>
        </p:txBody>
      </p:sp>
      <p:pic>
        <p:nvPicPr>
          <p:cNvPr id="12" name="Picture 1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7410" name="TextBox 17409"/>
          <p:cNvSpPr txBox="1"/>
          <p:nvPr/>
        </p:nvSpPr>
        <p:spPr>
          <a:xfrm>
            <a:off x="411480" y="1060704"/>
            <a:ext cx="11338560" cy="2743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F497D"/>
                </a:solidFill>
                <a:latin typeface="Arial"/>
              </a:rPr>
              <a:t>How a published fare becomes a published index</a:t>
            </a:r>
          </a:p>
        </p:txBody>
      </p:sp>
      <p:sp>
        <p:nvSpPr>
          <p:cNvPr id="17411" name="Rectangle 17410"/>
          <p:cNvSpPr/>
          <p:nvPr/>
        </p:nvSpPr>
        <p:spPr>
          <a:xfrm>
            <a:off x="429768" y="1335024"/>
            <a:ext cx="1371600" cy="25603"/>
          </a:xfrm>
          <a:prstGeom prst="rect">
            <a:avLst/>
          </a:prstGeom>
          <a:solidFill>
            <a:srgbClr val="4F81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12" name="Rounded Rectangle 17411"/>
          <p:cNvSpPr/>
          <p:nvPr/>
        </p:nvSpPr>
        <p:spPr>
          <a:xfrm>
            <a:off x="411480" y="1444752"/>
            <a:ext cx="1719072" cy="1188720"/>
          </a:xfrm>
          <a:prstGeom prst="roundRect">
            <a:avLst>
              <a:gd name="adj" fmla="val 6000"/>
            </a:avLst>
          </a:prstGeom>
          <a:solidFill>
            <a:srgbClr val="E8F0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4F81BD"/>
                </a:solidFill>
                <a:latin typeface="Arial"/>
              </a:rPr>
              <a:t>1  Collect</a:t>
            </a:r>
          </a:p>
          <a:p>
            <a:pPr>
              <a:lnSpc>
                <a:spcPct val="95000"/>
              </a:lnSpc>
              <a:spcBef>
                <a:spcPts val="400"/>
              </a:spcBef>
              <a:spcAft>
                <a:spcPts val="0"/>
              </a:spcAft>
            </a:pPr>
            <a:r>
              <a:rPr sz="1400" b="1">
                <a:solidFill>
                  <a:srgbClr val="1F497D"/>
                </a:solidFill>
                <a:latin typeface="Arial"/>
              </a:rPr>
              <a:t>every 10 min</a:t>
            </a:r>
          </a:p>
          <a:p>
            <a:pPr>
              <a:lnSpc>
                <a:spcPct val="95000"/>
              </a:lnSpc>
              <a:spcBef>
                <a:spcPts val="100"/>
              </a:spcBef>
              <a:spcAft>
                <a:spcPts val="0"/>
              </a:spcAft>
            </a:pPr>
            <a:r>
              <a:rPr sz="1050" b="0">
                <a:solidFill>
                  <a:srgbClr val="5A626C"/>
                </a:solidFill>
                <a:latin typeface="Arial"/>
              </a:rPr>
              <a:t>robots-gated</a:t>
            </a:r>
          </a:p>
        </p:txBody>
      </p:sp>
      <p:sp>
        <p:nvSpPr>
          <p:cNvPr id="17413" name="Rectangle 17412"/>
          <p:cNvSpPr/>
          <p:nvPr/>
        </p:nvSpPr>
        <p:spPr>
          <a:xfrm>
            <a:off x="411480" y="1444752"/>
            <a:ext cx="1719072" cy="64008"/>
          </a:xfrm>
          <a:prstGeom prst="rect">
            <a:avLst/>
          </a:prstGeom>
          <a:solidFill>
            <a:srgbClr val="4F81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14" name="Right Arrow 17413"/>
          <p:cNvSpPr/>
          <p:nvPr/>
        </p:nvSpPr>
        <p:spPr>
          <a:xfrm>
            <a:off x="2144268" y="1947672"/>
            <a:ext cx="173736" cy="182880"/>
          </a:xfrm>
          <a:prstGeom prst="rightArrow">
            <a:avLst/>
          </a:prstGeom>
          <a:solidFill>
            <a:srgbClr val="4F81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15" name="Rounded Rectangle 17414"/>
          <p:cNvSpPr/>
          <p:nvPr/>
        </p:nvSpPr>
        <p:spPr>
          <a:xfrm>
            <a:off x="2331720" y="1444752"/>
            <a:ext cx="1719072" cy="1188720"/>
          </a:xfrm>
          <a:prstGeom prst="roundRect">
            <a:avLst>
              <a:gd name="adj" fmla="val 6000"/>
            </a:avLst>
          </a:prstGeom>
          <a:solidFill>
            <a:srgbClr val="E4F4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1B8A5A"/>
                </a:solidFill>
                <a:latin typeface="Arial"/>
              </a:rPr>
              <a:t>2  Extract</a:t>
            </a:r>
          </a:p>
          <a:p>
            <a:pPr>
              <a:lnSpc>
                <a:spcPct val="95000"/>
              </a:lnSpc>
              <a:spcBef>
                <a:spcPts val="400"/>
              </a:spcBef>
              <a:spcAft>
                <a:spcPts val="0"/>
              </a:spcAft>
            </a:pPr>
            <a:r>
              <a:rPr sz="1400" b="1">
                <a:solidFill>
                  <a:srgbClr val="1F497D"/>
                </a:solidFill>
                <a:latin typeface="Arial"/>
              </a:rPr>
              <a:t>13,000 → 3,700</a:t>
            </a:r>
          </a:p>
          <a:p>
            <a:pPr>
              <a:lnSpc>
                <a:spcPct val="95000"/>
              </a:lnSpc>
              <a:spcBef>
                <a:spcPts val="100"/>
              </a:spcBef>
              <a:spcAft>
                <a:spcPts val="0"/>
              </a:spcAft>
            </a:pPr>
            <a:r>
              <a:rPr sz="1050" b="0">
                <a:solidFill>
                  <a:srgbClr val="5A626C"/>
                </a:solidFill>
                <a:latin typeface="Arial"/>
              </a:rPr>
              <a:t>chars per page</a:t>
            </a:r>
          </a:p>
        </p:txBody>
      </p:sp>
      <p:sp>
        <p:nvSpPr>
          <p:cNvPr id="17416" name="Rectangle 17415"/>
          <p:cNvSpPr/>
          <p:nvPr/>
        </p:nvSpPr>
        <p:spPr>
          <a:xfrm>
            <a:off x="2331720" y="1444752"/>
            <a:ext cx="1719072" cy="64008"/>
          </a:xfrm>
          <a:prstGeom prst="rect">
            <a:avLst/>
          </a:prstGeom>
          <a:solidFill>
            <a:srgbClr val="1B8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17" name="Right Arrow 17416"/>
          <p:cNvSpPr/>
          <p:nvPr/>
        </p:nvSpPr>
        <p:spPr>
          <a:xfrm>
            <a:off x="4064507" y="1947672"/>
            <a:ext cx="173736" cy="182880"/>
          </a:xfrm>
          <a:prstGeom prst="rightArrow">
            <a:avLst/>
          </a:prstGeom>
          <a:solidFill>
            <a:srgbClr val="1B8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18" name="Rounded Rectangle 17417"/>
          <p:cNvSpPr/>
          <p:nvPr/>
        </p:nvSpPr>
        <p:spPr>
          <a:xfrm>
            <a:off x="4251960" y="1444752"/>
            <a:ext cx="1719072" cy="1188720"/>
          </a:xfrm>
          <a:prstGeom prst="roundRect">
            <a:avLst>
              <a:gd name="adj" fmla="val 6000"/>
            </a:avLst>
          </a:prstGeom>
          <a:solidFill>
            <a:srgbClr val="FBF0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C77700"/>
                </a:solidFill>
                <a:latin typeface="Arial"/>
              </a:rPr>
              <a:t>3  Validate</a:t>
            </a:r>
          </a:p>
          <a:p>
            <a:pPr>
              <a:lnSpc>
                <a:spcPct val="95000"/>
              </a:lnSpc>
              <a:spcBef>
                <a:spcPts val="400"/>
              </a:spcBef>
              <a:spcAft>
                <a:spcPts val="0"/>
              </a:spcAft>
            </a:pPr>
            <a:r>
              <a:rPr sz="1400" b="1">
                <a:solidFill>
                  <a:srgbClr val="1F497D"/>
                </a:solidFill>
                <a:latin typeface="Arial"/>
              </a:rPr>
              <a:t>38 of 40</a:t>
            </a:r>
          </a:p>
          <a:p>
            <a:pPr>
              <a:lnSpc>
                <a:spcPct val="95000"/>
              </a:lnSpc>
              <a:spcBef>
                <a:spcPts val="100"/>
              </a:spcBef>
              <a:spcAft>
                <a:spcPts val="0"/>
              </a:spcAft>
            </a:pPr>
            <a:r>
              <a:rPr sz="1050" b="0">
                <a:solidFill>
                  <a:srgbClr val="5A626C"/>
                </a:solidFill>
                <a:latin typeface="Arial"/>
              </a:rPr>
              <a:t>flights kept</a:t>
            </a:r>
          </a:p>
        </p:txBody>
      </p:sp>
      <p:sp>
        <p:nvSpPr>
          <p:cNvPr id="17419" name="Rectangle 17418"/>
          <p:cNvSpPr/>
          <p:nvPr/>
        </p:nvSpPr>
        <p:spPr>
          <a:xfrm>
            <a:off x="4251960" y="1444752"/>
            <a:ext cx="1719072" cy="64008"/>
          </a:xfrm>
          <a:prstGeom prst="rect">
            <a:avLst/>
          </a:prstGeom>
          <a:solidFill>
            <a:srgbClr val="C77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20" name="Right Arrow 17419"/>
          <p:cNvSpPr/>
          <p:nvPr/>
        </p:nvSpPr>
        <p:spPr>
          <a:xfrm>
            <a:off x="5984748" y="1947672"/>
            <a:ext cx="173736" cy="182880"/>
          </a:xfrm>
          <a:prstGeom prst="rightArrow">
            <a:avLst/>
          </a:prstGeom>
          <a:solidFill>
            <a:srgbClr val="C77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21" name="Rounded Rectangle 17420"/>
          <p:cNvSpPr/>
          <p:nvPr/>
        </p:nvSpPr>
        <p:spPr>
          <a:xfrm>
            <a:off x="6172200" y="1444752"/>
            <a:ext cx="1719072" cy="1188720"/>
          </a:xfrm>
          <a:prstGeom prst="roundRect">
            <a:avLst>
              <a:gd name="adj" fmla="val 6000"/>
            </a:avLst>
          </a:prstGeom>
          <a:solidFill>
            <a:srgbClr val="ECE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4B3F8C"/>
                </a:solidFill>
                <a:latin typeface="Arial"/>
              </a:rPr>
              <a:t>4  Clean</a:t>
            </a:r>
          </a:p>
          <a:p>
            <a:pPr>
              <a:lnSpc>
                <a:spcPct val="95000"/>
              </a:lnSpc>
              <a:spcBef>
                <a:spcPts val="400"/>
              </a:spcBef>
              <a:spcAft>
                <a:spcPts val="0"/>
              </a:spcAft>
            </a:pPr>
            <a:r>
              <a:rPr sz="1400" b="1">
                <a:solidFill>
                  <a:srgbClr val="1F497D"/>
                </a:solidFill>
                <a:latin typeface="Arial"/>
              </a:rPr>
              <a:t>min 3 obs</a:t>
            </a:r>
          </a:p>
          <a:p>
            <a:pPr>
              <a:lnSpc>
                <a:spcPct val="95000"/>
              </a:lnSpc>
              <a:spcBef>
                <a:spcPts val="100"/>
              </a:spcBef>
              <a:spcAft>
                <a:spcPts val="0"/>
              </a:spcAft>
            </a:pPr>
            <a:r>
              <a:rPr sz="1050" b="0">
                <a:solidFill>
                  <a:srgbClr val="5A626C"/>
                </a:solidFill>
                <a:latin typeface="Arial"/>
              </a:rPr>
              <a:t>per priced cell</a:t>
            </a:r>
          </a:p>
        </p:txBody>
      </p:sp>
      <p:sp>
        <p:nvSpPr>
          <p:cNvPr id="17422" name="Rectangle 17421"/>
          <p:cNvSpPr/>
          <p:nvPr/>
        </p:nvSpPr>
        <p:spPr>
          <a:xfrm>
            <a:off x="6172200" y="1444752"/>
            <a:ext cx="1719072" cy="64008"/>
          </a:xfrm>
          <a:prstGeom prst="rect">
            <a:avLst/>
          </a:prstGeom>
          <a:solidFill>
            <a:srgbClr val="4B3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23" name="Right Arrow 17422"/>
          <p:cNvSpPr/>
          <p:nvPr/>
        </p:nvSpPr>
        <p:spPr>
          <a:xfrm>
            <a:off x="7904988" y="1947672"/>
            <a:ext cx="173736" cy="182880"/>
          </a:xfrm>
          <a:prstGeom prst="rightArrow">
            <a:avLst/>
          </a:prstGeom>
          <a:solidFill>
            <a:srgbClr val="4B3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24" name="Rounded Rectangle 17423"/>
          <p:cNvSpPr/>
          <p:nvPr/>
        </p:nvSpPr>
        <p:spPr>
          <a:xfrm>
            <a:off x="8092440" y="1444752"/>
            <a:ext cx="1719072" cy="1188720"/>
          </a:xfrm>
          <a:prstGeom prst="roundRect">
            <a:avLst>
              <a:gd name="adj" fmla="val 6000"/>
            </a:avLst>
          </a:prstGeom>
          <a:solidFill>
            <a:srgbClr val="E2F2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0E7C86"/>
                </a:solidFill>
                <a:latin typeface="Arial"/>
              </a:rPr>
              <a:t>5  Index</a:t>
            </a:r>
          </a:p>
          <a:p>
            <a:pPr>
              <a:lnSpc>
                <a:spcPct val="95000"/>
              </a:lnSpc>
              <a:spcBef>
                <a:spcPts val="400"/>
              </a:spcBef>
              <a:spcAft>
                <a:spcPts val="0"/>
              </a:spcAft>
            </a:pPr>
            <a:r>
              <a:rPr sz="1400" b="1">
                <a:solidFill>
                  <a:srgbClr val="1F497D"/>
                </a:solidFill>
                <a:latin typeface="Arial"/>
              </a:rPr>
              <a:t>75 cells</a:t>
            </a:r>
          </a:p>
          <a:p>
            <a:pPr>
              <a:lnSpc>
                <a:spcPct val="95000"/>
              </a:lnSpc>
              <a:spcBef>
                <a:spcPts val="100"/>
              </a:spcBef>
              <a:spcAft>
                <a:spcPts val="0"/>
              </a:spcAft>
            </a:pPr>
            <a:r>
              <a:rPr sz="1050" b="0">
                <a:solidFill>
                  <a:srgbClr val="5A626C"/>
                </a:solidFill>
                <a:latin typeface="Arial"/>
              </a:rPr>
              <a:t>weighted Jevons</a:t>
            </a:r>
          </a:p>
        </p:txBody>
      </p:sp>
      <p:sp>
        <p:nvSpPr>
          <p:cNvPr id="17425" name="Rectangle 17424"/>
          <p:cNvSpPr/>
          <p:nvPr/>
        </p:nvSpPr>
        <p:spPr>
          <a:xfrm>
            <a:off x="8092440" y="1444752"/>
            <a:ext cx="1719072" cy="64008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26" name="Right Arrow 17425"/>
          <p:cNvSpPr/>
          <p:nvPr/>
        </p:nvSpPr>
        <p:spPr>
          <a:xfrm>
            <a:off x="9825228" y="1947672"/>
            <a:ext cx="173736" cy="182880"/>
          </a:xfrm>
          <a:prstGeom prst="rightArrow">
            <a:avLst/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27" name="Rounded Rectangle 17426"/>
          <p:cNvSpPr/>
          <p:nvPr/>
        </p:nvSpPr>
        <p:spPr>
          <a:xfrm>
            <a:off x="10012680" y="1444752"/>
            <a:ext cx="1719072" cy="1188720"/>
          </a:xfrm>
          <a:prstGeom prst="roundRect">
            <a:avLst>
              <a:gd name="adj" fmla="val 6000"/>
            </a:avLst>
          </a:prstGeom>
          <a:solidFill>
            <a:srgbClr val="F4EA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7A3E6B"/>
                </a:solidFill>
                <a:latin typeface="Arial"/>
              </a:rPr>
              <a:t>6  Publish</a:t>
            </a:r>
          </a:p>
          <a:p>
            <a:pPr>
              <a:lnSpc>
                <a:spcPct val="95000"/>
              </a:lnSpc>
              <a:spcBef>
                <a:spcPts val="400"/>
              </a:spcBef>
              <a:spcAft>
                <a:spcPts val="0"/>
              </a:spcAft>
            </a:pPr>
            <a:r>
              <a:rPr sz="1400" b="1">
                <a:solidFill>
                  <a:srgbClr val="1F497D"/>
                </a:solidFill>
                <a:latin typeface="Arial"/>
              </a:rPr>
              <a:t>2 endpoints</a:t>
            </a:r>
          </a:p>
          <a:p>
            <a:pPr>
              <a:lnSpc>
                <a:spcPct val="95000"/>
              </a:lnSpc>
              <a:spcBef>
                <a:spcPts val="100"/>
              </a:spcBef>
              <a:spcAft>
                <a:spcPts val="0"/>
              </a:spcAft>
            </a:pPr>
            <a:r>
              <a:rPr sz="1050" b="0">
                <a:solidFill>
                  <a:srgbClr val="5A626C"/>
                </a:solidFill>
                <a:latin typeface="Arial"/>
              </a:rPr>
              <a:t>portal + API</a:t>
            </a:r>
          </a:p>
        </p:txBody>
      </p:sp>
      <p:sp>
        <p:nvSpPr>
          <p:cNvPr id="17428" name="Rectangle 17427"/>
          <p:cNvSpPr/>
          <p:nvPr/>
        </p:nvSpPr>
        <p:spPr>
          <a:xfrm>
            <a:off x="10012680" y="1444752"/>
            <a:ext cx="1719072" cy="64008"/>
          </a:xfrm>
          <a:prstGeom prst="rect">
            <a:avLst/>
          </a:prstGeom>
          <a:solidFill>
            <a:srgbClr val="7A3E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29" name="TextBox 17428"/>
          <p:cNvSpPr txBox="1"/>
          <p:nvPr/>
        </p:nvSpPr>
        <p:spPr>
          <a:xfrm>
            <a:off x="411480" y="2761488"/>
            <a:ext cx="11338560" cy="2743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F497D"/>
                </a:solidFill>
                <a:latin typeface="Arial"/>
              </a:rPr>
              <a:t>What actually happens to one results page</a:t>
            </a:r>
          </a:p>
        </p:txBody>
      </p:sp>
      <p:sp>
        <p:nvSpPr>
          <p:cNvPr id="17430" name="Rectangle 17429"/>
          <p:cNvSpPr/>
          <p:nvPr/>
        </p:nvSpPr>
        <p:spPr>
          <a:xfrm>
            <a:off x="429768" y="3035808"/>
            <a:ext cx="1371600" cy="25603"/>
          </a:xfrm>
          <a:prstGeom prst="rect">
            <a:avLst/>
          </a:prstGeom>
          <a:solidFill>
            <a:srgbClr val="4F81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31" name="Rounded Rectangle 17430"/>
          <p:cNvSpPr/>
          <p:nvPr/>
        </p:nvSpPr>
        <p:spPr>
          <a:xfrm>
            <a:off x="411480" y="3145536"/>
            <a:ext cx="3703320" cy="2340864"/>
          </a:xfrm>
          <a:prstGeom prst="roundRect">
            <a:avLst>
              <a:gd name="adj" fmla="val 6000"/>
            </a:avLst>
          </a:prstGeom>
          <a:solidFill>
            <a:srgbClr val="E8F0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432" name="Rectangle 17431"/>
          <p:cNvSpPr/>
          <p:nvPr/>
        </p:nvSpPr>
        <p:spPr>
          <a:xfrm>
            <a:off x="411480" y="3145536"/>
            <a:ext cx="3703320" cy="64008"/>
          </a:xfrm>
          <a:prstGeom prst="rect">
            <a:avLst/>
          </a:prstGeom>
          <a:solidFill>
            <a:srgbClr val="4F81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33" name="TextBox 17432"/>
          <p:cNvSpPr txBox="1"/>
          <p:nvPr/>
        </p:nvSpPr>
        <p:spPr>
          <a:xfrm>
            <a:off x="557784" y="3291840"/>
            <a:ext cx="3410712" cy="237744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4F81BD"/>
                </a:solidFill>
                <a:latin typeface="Arial"/>
              </a:rPr>
              <a:t>1 · WHAT THE PAGE GIVES US</a:t>
            </a:r>
          </a:p>
        </p:txBody>
      </p:sp>
      <p:sp>
        <p:nvSpPr>
          <p:cNvPr id="17434" name="Rounded Rectangle 17433"/>
          <p:cNvSpPr/>
          <p:nvPr/>
        </p:nvSpPr>
        <p:spPr>
          <a:xfrm>
            <a:off x="557784" y="3566160"/>
            <a:ext cx="3410712" cy="95097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C7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2296" rIns="82296" tIns="64008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>
                <a:solidFill>
                  <a:srgbClr val="262B33"/>
                </a:solidFill>
                <a:latin typeface="Consolas"/>
              </a:rPr>
              <a:t>IndiGo | 6E-955 | 20:20 | 2h |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>
                <a:solidFill>
                  <a:srgbClr val="262B33"/>
                </a:solidFill>
                <a:latin typeface="Consolas"/>
              </a:rPr>
              <a:t>Non-stop | 22:20 | ₹6,529 |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>
                <a:solidFill>
                  <a:srgbClr val="262B33"/>
                </a:solidFill>
                <a:latin typeface="Consolas"/>
              </a:rPr>
              <a:t>₹480 off with CTFKSBIC | Book</a:t>
            </a:r>
          </a:p>
        </p:txBody>
      </p:sp>
      <p:sp>
        <p:nvSpPr>
          <p:cNvPr id="17435" name="TextBox 17434"/>
          <p:cNvSpPr txBox="1"/>
          <p:nvPr/>
        </p:nvSpPr>
        <p:spPr>
          <a:xfrm>
            <a:off x="557784" y="4590288"/>
            <a:ext cx="3410712" cy="841248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262B33"/>
                </a:solidFill>
                <a:latin typeface="Arial"/>
              </a:rPr>
              <a:t>Found by structure — a time beside a price — not by CSS class names, so a redesign cannot break it.</a:t>
            </a:r>
          </a:p>
        </p:txBody>
      </p:sp>
      <p:sp>
        <p:nvSpPr>
          <p:cNvPr id="17436" name="Rounded Rectangle 17435"/>
          <p:cNvSpPr/>
          <p:nvPr/>
        </p:nvSpPr>
        <p:spPr>
          <a:xfrm>
            <a:off x="4370832" y="3145536"/>
            <a:ext cx="3703320" cy="2340864"/>
          </a:xfrm>
          <a:prstGeom prst="roundRect">
            <a:avLst>
              <a:gd name="adj" fmla="val 6000"/>
            </a:avLst>
          </a:prstGeom>
          <a:solidFill>
            <a:srgbClr val="FBF0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437" name="Rectangle 17436"/>
          <p:cNvSpPr/>
          <p:nvPr/>
        </p:nvSpPr>
        <p:spPr>
          <a:xfrm>
            <a:off x="4370832" y="3145536"/>
            <a:ext cx="3703320" cy="64008"/>
          </a:xfrm>
          <a:prstGeom prst="rect">
            <a:avLst/>
          </a:prstGeom>
          <a:solidFill>
            <a:srgbClr val="1B8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38" name="TextBox 17437"/>
          <p:cNvSpPr txBox="1"/>
          <p:nvPr/>
        </p:nvSpPr>
        <p:spPr>
          <a:xfrm>
            <a:off x="4517136" y="3291840"/>
            <a:ext cx="3410712" cy="237744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1B8A5A"/>
                </a:solidFill>
                <a:latin typeface="Arial"/>
              </a:rPr>
              <a:t>2 · WHAT THE MODEL RETURNS</a:t>
            </a:r>
          </a:p>
        </p:txBody>
      </p:sp>
      <p:sp>
        <p:nvSpPr>
          <p:cNvPr id="17439" name="Rounded Rectangle 17438"/>
          <p:cNvSpPr/>
          <p:nvPr/>
        </p:nvSpPr>
        <p:spPr>
          <a:xfrm>
            <a:off x="4517136" y="3566160"/>
            <a:ext cx="3410712" cy="95097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C7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2296" rIns="82296" tIns="64008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>
                <a:solidFill>
                  <a:srgbClr val="262B33"/>
                </a:solidFill>
                <a:latin typeface="Consolas"/>
              </a:rPr>
              <a:t>{"carrier": "IndiGo",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>
                <a:solidFill>
                  <a:srgbClr val="262B33"/>
                </a:solidFill>
                <a:latin typeface="Consolas"/>
              </a:rPr>
              <a:t> "flight_number": "6E-955",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>
                <a:solidFill>
                  <a:srgbClr val="262B33"/>
                </a:solidFill>
                <a:latin typeface="Consolas"/>
              </a:rPr>
              <a:t> "departure_time": "20:20",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>
                <a:solidFill>
                  <a:srgbClr val="262B33"/>
                </a:solidFill>
                <a:latin typeface="Consolas"/>
              </a:rPr>
              <a:t> "total_fare": 6529,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>
                <a:solidFill>
                  <a:srgbClr val="262B33"/>
                </a:solidFill>
                <a:latin typeface="Consolas"/>
              </a:rPr>
              <a:t> "base_fare": null}</a:t>
            </a:r>
          </a:p>
        </p:txBody>
      </p:sp>
      <p:sp>
        <p:nvSpPr>
          <p:cNvPr id="17440" name="TextBox 17439"/>
          <p:cNvSpPr txBox="1"/>
          <p:nvPr/>
        </p:nvSpPr>
        <p:spPr>
          <a:xfrm>
            <a:off x="4517136" y="4590288"/>
            <a:ext cx="3410712" cy="841248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262B33"/>
                </a:solidFill>
                <a:latin typeface="Arial"/>
              </a:rPr>
              <a:t>Strict JSON only. Coupons and struck-through prices are ignored; unpublished fields stay null.</a:t>
            </a:r>
          </a:p>
        </p:txBody>
      </p:sp>
      <p:sp>
        <p:nvSpPr>
          <p:cNvPr id="17441" name="Rounded Rectangle 17440"/>
          <p:cNvSpPr/>
          <p:nvPr/>
        </p:nvSpPr>
        <p:spPr>
          <a:xfrm>
            <a:off x="8330183" y="3145536"/>
            <a:ext cx="3703320" cy="2340864"/>
          </a:xfrm>
          <a:prstGeom prst="roundRect">
            <a:avLst>
              <a:gd name="adj" fmla="val 6000"/>
            </a:avLst>
          </a:prstGeom>
          <a:solidFill>
            <a:srgbClr val="E2F2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442" name="Rectangle 17441"/>
          <p:cNvSpPr/>
          <p:nvPr/>
        </p:nvSpPr>
        <p:spPr>
          <a:xfrm>
            <a:off x="8330183" y="3145536"/>
            <a:ext cx="3703320" cy="64008"/>
          </a:xfrm>
          <a:prstGeom prst="rect">
            <a:avLst/>
          </a:prstGeom>
          <a:solidFill>
            <a:srgbClr val="4B3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43" name="TextBox 17442"/>
          <p:cNvSpPr txBox="1"/>
          <p:nvPr/>
        </p:nvSpPr>
        <p:spPr>
          <a:xfrm>
            <a:off x="8476488" y="3291840"/>
            <a:ext cx="3410712" cy="237744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4B3F8C"/>
                </a:solidFill>
                <a:latin typeface="Arial"/>
              </a:rPr>
              <a:t>3 · WHAT POSTGRES STORES</a:t>
            </a:r>
          </a:p>
        </p:txBody>
      </p:sp>
      <p:sp>
        <p:nvSpPr>
          <p:cNvPr id="17444" name="Rounded Rectangle 17443"/>
          <p:cNvSpPr/>
          <p:nvPr/>
        </p:nvSpPr>
        <p:spPr>
          <a:xfrm>
            <a:off x="8476488" y="3566160"/>
            <a:ext cx="3410712" cy="95097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C7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2296" rIns="82296" tIns="64008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>
                <a:solidFill>
                  <a:srgbClr val="262B33"/>
                </a:solidFill>
                <a:latin typeface="Consolas"/>
              </a:rPr>
              <a:t>DEL → BOM  ·  T+1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>
                <a:solidFill>
                  <a:srgbClr val="262B33"/>
                </a:solidFill>
                <a:latin typeface="Consolas"/>
              </a:rPr>
              <a:t>total_fare  ₹6,529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>
                <a:solidFill>
                  <a:srgbClr val="262B33"/>
                </a:solidFill>
                <a:latin typeface="Consolas"/>
              </a:rPr>
              <a:t>source      cleartrip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>
                <a:solidFill>
                  <a:srgbClr val="262B33"/>
                </a:solidFill>
                <a:latin typeface="Consolas"/>
              </a:rPr>
              <a:t>model_used  llama-3.2-11b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>
                <a:solidFill>
                  <a:srgbClr val="262B33"/>
                </a:solidFill>
                <a:latin typeface="Consolas"/>
              </a:rPr>
              <a:t>scraped_at  2026-09-04 19:54Z</a:t>
            </a:r>
          </a:p>
        </p:txBody>
      </p:sp>
      <p:sp>
        <p:nvSpPr>
          <p:cNvPr id="17445" name="TextBox 17444"/>
          <p:cNvSpPr txBox="1"/>
          <p:nvPr/>
        </p:nvSpPr>
        <p:spPr>
          <a:xfrm>
            <a:off x="8476488" y="4590288"/>
            <a:ext cx="3410712" cy="841248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262B33"/>
                </a:solidFill>
                <a:latin typeface="Arial"/>
              </a:rPr>
              <a:t>Every fare records its source, the moment it was seen and the model that read it — so any figure traces back.</a:t>
            </a:r>
          </a:p>
        </p:txBody>
      </p:sp>
      <p:sp>
        <p:nvSpPr>
          <p:cNvPr id="17446" name="Rounded Rectangle 17445"/>
          <p:cNvSpPr/>
          <p:nvPr/>
        </p:nvSpPr>
        <p:spPr>
          <a:xfrm>
            <a:off x="411480" y="5596128"/>
            <a:ext cx="11338560" cy="530352"/>
          </a:xfrm>
          <a:prstGeom prst="roundRect">
            <a:avLst>
              <a:gd name="adj" fmla="val 6000"/>
            </a:avLst>
          </a:prstGeom>
          <a:solidFill>
            <a:srgbClr val="ECE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4B3F8C"/>
                </a:solidFill>
                <a:latin typeface="Arial"/>
              </a:rPr>
              <a:t>STACK   Python · Playwright · OpenAI-compatible LLM with failover · Pydantic v2 · Supabase PostgreSQL · FastAPI · Cloudflare · cron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 algn="ctr"/>
            <a:r>
              <a:rPr sz="3600" b="1">
                <a:solidFill>
                  <a:srgbClr val="1F497D"/>
                </a:solidFill>
                <a:latin typeface="Times New Roman"/>
              </a:rPr>
              <a:t>FEASIBILITY AND VIABILITY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12" name="Oval 11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 wrap="square"/>
          <a:lstStyle/>
          <a:p>
            <a:pPr algn="ctr"/>
            <a:r>
              <a:rPr lang="en-US" dirty="0" sz="1050" b="1"/>
              <a:t>Fare Enough 101</a:t>
            </a:r>
            <a:endParaRPr lang="en-IN" dirty="0"/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7410" name="Rounded Rectangle 17409"/>
          <p:cNvSpPr/>
          <p:nvPr/>
        </p:nvSpPr>
        <p:spPr>
          <a:xfrm>
            <a:off x="411480" y="1133856"/>
            <a:ext cx="5760720" cy="1170432"/>
          </a:xfrm>
          <a:prstGeom prst="roundRect">
            <a:avLst>
              <a:gd name="adj" fmla="val 6000"/>
            </a:avLst>
          </a:prstGeom>
          <a:solidFill>
            <a:srgbClr val="E8F0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411" name="Rectangle 17410"/>
          <p:cNvSpPr/>
          <p:nvPr/>
        </p:nvSpPr>
        <p:spPr>
          <a:xfrm>
            <a:off x="411480" y="1133856"/>
            <a:ext cx="68580" cy="1170432"/>
          </a:xfrm>
          <a:prstGeom prst="rect">
            <a:avLst/>
          </a:prstGeom>
          <a:solidFill>
            <a:srgbClr val="4F81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12" name="TextBox 17411"/>
          <p:cNvSpPr txBox="1"/>
          <p:nvPr/>
        </p:nvSpPr>
        <p:spPr>
          <a:xfrm>
            <a:off x="640080" y="1225296"/>
            <a:ext cx="3840480" cy="987552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4F81BD"/>
                </a:solidFill>
                <a:latin typeface="Arial"/>
              </a:rPr>
              <a:t>Technical feasibility</a:t>
            </a:r>
          </a:p>
          <a:p>
            <a:pPr>
              <a:lnSpc>
                <a:spcPct val="95000"/>
              </a:lnSpc>
              <a:spcBef>
                <a:spcPts val="400"/>
              </a:spcBef>
              <a:spcAft>
                <a:spcPts val="0"/>
              </a:spcAft>
            </a:pPr>
            <a:r>
              <a:rPr sz="1150" b="0">
                <a:solidFill>
                  <a:srgbClr val="262B33"/>
                </a:solidFill>
                <a:latin typeface="Arial"/>
              </a:rPr>
              <a:t>Fares are published continuously on public pages and change all day. The data exists; what is missing is a systematic way to read it.</a:t>
            </a:r>
          </a:p>
        </p:txBody>
      </p:sp>
      <p:sp>
        <p:nvSpPr>
          <p:cNvPr id="17413" name="TextBox 17412"/>
          <p:cNvSpPr txBox="1"/>
          <p:nvPr/>
        </p:nvSpPr>
        <p:spPr>
          <a:xfrm>
            <a:off x="4572000" y="1444752"/>
            <a:ext cx="1481328" cy="566928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4F81BD"/>
                </a:solidFill>
                <a:latin typeface="Arial"/>
              </a:rPr>
              <a:t>USD 18.1 bn</a:t>
            </a:r>
          </a:p>
          <a:p>
            <a:pPr>
              <a:lnSpc>
                <a:spcPct val="95000"/>
              </a:lnSpc>
              <a:spcBef>
                <a:spcPts val="200"/>
              </a:spcBef>
              <a:spcAft>
                <a:spcPts val="0"/>
              </a:spcAft>
            </a:pPr>
            <a:r>
              <a:rPr sz="900" b="0">
                <a:solidFill>
                  <a:srgbClr val="5A626C"/>
                </a:solidFill>
                <a:latin typeface="Arial"/>
              </a:rPr>
              <a:t>market size, 2026</a:t>
            </a:r>
          </a:p>
        </p:txBody>
      </p:sp>
      <p:sp>
        <p:nvSpPr>
          <p:cNvPr id="17414" name="Rounded Rectangle 17413"/>
          <p:cNvSpPr/>
          <p:nvPr/>
        </p:nvSpPr>
        <p:spPr>
          <a:xfrm>
            <a:off x="411480" y="2377440"/>
            <a:ext cx="5760720" cy="1170432"/>
          </a:xfrm>
          <a:prstGeom prst="roundRect">
            <a:avLst>
              <a:gd name="adj" fmla="val 6000"/>
            </a:avLst>
          </a:prstGeom>
          <a:solidFill>
            <a:srgbClr val="E4F4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415" name="Rectangle 17414"/>
          <p:cNvSpPr/>
          <p:nvPr/>
        </p:nvSpPr>
        <p:spPr>
          <a:xfrm>
            <a:off x="411480" y="2377440"/>
            <a:ext cx="68580" cy="1170432"/>
          </a:xfrm>
          <a:prstGeom prst="rect">
            <a:avLst/>
          </a:prstGeom>
          <a:solidFill>
            <a:srgbClr val="1B8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16" name="TextBox 17415"/>
          <p:cNvSpPr txBox="1"/>
          <p:nvPr/>
        </p:nvSpPr>
        <p:spPr>
          <a:xfrm>
            <a:off x="640080" y="2468880"/>
            <a:ext cx="3840480" cy="987552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B8A5A"/>
                </a:solidFill>
                <a:latin typeface="Arial"/>
              </a:rPr>
              <a:t>Operational feasibility</a:t>
            </a:r>
          </a:p>
          <a:p>
            <a:pPr>
              <a:lnSpc>
                <a:spcPct val="95000"/>
              </a:lnSpc>
              <a:spcBef>
                <a:spcPts val="400"/>
              </a:spcBef>
              <a:spcAft>
                <a:spcPts val="0"/>
              </a:spcAft>
            </a:pPr>
            <a:r>
              <a:rPr sz="1150" b="0">
                <a:solidFill>
                  <a:srgbClr val="262B33"/>
                </a:solidFill>
                <a:latin typeface="Arial"/>
              </a:rPr>
              <a:t>A fixed basket of the 15 busiest city pairs across 148 operational airports tracks the traffic that actually moves the index.</a:t>
            </a:r>
          </a:p>
        </p:txBody>
      </p:sp>
      <p:sp>
        <p:nvSpPr>
          <p:cNvPr id="17417" name="TextBox 17416"/>
          <p:cNvSpPr txBox="1"/>
          <p:nvPr/>
        </p:nvSpPr>
        <p:spPr>
          <a:xfrm>
            <a:off x="4572000" y="2688336"/>
            <a:ext cx="1481328" cy="566928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1B8A5A"/>
                </a:solidFill>
                <a:latin typeface="Arial"/>
              </a:rPr>
              <a:t>164 million</a:t>
            </a:r>
          </a:p>
          <a:p>
            <a:pPr>
              <a:lnSpc>
                <a:spcPct val="95000"/>
              </a:lnSpc>
              <a:spcBef>
                <a:spcPts val="200"/>
              </a:spcBef>
              <a:spcAft>
                <a:spcPts val="0"/>
              </a:spcAft>
            </a:pPr>
            <a:r>
              <a:rPr sz="900" b="0">
                <a:solidFill>
                  <a:srgbClr val="5A626C"/>
                </a:solidFill>
                <a:latin typeface="Arial"/>
              </a:rPr>
              <a:t>domestic passengers</a:t>
            </a:r>
          </a:p>
        </p:txBody>
      </p:sp>
      <p:sp>
        <p:nvSpPr>
          <p:cNvPr id="17418" name="Rounded Rectangle 17417"/>
          <p:cNvSpPr/>
          <p:nvPr/>
        </p:nvSpPr>
        <p:spPr>
          <a:xfrm>
            <a:off x="411480" y="3621024"/>
            <a:ext cx="5760720" cy="1170432"/>
          </a:xfrm>
          <a:prstGeom prst="roundRect">
            <a:avLst>
              <a:gd name="adj" fmla="val 6000"/>
            </a:avLst>
          </a:prstGeom>
          <a:solidFill>
            <a:srgbClr val="FBF0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419" name="Rectangle 17418"/>
          <p:cNvSpPr/>
          <p:nvPr/>
        </p:nvSpPr>
        <p:spPr>
          <a:xfrm>
            <a:off x="411480" y="3621024"/>
            <a:ext cx="68580" cy="1170432"/>
          </a:xfrm>
          <a:prstGeom prst="rect">
            <a:avLst/>
          </a:prstGeom>
          <a:solidFill>
            <a:srgbClr val="C77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20" name="TextBox 17419"/>
          <p:cNvSpPr txBox="1"/>
          <p:nvPr/>
        </p:nvSpPr>
        <p:spPr>
          <a:xfrm>
            <a:off x="640080" y="3712463"/>
            <a:ext cx="3840480" cy="987552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C77700"/>
                </a:solidFill>
                <a:latin typeface="Arial"/>
              </a:rPr>
              <a:t>Economic feasibility</a:t>
            </a:r>
          </a:p>
          <a:p>
            <a:pPr>
              <a:lnSpc>
                <a:spcPct val="95000"/>
              </a:lnSpc>
              <a:spcBef>
                <a:spcPts val="400"/>
              </a:spcBef>
              <a:spcAft>
                <a:spcPts val="0"/>
              </a:spcAft>
            </a:pPr>
            <a:r>
              <a:rPr sz="1150" b="0">
                <a:solidFill>
                  <a:srgbClr val="262B33"/>
                </a:solidFill>
                <a:latin typeface="Arial"/>
              </a:rPr>
              <a:t>Free tiers throughout, about two minutes of compute per cycle. MoSPI visits shops monthly; this observes 144 times a day.</a:t>
            </a:r>
          </a:p>
        </p:txBody>
      </p:sp>
      <p:sp>
        <p:nvSpPr>
          <p:cNvPr id="17421" name="TextBox 17420"/>
          <p:cNvSpPr txBox="1"/>
          <p:nvPr/>
        </p:nvSpPr>
        <p:spPr>
          <a:xfrm>
            <a:off x="4572000" y="3931920"/>
            <a:ext cx="1481328" cy="566928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C77700"/>
                </a:solidFill>
                <a:latin typeface="Arial"/>
              </a:rPr>
              <a:t>₹0</a:t>
            </a:r>
          </a:p>
          <a:p>
            <a:pPr>
              <a:lnSpc>
                <a:spcPct val="95000"/>
              </a:lnSpc>
              <a:spcBef>
                <a:spcPts val="200"/>
              </a:spcBef>
              <a:spcAft>
                <a:spcPts val="0"/>
              </a:spcAft>
            </a:pPr>
            <a:r>
              <a:rPr sz="900" b="0">
                <a:solidFill>
                  <a:srgbClr val="5A626C"/>
                </a:solidFill>
                <a:latin typeface="Arial"/>
              </a:rPr>
              <a:t>a month to run</a:t>
            </a:r>
          </a:p>
        </p:txBody>
      </p:sp>
      <p:sp>
        <p:nvSpPr>
          <p:cNvPr id="17422" name="Rounded Rectangle 17421"/>
          <p:cNvSpPr/>
          <p:nvPr/>
        </p:nvSpPr>
        <p:spPr>
          <a:xfrm>
            <a:off x="411480" y="4864608"/>
            <a:ext cx="5760720" cy="1170432"/>
          </a:xfrm>
          <a:prstGeom prst="roundRect">
            <a:avLst>
              <a:gd name="adj" fmla="val 6000"/>
            </a:avLst>
          </a:prstGeom>
          <a:solidFill>
            <a:srgbClr val="ECE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423" name="Rectangle 17422"/>
          <p:cNvSpPr/>
          <p:nvPr/>
        </p:nvSpPr>
        <p:spPr>
          <a:xfrm>
            <a:off x="411480" y="4864608"/>
            <a:ext cx="68580" cy="1170432"/>
          </a:xfrm>
          <a:prstGeom prst="rect">
            <a:avLst/>
          </a:prstGeom>
          <a:solidFill>
            <a:srgbClr val="4B3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24" name="TextBox 17423"/>
          <p:cNvSpPr txBox="1"/>
          <p:nvPr/>
        </p:nvSpPr>
        <p:spPr>
          <a:xfrm>
            <a:off x="640080" y="4956048"/>
            <a:ext cx="3840480" cy="987552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4B3F8C"/>
                </a:solidFill>
                <a:latin typeface="Arial"/>
              </a:rPr>
              <a:t>Regulatory feasibility</a:t>
            </a:r>
          </a:p>
          <a:p>
            <a:pPr>
              <a:lnSpc>
                <a:spcPct val="95000"/>
              </a:lnSpc>
              <a:spcBef>
                <a:spcPts val="400"/>
              </a:spcBef>
              <a:spcAft>
                <a:spcPts val="0"/>
              </a:spcAft>
            </a:pPr>
            <a:r>
              <a:rPr sz="1150" b="0">
                <a:solidFill>
                  <a:srgbClr val="262B33"/>
                </a:solidFill>
                <a:latin typeface="Arial"/>
              </a:rPr>
              <a:t>Eurostat's HICP guidance names air fares as a scrapeable category and the ONS has published on it since 2014 — precedented, not experimental.</a:t>
            </a:r>
          </a:p>
        </p:txBody>
      </p:sp>
      <p:sp>
        <p:nvSpPr>
          <p:cNvPr id="17425" name="TextBox 17424"/>
          <p:cNvSpPr txBox="1"/>
          <p:nvPr/>
        </p:nvSpPr>
        <p:spPr>
          <a:xfrm>
            <a:off x="4572000" y="5175504"/>
            <a:ext cx="1481328" cy="566928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4B3F8C"/>
                </a:solidFill>
                <a:latin typeface="Arial"/>
              </a:rPr>
              <a:t>since 2014</a:t>
            </a:r>
          </a:p>
          <a:p>
            <a:pPr>
              <a:lnSpc>
                <a:spcPct val="95000"/>
              </a:lnSpc>
              <a:spcBef>
                <a:spcPts val="200"/>
              </a:spcBef>
              <a:spcAft>
                <a:spcPts val="0"/>
              </a:spcAft>
            </a:pPr>
            <a:r>
              <a:rPr sz="900" b="0">
                <a:solidFill>
                  <a:srgbClr val="5A626C"/>
                </a:solidFill>
                <a:latin typeface="Arial"/>
              </a:rPr>
              <a:t>ONS precedent</a:t>
            </a:r>
          </a:p>
        </p:txBody>
      </p:sp>
      <p:sp>
        <p:nvSpPr>
          <p:cNvPr id="17426" name="TextBox 17425"/>
          <p:cNvSpPr txBox="1"/>
          <p:nvPr/>
        </p:nvSpPr>
        <p:spPr>
          <a:xfrm>
            <a:off x="6400800" y="1133856"/>
            <a:ext cx="5394960" cy="2743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F497D"/>
                </a:solidFill>
                <a:latin typeface="Arial"/>
              </a:rPr>
              <a:t>Risks, and what we did about them</a:t>
            </a:r>
          </a:p>
        </p:txBody>
      </p:sp>
      <p:sp>
        <p:nvSpPr>
          <p:cNvPr id="17427" name="Rectangle 17426"/>
          <p:cNvSpPr/>
          <p:nvPr/>
        </p:nvSpPr>
        <p:spPr>
          <a:xfrm>
            <a:off x="6419088" y="1408176"/>
            <a:ext cx="1371600" cy="25603"/>
          </a:xfrm>
          <a:prstGeom prst="rect">
            <a:avLst/>
          </a:prstGeom>
          <a:solidFill>
            <a:srgbClr val="4F81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28" name="Rounded Rectangle 17427"/>
          <p:cNvSpPr/>
          <p:nvPr/>
        </p:nvSpPr>
        <p:spPr>
          <a:xfrm>
            <a:off x="6400800" y="1554480"/>
            <a:ext cx="5394960" cy="804672"/>
          </a:xfrm>
          <a:prstGeom prst="roundRect">
            <a:avLst>
              <a:gd name="adj" fmla="val 6000"/>
            </a:avLst>
          </a:prstGeom>
          <a:solidFill>
            <a:srgbClr val="FA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429" name="Rectangle 17428"/>
          <p:cNvSpPr/>
          <p:nvPr/>
        </p:nvSpPr>
        <p:spPr>
          <a:xfrm>
            <a:off x="6400800" y="1554480"/>
            <a:ext cx="50292" cy="804672"/>
          </a:xfrm>
          <a:prstGeom prst="rect">
            <a:avLst/>
          </a:prstGeom>
          <a:solidFill>
            <a:srgbClr val="C050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30" name="TextBox 17429"/>
          <p:cNvSpPr txBox="1"/>
          <p:nvPr/>
        </p:nvSpPr>
        <p:spPr>
          <a:xfrm>
            <a:off x="6583680" y="1636776"/>
            <a:ext cx="5120640" cy="658368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A63A3A"/>
                </a:solidFill>
                <a:latin typeface="Arial"/>
              </a:rPr>
              <a:t>16 portals surveyed, one is usable</a:t>
            </a:r>
          </a:p>
          <a:p>
            <a:pPr>
              <a:lnSpc>
                <a:spcPct val="95000"/>
              </a:lnSpc>
              <a:spcBef>
                <a:spcPts val="400"/>
              </a:spcBef>
              <a:spcAft>
                <a:spcPts val="0"/>
              </a:spcAft>
            </a:pPr>
            <a:r>
              <a:rPr sz="1150" b="0">
                <a:solidFill>
                  <a:srgbClr val="262B33"/>
                </a:solidFill>
                <a:latin typeface="Arial"/>
              </a:rPr>
              <a:t>Ten disallow us, four block us, airlines refuse automation entirely.</a:t>
            </a:r>
          </a:p>
        </p:txBody>
      </p:sp>
      <p:sp>
        <p:nvSpPr>
          <p:cNvPr id="17431" name="Rounded Rectangle 17430"/>
          <p:cNvSpPr/>
          <p:nvPr/>
        </p:nvSpPr>
        <p:spPr>
          <a:xfrm>
            <a:off x="6400800" y="2432304"/>
            <a:ext cx="5394960" cy="804672"/>
          </a:xfrm>
          <a:prstGeom prst="roundRect">
            <a:avLst>
              <a:gd name="adj" fmla="val 6000"/>
            </a:avLst>
          </a:prstGeom>
          <a:solidFill>
            <a:srgbClr val="FA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432" name="Rectangle 17431"/>
          <p:cNvSpPr/>
          <p:nvPr/>
        </p:nvSpPr>
        <p:spPr>
          <a:xfrm>
            <a:off x="6400800" y="2432304"/>
            <a:ext cx="50292" cy="804672"/>
          </a:xfrm>
          <a:prstGeom prst="rect">
            <a:avLst/>
          </a:prstGeom>
          <a:solidFill>
            <a:srgbClr val="C050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33" name="TextBox 17432"/>
          <p:cNvSpPr txBox="1"/>
          <p:nvPr/>
        </p:nvSpPr>
        <p:spPr>
          <a:xfrm>
            <a:off x="6583680" y="2514600"/>
            <a:ext cx="5120640" cy="658368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A63A3A"/>
                </a:solidFill>
                <a:latin typeface="Arial"/>
              </a:rPr>
              <a:t>Cloud IPs are blocked too</a:t>
            </a:r>
          </a:p>
          <a:p>
            <a:pPr>
              <a:lnSpc>
                <a:spcPct val="95000"/>
              </a:lnSpc>
              <a:spcBef>
                <a:spcPts val="400"/>
              </a:spcBef>
              <a:spcAft>
                <a:spcPts val="0"/>
              </a:spcAft>
            </a:pPr>
            <a:r>
              <a:rPr sz="1150" b="0">
                <a:solidFill>
                  <a:srgbClr val="262B33"/>
                </a:solidFill>
                <a:latin typeface="Arial"/>
              </a:rPr>
              <a:t>Verified in CI — so collection runs from a residential host.</a:t>
            </a:r>
          </a:p>
        </p:txBody>
      </p:sp>
      <p:sp>
        <p:nvSpPr>
          <p:cNvPr id="17434" name="Rounded Rectangle 17433"/>
          <p:cNvSpPr/>
          <p:nvPr/>
        </p:nvSpPr>
        <p:spPr>
          <a:xfrm>
            <a:off x="6400800" y="3310128"/>
            <a:ext cx="5394960" cy="804672"/>
          </a:xfrm>
          <a:prstGeom prst="roundRect">
            <a:avLst>
              <a:gd name="adj" fmla="val 6000"/>
            </a:avLst>
          </a:prstGeom>
          <a:solidFill>
            <a:srgbClr val="FA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435" name="Rectangle 17434"/>
          <p:cNvSpPr/>
          <p:nvPr/>
        </p:nvSpPr>
        <p:spPr>
          <a:xfrm>
            <a:off x="6400800" y="3310128"/>
            <a:ext cx="50292" cy="804672"/>
          </a:xfrm>
          <a:prstGeom prst="rect">
            <a:avLst/>
          </a:prstGeom>
          <a:solidFill>
            <a:srgbClr val="C050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36" name="TextBox 17435"/>
          <p:cNvSpPr txBox="1"/>
          <p:nvPr/>
        </p:nvSpPr>
        <p:spPr>
          <a:xfrm>
            <a:off x="6583680" y="3392424"/>
            <a:ext cx="5120640" cy="658368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A63A3A"/>
                </a:solidFill>
                <a:latin typeface="Arial"/>
              </a:rPr>
              <a:t>Models get retired without notice</a:t>
            </a:r>
          </a:p>
          <a:p>
            <a:pPr>
              <a:lnSpc>
                <a:spcPct val="95000"/>
              </a:lnSpc>
              <a:spcBef>
                <a:spcPts val="400"/>
              </a:spcBef>
              <a:spcAft>
                <a:spcPts val="0"/>
              </a:spcAft>
            </a:pPr>
            <a:r>
              <a:rPr sz="1150" b="0">
                <a:solidFill>
                  <a:srgbClr val="262B33"/>
                </a:solidFill>
                <a:latin typeface="Arial"/>
              </a:rPr>
              <a:t>Three died during this build. Extraction now fails over automatically.</a:t>
            </a:r>
          </a:p>
        </p:txBody>
      </p:sp>
      <p:sp>
        <p:nvSpPr>
          <p:cNvPr id="17437" name="Rounded Rectangle 17436"/>
          <p:cNvSpPr/>
          <p:nvPr/>
        </p:nvSpPr>
        <p:spPr>
          <a:xfrm>
            <a:off x="6400800" y="4187952"/>
            <a:ext cx="5394960" cy="804672"/>
          </a:xfrm>
          <a:prstGeom prst="roundRect">
            <a:avLst>
              <a:gd name="adj" fmla="val 6000"/>
            </a:avLst>
          </a:prstGeom>
          <a:solidFill>
            <a:srgbClr val="FA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438" name="Rectangle 17437"/>
          <p:cNvSpPr/>
          <p:nvPr/>
        </p:nvSpPr>
        <p:spPr>
          <a:xfrm>
            <a:off x="6400800" y="4187952"/>
            <a:ext cx="50292" cy="804672"/>
          </a:xfrm>
          <a:prstGeom prst="rect">
            <a:avLst/>
          </a:prstGeom>
          <a:solidFill>
            <a:srgbClr val="C050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39" name="TextBox 17438"/>
          <p:cNvSpPr txBox="1"/>
          <p:nvPr/>
        </p:nvSpPr>
        <p:spPr>
          <a:xfrm>
            <a:off x="6583680" y="4270248"/>
            <a:ext cx="5120640" cy="658368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A63A3A"/>
                </a:solidFill>
                <a:latin typeface="Arial"/>
              </a:rPr>
              <a:t>Thin coverage would mislead</a:t>
            </a:r>
          </a:p>
          <a:p>
            <a:pPr>
              <a:lnSpc>
                <a:spcPct val="95000"/>
              </a:lnSpc>
              <a:spcBef>
                <a:spcPts val="400"/>
              </a:spcBef>
              <a:spcAft>
                <a:spcPts val="0"/>
              </a:spcAft>
            </a:pPr>
            <a:r>
              <a:rPr sz="1150" b="0">
                <a:solidFill>
                  <a:srgbClr val="262B33"/>
                </a:solidFill>
                <a:latin typeface="Arial"/>
              </a:rPr>
              <a:t>Days below 60% basket weight publish as provisional, with the reason.</a:t>
            </a:r>
          </a:p>
        </p:txBody>
      </p:sp>
      <p:sp>
        <p:nvSpPr>
          <p:cNvPr id="17440" name="TextBox 17439"/>
          <p:cNvSpPr txBox="1"/>
          <p:nvPr/>
        </p:nvSpPr>
        <p:spPr>
          <a:xfrm>
            <a:off x="6400800" y="5102352"/>
            <a:ext cx="5394960" cy="2743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F497D"/>
                </a:solidFill>
                <a:latin typeface="Arial"/>
              </a:rPr>
              <a:t>What it costs to run</a:t>
            </a:r>
          </a:p>
        </p:txBody>
      </p:sp>
      <p:sp>
        <p:nvSpPr>
          <p:cNvPr id="17441" name="Rectangle 17440"/>
          <p:cNvSpPr/>
          <p:nvPr/>
        </p:nvSpPr>
        <p:spPr>
          <a:xfrm>
            <a:off x="6419088" y="5376672"/>
            <a:ext cx="1371600" cy="25603"/>
          </a:xfrm>
          <a:prstGeom prst="rect">
            <a:avLst/>
          </a:prstGeom>
          <a:solidFill>
            <a:srgbClr val="4F81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42" name="Rounded Rectangle 17441"/>
          <p:cNvSpPr/>
          <p:nvPr/>
        </p:nvSpPr>
        <p:spPr>
          <a:xfrm>
            <a:off x="6400800" y="5468112"/>
            <a:ext cx="5394960" cy="841248"/>
          </a:xfrm>
          <a:prstGeom prst="roundRect">
            <a:avLst>
              <a:gd name="adj" fmla="val 6000"/>
            </a:avLst>
          </a:prstGeom>
          <a:solidFill>
            <a:srgbClr val="E4F4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443" name="TextBox 17442"/>
          <p:cNvSpPr txBox="1"/>
          <p:nvPr/>
        </p:nvSpPr>
        <p:spPr>
          <a:xfrm>
            <a:off x="6547104" y="5522976"/>
            <a:ext cx="3291840" cy="155448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262B33"/>
                </a:solidFill>
                <a:latin typeface="Arial"/>
              </a:rPr>
              <a:t>Collection · Playwright</a:t>
            </a:r>
          </a:p>
        </p:txBody>
      </p:sp>
      <p:sp>
        <p:nvSpPr>
          <p:cNvPr id="17444" name="TextBox 17443"/>
          <p:cNvSpPr txBox="1"/>
          <p:nvPr/>
        </p:nvSpPr>
        <p:spPr>
          <a:xfrm>
            <a:off x="9921240" y="5522976"/>
            <a:ext cx="1737360" cy="155448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A626C"/>
                </a:solidFill>
                <a:latin typeface="Arial"/>
              </a:rPr>
              <a:t>₹0 · free tier</a:t>
            </a:r>
          </a:p>
        </p:txBody>
      </p:sp>
      <p:sp>
        <p:nvSpPr>
          <p:cNvPr id="17445" name="TextBox 17444"/>
          <p:cNvSpPr txBox="1"/>
          <p:nvPr/>
        </p:nvSpPr>
        <p:spPr>
          <a:xfrm>
            <a:off x="6547104" y="5678424"/>
            <a:ext cx="3291840" cy="155448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262B33"/>
                </a:solidFill>
                <a:latin typeface="Arial"/>
              </a:rPr>
              <a:t>Extraction · NVIDIA NIM LLM</a:t>
            </a:r>
          </a:p>
        </p:txBody>
      </p:sp>
      <p:sp>
        <p:nvSpPr>
          <p:cNvPr id="17446" name="TextBox 17445"/>
          <p:cNvSpPr txBox="1"/>
          <p:nvPr/>
        </p:nvSpPr>
        <p:spPr>
          <a:xfrm>
            <a:off x="9921240" y="5678424"/>
            <a:ext cx="1737360" cy="155448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A626C"/>
                </a:solidFill>
                <a:latin typeface="Arial"/>
              </a:rPr>
              <a:t>₹0 · free tier</a:t>
            </a:r>
          </a:p>
        </p:txBody>
      </p:sp>
      <p:sp>
        <p:nvSpPr>
          <p:cNvPr id="17447" name="TextBox 17446"/>
          <p:cNvSpPr txBox="1"/>
          <p:nvPr/>
        </p:nvSpPr>
        <p:spPr>
          <a:xfrm>
            <a:off x="6547104" y="5833872"/>
            <a:ext cx="3291840" cy="155448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262B33"/>
                </a:solidFill>
                <a:latin typeface="Arial"/>
              </a:rPr>
              <a:t>Storage · Supabase Postgres</a:t>
            </a:r>
          </a:p>
        </p:txBody>
      </p:sp>
      <p:sp>
        <p:nvSpPr>
          <p:cNvPr id="17448" name="TextBox 17447"/>
          <p:cNvSpPr txBox="1"/>
          <p:nvPr/>
        </p:nvSpPr>
        <p:spPr>
          <a:xfrm>
            <a:off x="9921240" y="5833872"/>
            <a:ext cx="1737360" cy="155448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A626C"/>
                </a:solidFill>
                <a:latin typeface="Arial"/>
              </a:rPr>
              <a:t>₹0 · free tier</a:t>
            </a:r>
          </a:p>
        </p:txBody>
      </p:sp>
      <p:sp>
        <p:nvSpPr>
          <p:cNvPr id="17449" name="TextBox 17448"/>
          <p:cNvSpPr txBox="1"/>
          <p:nvPr/>
        </p:nvSpPr>
        <p:spPr>
          <a:xfrm>
            <a:off x="6547104" y="5989320"/>
            <a:ext cx="3291840" cy="155448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262B33"/>
                </a:solidFill>
                <a:latin typeface="Arial"/>
              </a:rPr>
              <a:t>Publication · Render + Cloudflare</a:t>
            </a:r>
          </a:p>
        </p:txBody>
      </p:sp>
      <p:sp>
        <p:nvSpPr>
          <p:cNvPr id="17450" name="TextBox 17449"/>
          <p:cNvSpPr txBox="1"/>
          <p:nvPr/>
        </p:nvSpPr>
        <p:spPr>
          <a:xfrm>
            <a:off x="9921240" y="5989320"/>
            <a:ext cx="1737360" cy="155448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A626C"/>
                </a:solidFill>
                <a:latin typeface="Arial"/>
              </a:rPr>
              <a:t>₹0 · free tier</a:t>
            </a:r>
          </a:p>
        </p:txBody>
      </p:sp>
      <p:sp>
        <p:nvSpPr>
          <p:cNvPr id="17451" name="TextBox 17450"/>
          <p:cNvSpPr txBox="1"/>
          <p:nvPr/>
        </p:nvSpPr>
        <p:spPr>
          <a:xfrm>
            <a:off x="6547104" y="6144768"/>
            <a:ext cx="3291840" cy="155448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B8A5A"/>
                </a:solidFill>
                <a:latin typeface="Arial"/>
              </a:rPr>
              <a:t>Total · 144 cycles a day</a:t>
            </a:r>
          </a:p>
        </p:txBody>
      </p:sp>
      <p:sp>
        <p:nvSpPr>
          <p:cNvPr id="17452" name="TextBox 17451"/>
          <p:cNvSpPr txBox="1"/>
          <p:nvPr/>
        </p:nvSpPr>
        <p:spPr>
          <a:xfrm>
            <a:off x="9921240" y="6144768"/>
            <a:ext cx="1737360" cy="155448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B8A5A"/>
                </a:solidFill>
                <a:latin typeface="Arial"/>
              </a:rPr>
              <a:t>₹0 a month</a:t>
            </a:r>
          </a:p>
        </p:txBody>
      </p:sp>
    </p:spTree>
    <p:extLst>
      <p:ext uri="{BB962C8B-B14F-4D97-AF65-F5344CB8AC3E}">
        <p14:creationId xmlns:p14="http://schemas.microsoft.com/office/powerpoint/2010/main" val="375338791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 algn="ctr"/>
            <a:r>
              <a:rPr sz="3600" b="1">
                <a:solidFill>
                  <a:srgbClr val="1F497D"/>
                </a:solidFill>
                <a:latin typeface="Times New Roman"/>
              </a:rPr>
              <a:t>IMPACT AND BENEFITS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12" name="Oval 11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 wrap="square"/>
          <a:lstStyle/>
          <a:p>
            <a:pPr algn="ctr"/>
            <a:r>
              <a:rPr lang="en-US" dirty="0" sz="1050" b="1"/>
              <a:t>Fare Enough 101</a:t>
            </a:r>
            <a:endParaRPr lang="en-IN" dirty="0"/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7410" name="TextBox 17409"/>
          <p:cNvSpPr txBox="1"/>
          <p:nvPr/>
        </p:nvSpPr>
        <p:spPr>
          <a:xfrm>
            <a:off x="411480" y="1097280"/>
            <a:ext cx="11338560" cy="2743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F497D"/>
                </a:solidFill>
                <a:latin typeface="Arial"/>
              </a:rPr>
              <a:t>From a fare on a screen to a figure in the CPI</a:t>
            </a:r>
          </a:p>
        </p:txBody>
      </p:sp>
      <p:sp>
        <p:nvSpPr>
          <p:cNvPr id="17411" name="Rectangle 17410"/>
          <p:cNvSpPr/>
          <p:nvPr/>
        </p:nvSpPr>
        <p:spPr>
          <a:xfrm>
            <a:off x="429768" y="1371600"/>
            <a:ext cx="1371600" cy="25603"/>
          </a:xfrm>
          <a:prstGeom prst="rect">
            <a:avLst/>
          </a:prstGeom>
          <a:solidFill>
            <a:srgbClr val="4F81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12" name="Rounded Rectangle 17411"/>
          <p:cNvSpPr/>
          <p:nvPr/>
        </p:nvSpPr>
        <p:spPr>
          <a:xfrm>
            <a:off x="411480" y="1554480"/>
            <a:ext cx="1700784" cy="1298448"/>
          </a:xfrm>
          <a:prstGeom prst="roundRect">
            <a:avLst>
              <a:gd name="adj" fmla="val 6000"/>
            </a:avLst>
          </a:prstGeom>
          <a:solidFill>
            <a:srgbClr val="E8F0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4F81BD"/>
                </a:solidFill>
                <a:latin typeface="Arial"/>
              </a:rPr>
              <a:t>1</a:t>
            </a:r>
          </a:p>
          <a:p>
            <a:pPr>
              <a:lnSpc>
                <a:spcPct val="95000"/>
              </a:lnSpc>
              <a:spcBef>
                <a:spcPts val="200"/>
              </a:spcBef>
              <a:spcAft>
                <a:spcPts val="0"/>
              </a:spcAft>
            </a:pPr>
            <a:r>
              <a:rPr sz="1300" b="1">
                <a:solidFill>
                  <a:srgbClr val="1F497D"/>
                </a:solidFill>
                <a:latin typeface="Arial"/>
              </a:rPr>
              <a:t>A fare is published</a:t>
            </a:r>
          </a:p>
          <a:p>
            <a:pPr>
              <a:lnSpc>
                <a:spcPct val="95000"/>
              </a:lnSpc>
              <a:spcBef>
                <a:spcPts val="400"/>
              </a:spcBef>
              <a:spcAft>
                <a:spcPts val="0"/>
              </a:spcAft>
            </a:pPr>
            <a:r>
              <a:rPr sz="1050" b="0">
                <a:solidFill>
                  <a:srgbClr val="5A626C"/>
                </a:solidFill>
                <a:latin typeface="Arial"/>
              </a:rPr>
              <a:t>A portal shows a price for one route, one date</a:t>
            </a:r>
          </a:p>
        </p:txBody>
      </p:sp>
      <p:sp>
        <p:nvSpPr>
          <p:cNvPr id="17413" name="Right Arrow 17412"/>
          <p:cNvSpPr/>
          <p:nvPr/>
        </p:nvSpPr>
        <p:spPr>
          <a:xfrm>
            <a:off x="2130552" y="2084831"/>
            <a:ext cx="182879" cy="182880"/>
          </a:xfrm>
          <a:prstGeom prst="rightArrow">
            <a:avLst/>
          </a:prstGeom>
          <a:solidFill>
            <a:srgbClr val="4F81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14" name="Rounded Rectangle 17413"/>
          <p:cNvSpPr/>
          <p:nvPr/>
        </p:nvSpPr>
        <p:spPr>
          <a:xfrm>
            <a:off x="2331720" y="1554480"/>
            <a:ext cx="1700784" cy="1298448"/>
          </a:xfrm>
          <a:prstGeom prst="roundRect">
            <a:avLst>
              <a:gd name="adj" fmla="val 6000"/>
            </a:avLst>
          </a:prstGeom>
          <a:solidFill>
            <a:srgbClr val="E4F4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B8A5A"/>
                </a:solidFill>
                <a:latin typeface="Arial"/>
              </a:rPr>
              <a:t>2</a:t>
            </a:r>
          </a:p>
          <a:p>
            <a:pPr>
              <a:lnSpc>
                <a:spcPct val="95000"/>
              </a:lnSpc>
              <a:spcBef>
                <a:spcPts val="200"/>
              </a:spcBef>
              <a:spcAft>
                <a:spcPts val="0"/>
              </a:spcAft>
            </a:pPr>
            <a:r>
              <a:rPr sz="1300" b="1">
                <a:solidFill>
                  <a:srgbClr val="1F497D"/>
                </a:solidFill>
                <a:latin typeface="Arial"/>
              </a:rPr>
              <a:t>We observe it</a:t>
            </a:r>
          </a:p>
          <a:p>
            <a:pPr>
              <a:lnSpc>
                <a:spcPct val="95000"/>
              </a:lnSpc>
              <a:spcBef>
                <a:spcPts val="400"/>
              </a:spcBef>
              <a:spcAft>
                <a:spcPts val="0"/>
              </a:spcAft>
            </a:pPr>
            <a:r>
              <a:rPr sz="1050" b="0">
                <a:solidFill>
                  <a:srgbClr val="5A626C"/>
                </a:solidFill>
                <a:latin typeface="Arial"/>
              </a:rPr>
              <a:t>Read every 10 minutes, robots-checked</a:t>
            </a:r>
          </a:p>
        </p:txBody>
      </p:sp>
      <p:sp>
        <p:nvSpPr>
          <p:cNvPr id="17415" name="Right Arrow 17414"/>
          <p:cNvSpPr/>
          <p:nvPr/>
        </p:nvSpPr>
        <p:spPr>
          <a:xfrm>
            <a:off x="4050791" y="2084831"/>
            <a:ext cx="182879" cy="182880"/>
          </a:xfrm>
          <a:prstGeom prst="rightArrow">
            <a:avLst/>
          </a:prstGeom>
          <a:solidFill>
            <a:srgbClr val="4F81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16" name="Rounded Rectangle 17415"/>
          <p:cNvSpPr/>
          <p:nvPr/>
        </p:nvSpPr>
        <p:spPr>
          <a:xfrm>
            <a:off x="4251960" y="1554480"/>
            <a:ext cx="1700784" cy="1298448"/>
          </a:xfrm>
          <a:prstGeom prst="roundRect">
            <a:avLst>
              <a:gd name="adj" fmla="val 6000"/>
            </a:avLst>
          </a:prstGeom>
          <a:solidFill>
            <a:srgbClr val="FBF0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C77700"/>
                </a:solidFill>
                <a:latin typeface="Arial"/>
              </a:rPr>
              <a:t>3</a:t>
            </a:r>
          </a:p>
          <a:p>
            <a:pPr>
              <a:lnSpc>
                <a:spcPct val="95000"/>
              </a:lnSpc>
              <a:spcBef>
                <a:spcPts val="200"/>
              </a:spcBef>
              <a:spcAft>
                <a:spcPts val="0"/>
              </a:spcAft>
            </a:pPr>
            <a:r>
              <a:rPr sz="1300" b="1">
                <a:solidFill>
                  <a:srgbClr val="1F497D"/>
                </a:solidFill>
                <a:latin typeface="Arial"/>
              </a:rPr>
              <a:t>It becomes a price</a:t>
            </a:r>
          </a:p>
          <a:p>
            <a:pPr>
              <a:lnSpc>
                <a:spcPct val="95000"/>
              </a:lnSpc>
              <a:spcBef>
                <a:spcPts val="400"/>
              </a:spcBef>
              <a:spcAft>
                <a:spcPts val="0"/>
              </a:spcAft>
            </a:pPr>
            <a:r>
              <a:rPr sz="1050" b="0">
                <a:solidFill>
                  <a:srgbClr val="5A626C"/>
                </a:solidFill>
                <a:latin typeface="Arial"/>
              </a:rPr>
              <a:t>Cheapest logical fare per route × lead time</a:t>
            </a:r>
          </a:p>
        </p:txBody>
      </p:sp>
      <p:sp>
        <p:nvSpPr>
          <p:cNvPr id="17417" name="Right Arrow 17416"/>
          <p:cNvSpPr/>
          <p:nvPr/>
        </p:nvSpPr>
        <p:spPr>
          <a:xfrm>
            <a:off x="5971032" y="2084831"/>
            <a:ext cx="182879" cy="182880"/>
          </a:xfrm>
          <a:prstGeom prst="rightArrow">
            <a:avLst/>
          </a:prstGeom>
          <a:solidFill>
            <a:srgbClr val="4F81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18" name="Rounded Rectangle 17417"/>
          <p:cNvSpPr/>
          <p:nvPr/>
        </p:nvSpPr>
        <p:spPr>
          <a:xfrm>
            <a:off x="6172200" y="1554480"/>
            <a:ext cx="1700784" cy="1298448"/>
          </a:xfrm>
          <a:prstGeom prst="roundRect">
            <a:avLst>
              <a:gd name="adj" fmla="val 6000"/>
            </a:avLst>
          </a:prstGeom>
          <a:solidFill>
            <a:srgbClr val="ECE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4B3F8C"/>
                </a:solidFill>
                <a:latin typeface="Arial"/>
              </a:rPr>
              <a:t>4</a:t>
            </a:r>
          </a:p>
          <a:p>
            <a:pPr>
              <a:lnSpc>
                <a:spcPct val="95000"/>
              </a:lnSpc>
              <a:spcBef>
                <a:spcPts val="200"/>
              </a:spcBef>
              <a:spcAft>
                <a:spcPts val="0"/>
              </a:spcAft>
            </a:pPr>
            <a:r>
              <a:rPr sz="1300" b="1">
                <a:solidFill>
                  <a:srgbClr val="1F497D"/>
                </a:solidFill>
                <a:latin typeface="Arial"/>
              </a:rPr>
              <a:t>It becomes an index</a:t>
            </a:r>
          </a:p>
          <a:p>
            <a:pPr>
              <a:lnSpc>
                <a:spcPct val="95000"/>
              </a:lnSpc>
              <a:spcBef>
                <a:spcPts val="400"/>
              </a:spcBef>
              <a:spcAft>
                <a:spcPts val="0"/>
              </a:spcAft>
            </a:pPr>
            <a:r>
              <a:rPr sz="1050" b="0">
                <a:solidFill>
                  <a:srgbClr val="5A626C"/>
                </a:solidFill>
                <a:latin typeface="Arial"/>
              </a:rPr>
              <a:t>Weighted Jevons across the basket</a:t>
            </a:r>
          </a:p>
        </p:txBody>
      </p:sp>
      <p:sp>
        <p:nvSpPr>
          <p:cNvPr id="17419" name="Right Arrow 17418"/>
          <p:cNvSpPr/>
          <p:nvPr/>
        </p:nvSpPr>
        <p:spPr>
          <a:xfrm>
            <a:off x="7891272" y="2084831"/>
            <a:ext cx="182879" cy="182880"/>
          </a:xfrm>
          <a:prstGeom prst="rightArrow">
            <a:avLst/>
          </a:prstGeom>
          <a:solidFill>
            <a:srgbClr val="4F81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20" name="Rounded Rectangle 17419"/>
          <p:cNvSpPr/>
          <p:nvPr/>
        </p:nvSpPr>
        <p:spPr>
          <a:xfrm>
            <a:off x="8092440" y="1554480"/>
            <a:ext cx="1700784" cy="1298448"/>
          </a:xfrm>
          <a:prstGeom prst="roundRect">
            <a:avLst>
              <a:gd name="adj" fmla="val 6000"/>
            </a:avLst>
          </a:prstGeom>
          <a:solidFill>
            <a:srgbClr val="E2F2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0E7C86"/>
                </a:solidFill>
                <a:latin typeface="Arial"/>
              </a:rPr>
              <a:t>5</a:t>
            </a:r>
          </a:p>
          <a:p>
            <a:pPr>
              <a:lnSpc>
                <a:spcPct val="95000"/>
              </a:lnSpc>
              <a:spcBef>
                <a:spcPts val="200"/>
              </a:spcBef>
              <a:spcAft>
                <a:spcPts val="0"/>
              </a:spcAft>
            </a:pPr>
            <a:r>
              <a:rPr sz="1300" b="1">
                <a:solidFill>
                  <a:srgbClr val="1F497D"/>
                </a:solidFill>
                <a:latin typeface="Arial"/>
              </a:rPr>
              <a:t>MoSPI ingests it</a:t>
            </a:r>
          </a:p>
          <a:p>
            <a:pPr>
              <a:lnSpc>
                <a:spcPct val="95000"/>
              </a:lnSpc>
              <a:spcBef>
                <a:spcPts val="400"/>
              </a:spcBef>
              <a:spcAft>
                <a:spcPts val="0"/>
              </a:spcAft>
            </a:pPr>
            <a:r>
              <a:rPr sz="1050" b="0">
                <a:solidFill>
                  <a:srgbClr val="5A626C"/>
                </a:solidFill>
                <a:latin typeface="Arial"/>
              </a:rPr>
              <a:t>REST API with method and coverage</a:t>
            </a:r>
          </a:p>
        </p:txBody>
      </p:sp>
      <p:sp>
        <p:nvSpPr>
          <p:cNvPr id="17421" name="Right Arrow 17420"/>
          <p:cNvSpPr/>
          <p:nvPr/>
        </p:nvSpPr>
        <p:spPr>
          <a:xfrm>
            <a:off x="9811511" y="2084831"/>
            <a:ext cx="182879" cy="182880"/>
          </a:xfrm>
          <a:prstGeom prst="rightArrow">
            <a:avLst/>
          </a:prstGeom>
          <a:solidFill>
            <a:srgbClr val="4F81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22" name="Rounded Rectangle 17421"/>
          <p:cNvSpPr/>
          <p:nvPr/>
        </p:nvSpPr>
        <p:spPr>
          <a:xfrm>
            <a:off x="10012680" y="1554480"/>
            <a:ext cx="1700784" cy="1298448"/>
          </a:xfrm>
          <a:prstGeom prst="roundRect">
            <a:avLst>
              <a:gd name="adj" fmla="val 6000"/>
            </a:avLst>
          </a:prstGeom>
          <a:solidFill>
            <a:srgbClr val="F4EA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7A3E6B"/>
                </a:solidFill>
                <a:latin typeface="Arial"/>
              </a:rPr>
              <a:t>6</a:t>
            </a:r>
          </a:p>
          <a:p>
            <a:pPr>
              <a:lnSpc>
                <a:spcPct val="95000"/>
              </a:lnSpc>
              <a:spcBef>
                <a:spcPts val="200"/>
              </a:spcBef>
              <a:spcAft>
                <a:spcPts val="0"/>
              </a:spcAft>
            </a:pPr>
            <a:r>
              <a:rPr sz="1300" b="1">
                <a:solidFill>
                  <a:srgbClr val="1F497D"/>
                </a:solidFill>
                <a:latin typeface="Arial"/>
              </a:rPr>
              <a:t>CPI reflects reality</a:t>
            </a:r>
          </a:p>
          <a:p>
            <a:pPr>
              <a:lnSpc>
                <a:spcPct val="95000"/>
              </a:lnSpc>
              <a:spcBef>
                <a:spcPts val="400"/>
              </a:spcBef>
              <a:spcAft>
                <a:spcPts val="0"/>
              </a:spcAft>
            </a:pPr>
            <a:r>
              <a:rPr sz="1050" b="0">
                <a:solidFill>
                  <a:srgbClr val="5A626C"/>
                </a:solidFill>
                <a:latin typeface="Arial"/>
              </a:rPr>
              <a:t>Transport sub-index from 144 daily reads</a:t>
            </a:r>
          </a:p>
        </p:txBody>
      </p:sp>
      <p:pic>
        <p:nvPicPr>
          <p:cNvPr id="17423" name="Picture 17422" descr="portal-sho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1480" y="3072384"/>
            <a:ext cx="5669280" cy="2755900"/>
          </a:xfrm>
          <a:prstGeom prst="rect">
            <a:avLst/>
          </a:prstGeom>
        </p:spPr>
      </p:pic>
      <p:sp>
        <p:nvSpPr>
          <p:cNvPr id="17424" name="TextBox 17423"/>
          <p:cNvSpPr txBox="1"/>
          <p:nvPr/>
        </p:nvSpPr>
        <p:spPr>
          <a:xfrm>
            <a:off x="411480" y="5852160"/>
            <a:ext cx="5669280" cy="402336"/>
          </a:xfrm>
          <a:prstGeom prst="rect">
            <a:avLst/>
          </a:prstGeom>
          <a:noFill/>
        </p:spPr>
        <p:txBody>
          <a:bodyPr wrap="square" lIns="36576" rIns="36576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4F81BD"/>
                </a:solidFill>
                <a:latin typeface="Arial"/>
                <a:hlinkClick r:id="rId5"/>
              </a:rPr>
              <a:t>Live: apix-portal.pages.dev</a:t>
            </a:r>
          </a:p>
          <a:p>
            <a:pPr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</a:pPr>
            <a:r>
              <a:rPr sz="1100" b="0">
                <a:solidFill>
                  <a:srgbClr val="5A626C"/>
                </a:solidFill>
                <a:latin typeface="Arial"/>
              </a:rPr>
              <a:t>Headline inflation, release status and method on one page.</a:t>
            </a:r>
          </a:p>
        </p:txBody>
      </p:sp>
      <p:sp>
        <p:nvSpPr>
          <p:cNvPr id="17425" name="TextBox 17424"/>
          <p:cNvSpPr txBox="1"/>
          <p:nvPr/>
        </p:nvSpPr>
        <p:spPr>
          <a:xfrm>
            <a:off x="6400800" y="3035808"/>
            <a:ext cx="5394960" cy="2743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F497D"/>
                </a:solidFill>
                <a:latin typeface="Arial"/>
              </a:rPr>
              <a:t>Who benefits, and how</a:t>
            </a:r>
          </a:p>
        </p:txBody>
      </p:sp>
      <p:sp>
        <p:nvSpPr>
          <p:cNvPr id="17426" name="Rectangle 17425"/>
          <p:cNvSpPr/>
          <p:nvPr/>
        </p:nvSpPr>
        <p:spPr>
          <a:xfrm>
            <a:off x="6419088" y="3310127"/>
            <a:ext cx="1371600" cy="25603"/>
          </a:xfrm>
          <a:prstGeom prst="rect">
            <a:avLst/>
          </a:prstGeom>
          <a:solidFill>
            <a:srgbClr val="4F81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27" name="Rounded Rectangle 17426"/>
          <p:cNvSpPr/>
          <p:nvPr/>
        </p:nvSpPr>
        <p:spPr>
          <a:xfrm>
            <a:off x="6400800" y="3438144"/>
            <a:ext cx="1691640" cy="292608"/>
          </a:xfrm>
          <a:prstGeom prst="roundRect">
            <a:avLst>
              <a:gd name="adj" fmla="val 6000"/>
            </a:avLst>
          </a:prstGeom>
          <a:solidFill>
            <a:srgbClr val="4F81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MoSPI / NSO</a:t>
            </a:r>
          </a:p>
        </p:txBody>
      </p:sp>
      <p:sp>
        <p:nvSpPr>
          <p:cNvPr id="17428" name="TextBox 17427"/>
          <p:cNvSpPr txBox="1"/>
          <p:nvPr/>
        </p:nvSpPr>
        <p:spPr>
          <a:xfrm>
            <a:off x="8275320" y="3419856"/>
            <a:ext cx="3520440" cy="45720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262B33"/>
                </a:solidFill>
                <a:latin typeface="Arial"/>
              </a:rPr>
              <a:t>A defensible transport input, recomputable from stored micro-data</a:t>
            </a:r>
          </a:p>
        </p:txBody>
      </p:sp>
      <p:sp>
        <p:nvSpPr>
          <p:cNvPr id="17429" name="Rounded Rectangle 17428"/>
          <p:cNvSpPr/>
          <p:nvPr/>
        </p:nvSpPr>
        <p:spPr>
          <a:xfrm>
            <a:off x="6400800" y="3913631"/>
            <a:ext cx="1691640" cy="292608"/>
          </a:xfrm>
          <a:prstGeom prst="roundRect">
            <a:avLst>
              <a:gd name="adj" fmla="val 6000"/>
            </a:avLst>
          </a:prstGeom>
          <a:solidFill>
            <a:srgbClr val="1B8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DGCA and policy</a:t>
            </a:r>
          </a:p>
        </p:txBody>
      </p:sp>
      <p:sp>
        <p:nvSpPr>
          <p:cNvPr id="17430" name="TextBox 17429"/>
          <p:cNvSpPr txBox="1"/>
          <p:nvPr/>
        </p:nvSpPr>
        <p:spPr>
          <a:xfrm>
            <a:off x="8275320" y="3895344"/>
            <a:ext cx="3520440" cy="45720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262B33"/>
                </a:solidFill>
                <a:latin typeface="Arial"/>
              </a:rPr>
              <a:t>Route-level fare behaviour nobody currently publishes</a:t>
            </a:r>
          </a:p>
        </p:txBody>
      </p:sp>
      <p:sp>
        <p:nvSpPr>
          <p:cNvPr id="17431" name="Rounded Rectangle 17430"/>
          <p:cNvSpPr/>
          <p:nvPr/>
        </p:nvSpPr>
        <p:spPr>
          <a:xfrm>
            <a:off x="6400800" y="4389119"/>
            <a:ext cx="1691640" cy="292608"/>
          </a:xfrm>
          <a:prstGeom prst="roundRect">
            <a:avLst>
              <a:gd name="adj" fmla="val 6000"/>
            </a:avLst>
          </a:prstGeom>
          <a:solidFill>
            <a:srgbClr val="C77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Citizens</a:t>
            </a:r>
          </a:p>
        </p:txBody>
      </p:sp>
      <p:sp>
        <p:nvSpPr>
          <p:cNvPr id="17432" name="TextBox 17431"/>
          <p:cNvSpPr txBox="1"/>
          <p:nvPr/>
        </p:nvSpPr>
        <p:spPr>
          <a:xfrm>
            <a:off x="8275320" y="4370831"/>
            <a:ext cx="3520440" cy="45720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262B33"/>
                </a:solidFill>
                <a:latin typeface="Arial"/>
              </a:rPr>
              <a:t>A public record of what air travel actually costs over time</a:t>
            </a:r>
          </a:p>
        </p:txBody>
      </p:sp>
      <p:sp>
        <p:nvSpPr>
          <p:cNvPr id="17433" name="Rounded Rectangle 17432"/>
          <p:cNvSpPr/>
          <p:nvPr/>
        </p:nvSpPr>
        <p:spPr>
          <a:xfrm>
            <a:off x="6400800" y="4864607"/>
            <a:ext cx="1691640" cy="292608"/>
          </a:xfrm>
          <a:prstGeom prst="roundRect">
            <a:avLst>
              <a:gd name="adj" fmla="val 6000"/>
            </a:avLst>
          </a:prstGeom>
          <a:solidFill>
            <a:srgbClr val="4B3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Researchers</a:t>
            </a:r>
          </a:p>
        </p:txBody>
      </p:sp>
      <p:sp>
        <p:nvSpPr>
          <p:cNvPr id="17434" name="TextBox 17433"/>
          <p:cNvSpPr txBox="1"/>
          <p:nvPr/>
        </p:nvSpPr>
        <p:spPr>
          <a:xfrm>
            <a:off x="8275320" y="4846319"/>
            <a:ext cx="3520440" cy="45720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262B33"/>
                </a:solidFill>
                <a:latin typeface="Arial"/>
              </a:rPr>
              <a:t>An open, reproducible price series for a market that has none</a:t>
            </a:r>
          </a:p>
        </p:txBody>
      </p:sp>
      <p:sp>
        <p:nvSpPr>
          <p:cNvPr id="17435" name="Rounded Rectangle 17434"/>
          <p:cNvSpPr/>
          <p:nvPr/>
        </p:nvSpPr>
        <p:spPr>
          <a:xfrm>
            <a:off x="6400800" y="5303520"/>
            <a:ext cx="1700784" cy="566928"/>
          </a:xfrm>
          <a:prstGeom prst="roundRect">
            <a:avLst>
              <a:gd name="adj" fmla="val 6000"/>
            </a:avLst>
          </a:prstGeom>
          <a:solidFill>
            <a:srgbClr val="E4F4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436" name="TextBox 17435"/>
          <p:cNvSpPr txBox="1"/>
          <p:nvPr/>
        </p:nvSpPr>
        <p:spPr>
          <a:xfrm>
            <a:off x="6492240" y="5340096"/>
            <a:ext cx="1517904" cy="493776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B8A5A"/>
                </a:solidFill>
                <a:latin typeface="Arial"/>
              </a:rPr>
              <a:t>144 ×</a:t>
            </a:r>
          </a:p>
          <a:p>
            <a:pPr>
              <a:lnSpc>
                <a:spcPct val="95000"/>
              </a:lnSpc>
              <a:spcBef>
                <a:spcPts val="100"/>
              </a:spcBef>
              <a:spcAft>
                <a:spcPts val="0"/>
              </a:spcAft>
            </a:pPr>
            <a:r>
              <a:rPr sz="850" b="0">
                <a:solidFill>
                  <a:srgbClr val="5A626C"/>
                </a:solidFill>
                <a:latin typeface="Arial"/>
              </a:rPr>
              <a:t>observations a day, not one a month</a:t>
            </a:r>
          </a:p>
        </p:txBody>
      </p:sp>
      <p:sp>
        <p:nvSpPr>
          <p:cNvPr id="17437" name="Rounded Rectangle 17436"/>
          <p:cNvSpPr/>
          <p:nvPr/>
        </p:nvSpPr>
        <p:spPr>
          <a:xfrm>
            <a:off x="8247888" y="5303520"/>
            <a:ext cx="1700784" cy="566928"/>
          </a:xfrm>
          <a:prstGeom prst="roundRect">
            <a:avLst>
              <a:gd name="adj" fmla="val 6000"/>
            </a:avLst>
          </a:prstGeom>
          <a:solidFill>
            <a:srgbClr val="ECE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438" name="TextBox 17437"/>
          <p:cNvSpPr txBox="1"/>
          <p:nvPr/>
        </p:nvSpPr>
        <p:spPr>
          <a:xfrm>
            <a:off x="8339327" y="5340096"/>
            <a:ext cx="1517904" cy="493776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4B3F8C"/>
                </a:solidFill>
                <a:latin typeface="Arial"/>
              </a:rPr>
              <a:t>75</a:t>
            </a:r>
          </a:p>
          <a:p>
            <a:pPr>
              <a:lnSpc>
                <a:spcPct val="95000"/>
              </a:lnSpc>
              <a:spcBef>
                <a:spcPts val="100"/>
              </a:spcBef>
              <a:spcAft>
                <a:spcPts val="0"/>
              </a:spcAft>
            </a:pPr>
            <a:r>
              <a:rPr sz="850" b="0">
                <a:solidFill>
                  <a:srgbClr val="5A626C"/>
                </a:solidFill>
                <a:latin typeface="Arial"/>
              </a:rPr>
              <a:t>priced cells behind every figure</a:t>
            </a:r>
          </a:p>
        </p:txBody>
      </p:sp>
      <p:sp>
        <p:nvSpPr>
          <p:cNvPr id="17439" name="Rounded Rectangle 17438"/>
          <p:cNvSpPr/>
          <p:nvPr/>
        </p:nvSpPr>
        <p:spPr>
          <a:xfrm>
            <a:off x="10094976" y="5303520"/>
            <a:ext cx="1700784" cy="566928"/>
          </a:xfrm>
          <a:prstGeom prst="roundRect">
            <a:avLst>
              <a:gd name="adj" fmla="val 6000"/>
            </a:avLst>
          </a:prstGeom>
          <a:solidFill>
            <a:srgbClr val="F4EA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440" name="TextBox 17439"/>
          <p:cNvSpPr txBox="1"/>
          <p:nvPr/>
        </p:nvSpPr>
        <p:spPr>
          <a:xfrm>
            <a:off x="10186415" y="5340096"/>
            <a:ext cx="1517904" cy="493776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0E7C86"/>
                </a:solidFill>
                <a:latin typeface="Arial"/>
              </a:rPr>
              <a:t>T+0</a:t>
            </a:r>
          </a:p>
          <a:p>
            <a:pPr>
              <a:lnSpc>
                <a:spcPct val="95000"/>
              </a:lnSpc>
              <a:spcBef>
                <a:spcPts val="100"/>
              </a:spcBef>
              <a:spcAft>
                <a:spcPts val="0"/>
              </a:spcAft>
            </a:pPr>
            <a:r>
              <a:rPr sz="850" b="0">
                <a:solidFill>
                  <a:srgbClr val="5A626C"/>
                </a:solidFill>
                <a:latin typeface="Arial"/>
              </a:rPr>
              <a:t>same-day index, not a two-week lag</a:t>
            </a:r>
          </a:p>
        </p:txBody>
      </p:sp>
      <p:sp>
        <p:nvSpPr>
          <p:cNvPr id="17441" name="Rounded Rectangle 17440"/>
          <p:cNvSpPr/>
          <p:nvPr/>
        </p:nvSpPr>
        <p:spPr>
          <a:xfrm>
            <a:off x="6400800" y="5925312"/>
            <a:ext cx="5394960" cy="402336"/>
          </a:xfrm>
          <a:prstGeom prst="roundRect">
            <a:avLst>
              <a:gd name="adj" fmla="val 6000"/>
            </a:avLst>
          </a:prstGeom>
          <a:solidFill>
            <a:srgbClr val="E4F4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262B33"/>
                </a:solidFill>
                <a:latin typeface="Arial"/>
              </a:rPr>
              <a:t>Our promise — replace one manual price visit a month with 144 automated observations a day, at zero marginal cost.</a:t>
            </a:r>
          </a:p>
        </p:txBody>
      </p:sp>
    </p:spTree>
    <p:extLst>
      <p:ext uri="{BB962C8B-B14F-4D97-AF65-F5344CB8AC3E}">
        <p14:creationId xmlns:p14="http://schemas.microsoft.com/office/powerpoint/2010/main" val="299714414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 algn="ctr"/>
            <a:r>
              <a:rPr sz="3600" b="1">
                <a:solidFill>
                  <a:srgbClr val="1F497D"/>
                </a:solidFill>
                <a:latin typeface="Times New Roman"/>
              </a:rPr>
              <a:t>RESEARCH AND REFERENCES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9" name="Oval 8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 wrap="square"/>
          <a:lstStyle/>
          <a:p>
            <a:pPr algn="ctr"/>
            <a:r>
              <a:rPr lang="en-US" dirty="0" sz="1050" b="1"/>
              <a:t>Fare Enough 101</a:t>
            </a:r>
            <a:endParaRPr lang="en-IN" dirty="0"/>
          </a:p>
        </p:txBody>
      </p:sp>
      <p:pic>
        <p:nvPicPr>
          <p:cNvPr id="12" name="Picture 1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7410" name="TextBox 17409"/>
          <p:cNvSpPr txBox="1"/>
          <p:nvPr/>
        </p:nvSpPr>
        <p:spPr>
          <a:xfrm>
            <a:off x="411480" y="987552"/>
            <a:ext cx="6400800" cy="219456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5A626C"/>
                </a:solidFill>
                <a:latin typeface="Arial"/>
              </a:rPr>
              <a:t>EVERY CARD IS CLICKABLE — THE UNDERLINED LINK OPENS THE SOURCE</a:t>
            </a:r>
          </a:p>
        </p:txBody>
      </p:sp>
      <p:sp>
        <p:nvSpPr>
          <p:cNvPr id="17411" name="Rounded Rectangle 17410">
            <a:hlinkClick r:id="rId4"/>
          </p:cNvPr>
          <p:cNvSpPr/>
          <p:nvPr/>
        </p:nvSpPr>
        <p:spPr>
          <a:xfrm>
            <a:off x="411480" y="1243584"/>
            <a:ext cx="3703320" cy="1298448"/>
          </a:xfrm>
          <a:prstGeom prst="roundRect">
            <a:avLst>
              <a:gd name="adj" fmla="val 6000"/>
            </a:avLst>
          </a:prstGeom>
          <a:solidFill>
            <a:srgbClr val="E8F0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412" name="Rectangle 17411"/>
          <p:cNvSpPr/>
          <p:nvPr/>
        </p:nvSpPr>
        <p:spPr>
          <a:xfrm>
            <a:off x="411480" y="1243584"/>
            <a:ext cx="3703320" cy="54864"/>
          </a:xfrm>
          <a:prstGeom prst="rect">
            <a:avLst/>
          </a:prstGeom>
          <a:solidFill>
            <a:srgbClr val="4F81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13" name="TextBox 17412"/>
          <p:cNvSpPr txBox="1"/>
          <p:nvPr/>
        </p:nvSpPr>
        <p:spPr>
          <a:xfrm>
            <a:off x="557784" y="1353312"/>
            <a:ext cx="3410712" cy="896112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4F81BD"/>
                </a:solidFill>
                <a:latin typeface="Arial"/>
              </a:rPr>
              <a:t>Method — why Jevons</a:t>
            </a:r>
          </a:p>
          <a:p>
            <a:pPr>
              <a:lnSpc>
                <a:spcPct val="95000"/>
              </a:lnSpc>
              <a:spcBef>
                <a:spcPts val="400"/>
              </a:spcBef>
              <a:spcAft>
                <a:spcPts val="0"/>
              </a:spcAft>
            </a:pPr>
            <a:r>
              <a:rPr sz="1050" b="0">
                <a:solidFill>
                  <a:srgbClr val="262B33"/>
                </a:solidFill>
                <a:latin typeface="Arial"/>
              </a:rPr>
              <a:t>Eurostat, Practical guidelines on web scraping for the HICP (2020). Names air fares explicitly as a scraped category.</a:t>
            </a:r>
          </a:p>
        </p:txBody>
      </p:sp>
      <p:sp>
        <p:nvSpPr>
          <p:cNvPr id="17414" name="TextBox 17413"/>
          <p:cNvSpPr txBox="1"/>
          <p:nvPr/>
        </p:nvSpPr>
        <p:spPr>
          <a:xfrm>
            <a:off x="1956816" y="2304288"/>
            <a:ext cx="2011680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 b="1" u="sng">
                <a:solidFill>
                  <a:srgbClr val="4F81BD"/>
                </a:solidFill>
                <a:latin typeface="Arial"/>
                <a:hlinkClick r:id="rId4"/>
              </a:rPr>
              <a:t>Eurostat guidance</a:t>
            </a:r>
          </a:p>
        </p:txBody>
      </p:sp>
      <p:sp>
        <p:nvSpPr>
          <p:cNvPr id="17415" name="Rounded Rectangle 17414">
            <a:hlinkClick r:id="rId5"/>
          </p:cNvPr>
          <p:cNvSpPr/>
          <p:nvPr/>
        </p:nvSpPr>
        <p:spPr>
          <a:xfrm>
            <a:off x="4370832" y="1243584"/>
            <a:ext cx="3703320" cy="1298448"/>
          </a:xfrm>
          <a:prstGeom prst="roundRect">
            <a:avLst>
              <a:gd name="adj" fmla="val 6000"/>
            </a:avLst>
          </a:prstGeom>
          <a:solidFill>
            <a:srgbClr val="E4F4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416" name="Rectangle 17415"/>
          <p:cNvSpPr/>
          <p:nvPr/>
        </p:nvSpPr>
        <p:spPr>
          <a:xfrm>
            <a:off x="4370832" y="1243584"/>
            <a:ext cx="3703320" cy="54864"/>
          </a:xfrm>
          <a:prstGeom prst="rect">
            <a:avLst/>
          </a:prstGeom>
          <a:solidFill>
            <a:srgbClr val="1B8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17" name="TextBox 17416"/>
          <p:cNvSpPr txBox="1"/>
          <p:nvPr/>
        </p:nvSpPr>
        <p:spPr>
          <a:xfrm>
            <a:off x="4517136" y="1353312"/>
            <a:ext cx="3410712" cy="896112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1B8A5A"/>
                </a:solidFill>
                <a:latin typeface="Arial"/>
              </a:rPr>
              <a:t>The international standard</a:t>
            </a:r>
          </a:p>
          <a:p>
            <a:pPr>
              <a:lnSpc>
                <a:spcPct val="95000"/>
              </a:lnSpc>
              <a:spcBef>
                <a:spcPts val="400"/>
              </a:spcBef>
              <a:spcAft>
                <a:spcPts val="0"/>
              </a:spcAft>
            </a:pPr>
            <a:r>
              <a:rPr sz="1050" b="0">
                <a:solidFill>
                  <a:srgbClr val="262B33"/>
                </a:solidFill>
                <a:latin typeface="Arial"/>
              </a:rPr>
              <a:t>CPI Manual: Concepts and Methods (ILO, IMF, OECD, UN, World Bank, 2020). Sets out elementary aggregates and why Jevons is preferred.</a:t>
            </a:r>
          </a:p>
        </p:txBody>
      </p:sp>
      <p:sp>
        <p:nvSpPr>
          <p:cNvPr id="17418" name="TextBox 17417"/>
          <p:cNvSpPr txBox="1"/>
          <p:nvPr/>
        </p:nvSpPr>
        <p:spPr>
          <a:xfrm>
            <a:off x="5916168" y="2304288"/>
            <a:ext cx="2011680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 b="1" u="sng">
                <a:solidFill>
                  <a:srgbClr val="1B8A5A"/>
                </a:solidFill>
                <a:latin typeface="Arial"/>
                <a:hlinkClick r:id="rId5"/>
              </a:rPr>
              <a:t>CPI Manual 2020</a:t>
            </a:r>
          </a:p>
        </p:txBody>
      </p:sp>
      <p:sp>
        <p:nvSpPr>
          <p:cNvPr id="17419" name="Rounded Rectangle 17418">
            <a:hlinkClick r:id="rId6"/>
          </p:cNvPr>
          <p:cNvSpPr/>
          <p:nvPr/>
        </p:nvSpPr>
        <p:spPr>
          <a:xfrm>
            <a:off x="8330183" y="1243584"/>
            <a:ext cx="3703320" cy="1298448"/>
          </a:xfrm>
          <a:prstGeom prst="roundRect">
            <a:avLst>
              <a:gd name="adj" fmla="val 6000"/>
            </a:avLst>
          </a:prstGeom>
          <a:solidFill>
            <a:srgbClr val="FBF0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420" name="Rectangle 17419"/>
          <p:cNvSpPr/>
          <p:nvPr/>
        </p:nvSpPr>
        <p:spPr>
          <a:xfrm>
            <a:off x="8330183" y="1243584"/>
            <a:ext cx="3703320" cy="54864"/>
          </a:xfrm>
          <a:prstGeom prst="rect">
            <a:avLst/>
          </a:prstGeom>
          <a:solidFill>
            <a:srgbClr val="C77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21" name="TextBox 17420"/>
          <p:cNvSpPr txBox="1"/>
          <p:nvPr/>
        </p:nvSpPr>
        <p:spPr>
          <a:xfrm>
            <a:off x="8476488" y="1353312"/>
            <a:ext cx="3410712" cy="896112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C77700"/>
                </a:solidFill>
                <a:latin typeface="Arial"/>
              </a:rPr>
              <a:t>Precedent — already done</a:t>
            </a:r>
          </a:p>
          <a:p>
            <a:pPr>
              <a:lnSpc>
                <a:spcPct val="95000"/>
              </a:lnSpc>
              <a:spcBef>
                <a:spcPts val="400"/>
              </a:spcBef>
              <a:spcAft>
                <a:spcPts val="0"/>
              </a:spcAft>
            </a:pPr>
            <a:r>
              <a:rPr sz="1050" b="0">
                <a:solidFill>
                  <a:srgbClr val="262B33"/>
                </a:solidFill>
                <a:latin typeface="Arial"/>
              </a:rPr>
              <a:t>The ONS ran a web-scraping programme for consumer prices from 2014, Eurostat-funded from 2015. This is not an untried method.</a:t>
            </a:r>
          </a:p>
        </p:txBody>
      </p:sp>
      <p:sp>
        <p:nvSpPr>
          <p:cNvPr id="17422" name="TextBox 17421"/>
          <p:cNvSpPr txBox="1"/>
          <p:nvPr/>
        </p:nvSpPr>
        <p:spPr>
          <a:xfrm>
            <a:off x="9875520" y="2304288"/>
            <a:ext cx="2011680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 b="1" u="sng">
                <a:solidFill>
                  <a:srgbClr val="C77700"/>
                </a:solidFill>
                <a:latin typeface="Arial"/>
                <a:hlinkClick r:id="rId6"/>
              </a:rPr>
              <a:t>ONS research indices</a:t>
            </a:r>
          </a:p>
        </p:txBody>
      </p:sp>
      <p:sp>
        <p:nvSpPr>
          <p:cNvPr id="17423" name="Rounded Rectangle 17422">
            <a:hlinkClick r:id="rId7"/>
          </p:cNvPr>
          <p:cNvSpPr/>
          <p:nvPr/>
        </p:nvSpPr>
        <p:spPr>
          <a:xfrm>
            <a:off x="411480" y="2670048"/>
            <a:ext cx="3703320" cy="1298448"/>
          </a:xfrm>
          <a:prstGeom prst="roundRect">
            <a:avLst>
              <a:gd name="adj" fmla="val 6000"/>
            </a:avLst>
          </a:prstGeom>
          <a:solidFill>
            <a:srgbClr val="ECE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424" name="Rectangle 17423"/>
          <p:cNvSpPr/>
          <p:nvPr/>
        </p:nvSpPr>
        <p:spPr>
          <a:xfrm>
            <a:off x="411480" y="2670048"/>
            <a:ext cx="3703320" cy="54864"/>
          </a:xfrm>
          <a:prstGeom prst="rect">
            <a:avLst/>
          </a:prstGeom>
          <a:solidFill>
            <a:srgbClr val="4B3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25" name="TextBox 17424"/>
          <p:cNvSpPr txBox="1"/>
          <p:nvPr/>
        </p:nvSpPr>
        <p:spPr>
          <a:xfrm>
            <a:off x="557784" y="2779776"/>
            <a:ext cx="3410712" cy="896112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4B3F8C"/>
                </a:solidFill>
                <a:latin typeface="Arial"/>
              </a:rPr>
              <a:t>The series we augment</a:t>
            </a:r>
          </a:p>
          <a:p>
            <a:pPr>
              <a:lnSpc>
                <a:spcPct val="95000"/>
              </a:lnSpc>
              <a:spcBef>
                <a:spcPts val="400"/>
              </a:spcBef>
              <a:spcAft>
                <a:spcPts val="0"/>
              </a:spcAft>
            </a:pPr>
            <a:r>
              <a:rPr sz="1050" b="0">
                <a:solidFill>
                  <a:srgbClr val="262B33"/>
                </a:solidFill>
                <a:latin typeface="Arial"/>
              </a:rPr>
              <a:t>MoSPI moved the CPI to base 2024=100 in February 2026, aligned to COICOP 2018 — 358 weighted items, 50 of them services. Air travel sits in Transport.</a:t>
            </a:r>
          </a:p>
        </p:txBody>
      </p:sp>
      <p:sp>
        <p:nvSpPr>
          <p:cNvPr id="17426" name="TextBox 17425"/>
          <p:cNvSpPr txBox="1"/>
          <p:nvPr/>
        </p:nvSpPr>
        <p:spPr>
          <a:xfrm>
            <a:off x="1956816" y="3730752"/>
            <a:ext cx="2011680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 b="1" u="sng">
                <a:solidFill>
                  <a:srgbClr val="4B3F8C"/>
                </a:solidFill>
                <a:latin typeface="Arial"/>
                <a:hlinkClick r:id="rId7"/>
              </a:rPr>
              <a:t>2024=100 release</a:t>
            </a:r>
          </a:p>
        </p:txBody>
      </p:sp>
      <p:sp>
        <p:nvSpPr>
          <p:cNvPr id="17427" name="Rounded Rectangle 17426">
            <a:hlinkClick r:id="rId8"/>
          </p:cNvPr>
          <p:cNvSpPr/>
          <p:nvPr/>
        </p:nvSpPr>
        <p:spPr>
          <a:xfrm>
            <a:off x="4370832" y="2670048"/>
            <a:ext cx="3703320" cy="1298448"/>
          </a:xfrm>
          <a:prstGeom prst="roundRect">
            <a:avLst>
              <a:gd name="adj" fmla="val 6000"/>
            </a:avLst>
          </a:prstGeom>
          <a:solidFill>
            <a:srgbClr val="E2F2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428" name="Rectangle 17427"/>
          <p:cNvSpPr/>
          <p:nvPr/>
        </p:nvSpPr>
        <p:spPr>
          <a:xfrm>
            <a:off x="4370832" y="2670048"/>
            <a:ext cx="3703320" cy="54864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29" name="TextBox 17428"/>
          <p:cNvSpPr txBox="1"/>
          <p:nvPr/>
        </p:nvSpPr>
        <p:spPr>
          <a:xfrm>
            <a:off x="4517136" y="2779776"/>
            <a:ext cx="3410712" cy="896112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0E7C86"/>
                </a:solidFill>
                <a:latin typeface="Arial"/>
              </a:rPr>
              <a:t>How fares are priced now</a:t>
            </a:r>
          </a:p>
          <a:p>
            <a:pPr>
              <a:lnSpc>
                <a:spcPct val="95000"/>
              </a:lnSpc>
              <a:spcBef>
                <a:spcPts val="400"/>
              </a:spcBef>
              <a:spcAft>
                <a:spcPts val="0"/>
              </a:spcAft>
            </a:pPr>
            <a:r>
              <a:rPr sz="1050" b="0">
                <a:solidFill>
                  <a:srgbClr val="262B33"/>
                </a:solidFill>
                <a:latin typeface="Arial"/>
              </a:rPr>
              <a:t>Field staff price items in sampled villages and urban markets on a weekly roster. Air travel is collected by hand.</a:t>
            </a:r>
          </a:p>
        </p:txBody>
      </p:sp>
      <p:sp>
        <p:nvSpPr>
          <p:cNvPr id="17430" name="TextBox 17429"/>
          <p:cNvSpPr txBox="1"/>
          <p:nvPr/>
        </p:nvSpPr>
        <p:spPr>
          <a:xfrm>
            <a:off x="5916168" y="3730752"/>
            <a:ext cx="2011680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 b="1" u="sng">
                <a:solidFill>
                  <a:srgbClr val="0E7C86"/>
                </a:solidFill>
                <a:latin typeface="Arial"/>
                <a:hlinkClick r:id="rId8"/>
              </a:rPr>
              <a:t>CPI 2024 series FAQs</a:t>
            </a:r>
          </a:p>
        </p:txBody>
      </p:sp>
      <p:sp>
        <p:nvSpPr>
          <p:cNvPr id="17431" name="Rounded Rectangle 17430">
            <a:hlinkClick r:id="rId9"/>
          </p:cNvPr>
          <p:cNvSpPr/>
          <p:nvPr/>
        </p:nvSpPr>
        <p:spPr>
          <a:xfrm>
            <a:off x="8330183" y="2670048"/>
            <a:ext cx="3703320" cy="1298448"/>
          </a:xfrm>
          <a:prstGeom prst="roundRect">
            <a:avLst>
              <a:gd name="adj" fmla="val 6000"/>
            </a:avLst>
          </a:prstGeom>
          <a:solidFill>
            <a:srgbClr val="F4EA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432" name="Rectangle 17431"/>
          <p:cNvSpPr/>
          <p:nvPr/>
        </p:nvSpPr>
        <p:spPr>
          <a:xfrm>
            <a:off x="8330183" y="2670048"/>
            <a:ext cx="3703320" cy="54864"/>
          </a:xfrm>
          <a:prstGeom prst="rect">
            <a:avLst/>
          </a:prstGeom>
          <a:solidFill>
            <a:srgbClr val="7A3E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33" name="TextBox 17432"/>
          <p:cNvSpPr txBox="1"/>
          <p:nvPr/>
        </p:nvSpPr>
        <p:spPr>
          <a:xfrm>
            <a:off x="8476488" y="2779776"/>
            <a:ext cx="3410712" cy="896112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7A3E6B"/>
                </a:solidFill>
                <a:latin typeface="Arial"/>
              </a:rPr>
              <a:t>The Indian basket</a:t>
            </a:r>
          </a:p>
          <a:p>
            <a:pPr>
              <a:lnSpc>
                <a:spcPct val="95000"/>
              </a:lnSpc>
              <a:spcBef>
                <a:spcPts val="400"/>
              </a:spcBef>
              <a:spcAft>
                <a:spcPts val="0"/>
              </a:spcAft>
            </a:pPr>
            <a:r>
              <a:rPr sz="1050" b="0">
                <a:solidFill>
                  <a:srgbClr val="262B33"/>
                </a:solidFill>
                <a:latin typeface="Arial"/>
              </a:rPr>
              <a:t>DGCA city-pair statistics: 164 m domestic passengers, IndiGo 64.2%. Our own 1,000-fare sample returned 68.2% — arrived at independently.</a:t>
            </a:r>
          </a:p>
        </p:txBody>
      </p:sp>
      <p:sp>
        <p:nvSpPr>
          <p:cNvPr id="17434" name="TextBox 17433"/>
          <p:cNvSpPr txBox="1"/>
          <p:nvPr/>
        </p:nvSpPr>
        <p:spPr>
          <a:xfrm>
            <a:off x="9875520" y="3730752"/>
            <a:ext cx="2011680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 b="1" u="sng">
                <a:solidFill>
                  <a:srgbClr val="7A3E6B"/>
                </a:solidFill>
                <a:latin typeface="Arial"/>
                <a:hlinkClick r:id="rId9"/>
              </a:rPr>
              <a:t>DGCA statistics</a:t>
            </a:r>
          </a:p>
        </p:txBody>
      </p:sp>
      <p:sp>
        <p:nvSpPr>
          <p:cNvPr id="17435" name="Rounded Rectangle 17434">
            <a:hlinkClick r:id="rId10"/>
          </p:cNvPr>
          <p:cNvSpPr/>
          <p:nvPr/>
        </p:nvSpPr>
        <p:spPr>
          <a:xfrm>
            <a:off x="411480" y="4096512"/>
            <a:ext cx="3703320" cy="1298448"/>
          </a:xfrm>
          <a:prstGeom prst="roundRect">
            <a:avLst>
              <a:gd name="adj" fmla="val 6000"/>
            </a:avLst>
          </a:prstGeom>
          <a:solidFill>
            <a:srgbClr val="E8F0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436" name="Rectangle 17435"/>
          <p:cNvSpPr/>
          <p:nvPr/>
        </p:nvSpPr>
        <p:spPr>
          <a:xfrm>
            <a:off x="411480" y="4096512"/>
            <a:ext cx="3703320" cy="54864"/>
          </a:xfrm>
          <a:prstGeom prst="rect">
            <a:avLst/>
          </a:prstGeom>
          <a:solidFill>
            <a:srgbClr val="4F81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37" name="TextBox 17436"/>
          <p:cNvSpPr txBox="1"/>
          <p:nvPr/>
        </p:nvSpPr>
        <p:spPr>
          <a:xfrm>
            <a:off x="557784" y="4206240"/>
            <a:ext cx="3410712" cy="896112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4F81BD"/>
                </a:solidFill>
                <a:latin typeface="Arial"/>
              </a:rPr>
              <a:t>Standards we hold to</a:t>
            </a:r>
          </a:p>
          <a:p>
            <a:pPr>
              <a:lnSpc>
                <a:spcPct val="95000"/>
              </a:lnSpc>
              <a:spcBef>
                <a:spcPts val="400"/>
              </a:spcBef>
              <a:spcAft>
                <a:spcPts val="0"/>
              </a:spcAft>
            </a:pPr>
            <a:r>
              <a:rPr sz="1050" b="0">
                <a:solidFill>
                  <a:srgbClr val="262B33"/>
                </a:solidFill>
                <a:latin typeface="Arial"/>
              </a:rPr>
              <a:t>RFC 9309, the Robots Exclusion Protocol. We implemented it ourselves after finding Python's standard parser reports disallowed paths as allowed.</a:t>
            </a:r>
          </a:p>
        </p:txBody>
      </p:sp>
      <p:sp>
        <p:nvSpPr>
          <p:cNvPr id="17438" name="TextBox 17437"/>
          <p:cNvSpPr txBox="1"/>
          <p:nvPr/>
        </p:nvSpPr>
        <p:spPr>
          <a:xfrm>
            <a:off x="1956816" y="5157216"/>
            <a:ext cx="2011680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 b="1" u="sng">
                <a:solidFill>
                  <a:srgbClr val="4F81BD"/>
                </a:solidFill>
                <a:latin typeface="Arial"/>
                <a:hlinkClick r:id="rId10"/>
              </a:rPr>
              <a:t>RFC 9309</a:t>
            </a:r>
          </a:p>
        </p:txBody>
      </p:sp>
      <p:sp>
        <p:nvSpPr>
          <p:cNvPr id="17439" name="Rounded Rectangle 17438">
            <a:hlinkClick r:id="rId11"/>
          </p:cNvPr>
          <p:cNvSpPr/>
          <p:nvPr/>
        </p:nvSpPr>
        <p:spPr>
          <a:xfrm>
            <a:off x="4370832" y="4096512"/>
            <a:ext cx="3703320" cy="1298448"/>
          </a:xfrm>
          <a:prstGeom prst="roundRect">
            <a:avLst>
              <a:gd name="adj" fmla="val 6000"/>
            </a:avLst>
          </a:prstGeom>
          <a:solidFill>
            <a:srgbClr val="E4F4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440" name="Rectangle 17439"/>
          <p:cNvSpPr/>
          <p:nvPr/>
        </p:nvSpPr>
        <p:spPr>
          <a:xfrm>
            <a:off x="4370832" y="4096512"/>
            <a:ext cx="3703320" cy="54864"/>
          </a:xfrm>
          <a:prstGeom prst="rect">
            <a:avLst/>
          </a:prstGeom>
          <a:solidFill>
            <a:srgbClr val="1B8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41" name="TextBox 17440"/>
          <p:cNvSpPr txBox="1"/>
          <p:nvPr/>
        </p:nvSpPr>
        <p:spPr>
          <a:xfrm>
            <a:off x="4517136" y="4206240"/>
            <a:ext cx="3410712" cy="896112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1B8A5A"/>
                </a:solidFill>
                <a:latin typeface="Arial"/>
              </a:rPr>
              <a:t>The market we measure</a:t>
            </a:r>
          </a:p>
          <a:p>
            <a:pPr>
              <a:lnSpc>
                <a:spcPct val="95000"/>
              </a:lnSpc>
              <a:spcBef>
                <a:spcPts val="400"/>
              </a:spcBef>
              <a:spcAft>
                <a:spcPts val="0"/>
              </a:spcAft>
            </a:pPr>
            <a:r>
              <a:rPr sz="1050" b="0">
                <a:solidFill>
                  <a:srgbClr val="262B33"/>
                </a:solidFill>
                <a:latin typeface="Arial"/>
              </a:rPr>
              <a:t>India is the world's fifth-largest aviation market, worth USD 18.1 bn in 2026 and growing 11.7% a year. Fares move daily; the CPI reads them monthly.</a:t>
            </a:r>
          </a:p>
        </p:txBody>
      </p:sp>
      <p:sp>
        <p:nvSpPr>
          <p:cNvPr id="17442" name="TextBox 17441"/>
          <p:cNvSpPr txBox="1"/>
          <p:nvPr/>
        </p:nvSpPr>
        <p:spPr>
          <a:xfrm>
            <a:off x="5916168" y="5157216"/>
            <a:ext cx="2011680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 b="1" u="sng">
                <a:solidFill>
                  <a:srgbClr val="1B8A5A"/>
                </a:solidFill>
                <a:latin typeface="Arial"/>
                <a:hlinkClick r:id="rId11"/>
              </a:rPr>
              <a:t>Aviation market</a:t>
            </a:r>
          </a:p>
        </p:txBody>
      </p:sp>
      <p:sp>
        <p:nvSpPr>
          <p:cNvPr id="17443" name="Rounded Rectangle 17442">
            <a:hlinkClick r:id="rId12"/>
          </p:cNvPr>
          <p:cNvSpPr/>
          <p:nvPr/>
        </p:nvSpPr>
        <p:spPr>
          <a:xfrm>
            <a:off x="8330183" y="4096512"/>
            <a:ext cx="3703320" cy="1298448"/>
          </a:xfrm>
          <a:prstGeom prst="roundRect">
            <a:avLst>
              <a:gd name="adj" fmla="val 6000"/>
            </a:avLst>
          </a:prstGeom>
          <a:solidFill>
            <a:srgbClr val="FBF0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444" name="Rectangle 17443"/>
          <p:cNvSpPr/>
          <p:nvPr/>
        </p:nvSpPr>
        <p:spPr>
          <a:xfrm>
            <a:off x="8330183" y="4096512"/>
            <a:ext cx="3703320" cy="54864"/>
          </a:xfrm>
          <a:prstGeom prst="rect">
            <a:avLst/>
          </a:prstGeom>
          <a:solidFill>
            <a:srgbClr val="C77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45" name="TextBox 17444"/>
          <p:cNvSpPr txBox="1"/>
          <p:nvPr/>
        </p:nvSpPr>
        <p:spPr>
          <a:xfrm>
            <a:off x="8476488" y="4206240"/>
            <a:ext cx="3410712" cy="896112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C77700"/>
                </a:solidFill>
                <a:latin typeface="Arial"/>
              </a:rPr>
              <a:t>Our code and full method</a:t>
            </a:r>
          </a:p>
          <a:p>
            <a:pPr>
              <a:lnSpc>
                <a:spcPct val="95000"/>
              </a:lnSpc>
              <a:spcBef>
                <a:spcPts val="400"/>
              </a:spcBef>
              <a:spcAft>
                <a:spcPts val="0"/>
              </a:spcAft>
            </a:pPr>
            <a:r>
              <a:rPr sz="1050" b="0">
                <a:solidFill>
                  <a:srgbClr val="262B33"/>
                </a:solidFill>
                <a:latin typeface="Arial"/>
              </a:rPr>
              <a:t>Collector, index engine, export API and portal. The README documents the method, the exclusion rules and the publication threshold.</a:t>
            </a:r>
          </a:p>
        </p:txBody>
      </p:sp>
      <p:sp>
        <p:nvSpPr>
          <p:cNvPr id="17446" name="TextBox 17445"/>
          <p:cNvSpPr txBox="1"/>
          <p:nvPr/>
        </p:nvSpPr>
        <p:spPr>
          <a:xfrm>
            <a:off x="9875520" y="5157216"/>
            <a:ext cx="2011680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 b="1" u="sng">
                <a:solidFill>
                  <a:srgbClr val="C77700"/>
                </a:solidFill>
                <a:latin typeface="Arial"/>
                <a:hlinkClick r:id="rId12"/>
              </a:rPr>
              <a:t>Open the repository</a:t>
            </a:r>
          </a:p>
        </p:txBody>
      </p:sp>
      <p:sp>
        <p:nvSpPr>
          <p:cNvPr id="17447" name="Rounded Rectangle 17446"/>
          <p:cNvSpPr/>
          <p:nvPr/>
        </p:nvSpPr>
        <p:spPr>
          <a:xfrm>
            <a:off x="411480" y="5504688"/>
            <a:ext cx="11338560" cy="731520"/>
          </a:xfrm>
          <a:prstGeom prst="roundRect">
            <a:avLst>
              <a:gd name="adj" fmla="val 6000"/>
            </a:avLst>
          </a:prstGeom>
          <a:solidFill>
            <a:srgbClr val="E4F4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448" name="TextBox 17447"/>
          <p:cNvSpPr txBox="1"/>
          <p:nvPr/>
        </p:nvSpPr>
        <p:spPr>
          <a:xfrm>
            <a:off x="566928" y="5559552"/>
            <a:ext cx="11064240" cy="219456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262B33"/>
                </a:solidFill>
                <a:latin typeface="Arial"/>
              </a:rPr>
              <a:t>Everything above is reproducible — every figure in this deck and on the portal regenerates from the database by scripts in the repository, none typed by hand.</a:t>
            </a:r>
          </a:p>
        </p:txBody>
      </p:sp>
      <p:sp>
        <p:nvSpPr>
          <p:cNvPr id="17449" name="TextBox 17448"/>
          <p:cNvSpPr txBox="1"/>
          <p:nvPr/>
        </p:nvSpPr>
        <p:spPr>
          <a:xfrm>
            <a:off x="566928" y="5870448"/>
            <a:ext cx="1188720" cy="219456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5A626C"/>
                </a:solidFill>
                <a:latin typeface="Arial"/>
              </a:rPr>
              <a:t>LIVE SYSTEM</a:t>
            </a:r>
          </a:p>
        </p:txBody>
      </p:sp>
      <p:sp>
        <p:nvSpPr>
          <p:cNvPr id="17450" name="TextBox 17449"/>
          <p:cNvSpPr txBox="1"/>
          <p:nvPr/>
        </p:nvSpPr>
        <p:spPr>
          <a:xfrm>
            <a:off x="1783080" y="5870448"/>
            <a:ext cx="2286000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050" b="1" u="sng">
                <a:solidFill>
                  <a:srgbClr val="1F497D"/>
                </a:solidFill>
                <a:latin typeface="Arial"/>
                <a:hlinkClick r:id="rId13"/>
              </a:rPr>
              <a:t>Live API docs</a:t>
            </a:r>
          </a:p>
        </p:txBody>
      </p:sp>
      <p:sp>
        <p:nvSpPr>
          <p:cNvPr id="17451" name="TextBox 17450"/>
          <p:cNvSpPr txBox="1"/>
          <p:nvPr/>
        </p:nvSpPr>
        <p:spPr>
          <a:xfrm>
            <a:off x="4160520" y="5870448"/>
            <a:ext cx="2286000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050" b="1" u="sng">
                <a:solidFill>
                  <a:srgbClr val="1B8A5A"/>
                </a:solidFill>
                <a:latin typeface="Arial"/>
                <a:hlinkClick r:id="rId14"/>
              </a:rPr>
              <a:t>Release portal</a:t>
            </a:r>
          </a:p>
        </p:txBody>
      </p:sp>
      <p:sp>
        <p:nvSpPr>
          <p:cNvPr id="17452" name="TextBox 17451"/>
          <p:cNvSpPr txBox="1"/>
          <p:nvPr/>
        </p:nvSpPr>
        <p:spPr>
          <a:xfrm>
            <a:off x="6537960" y="5870448"/>
            <a:ext cx="2286000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050" b="1" u="sng">
                <a:solidFill>
                  <a:srgbClr val="4B3F8C"/>
                </a:solidFill>
                <a:latin typeface="Arial"/>
                <a:hlinkClick r:id="rId15"/>
              </a:rPr>
              <a:t>README + method</a:t>
            </a:r>
          </a:p>
        </p:txBody>
      </p:sp>
      <p:sp>
        <p:nvSpPr>
          <p:cNvPr id="17453" name="TextBox 17452"/>
          <p:cNvSpPr txBox="1"/>
          <p:nvPr/>
        </p:nvSpPr>
        <p:spPr>
          <a:xfrm>
            <a:off x="8915400" y="5870448"/>
            <a:ext cx="2286000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050" b="1" u="sng">
                <a:solidFill>
                  <a:srgbClr val="0E7C86"/>
                </a:solidFill>
                <a:latin typeface="Arial"/>
                <a:hlinkClick r:id="rId11"/>
              </a:rPr>
              <a:t>Aviation market</a:t>
            </a:r>
          </a:p>
        </p:txBody>
      </p:sp>
    </p:spTree>
    <p:extLst>
      <p:ext uri="{BB962C8B-B14F-4D97-AF65-F5344CB8AC3E}">
        <p14:creationId xmlns:p14="http://schemas.microsoft.com/office/powerpoint/2010/main" val="391678861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7489</TotalTime>
  <Words>325</Words>
  <Application>Microsoft Office PowerPoint</Application>
  <PresentationFormat>Widescreen</PresentationFormat>
  <Paragraphs>62</Paragraphs>
  <Slides>7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5" baseType="lpstr">
      <vt:lpstr>ＭＳ Ｐゴシック</vt:lpstr>
      <vt:lpstr>Arial</vt:lpstr>
      <vt:lpstr>Calibri</vt:lpstr>
      <vt:lpstr>Garamond</vt:lpstr>
      <vt:lpstr>Times New Roman</vt:lpstr>
      <vt:lpstr>TradeGothic</vt:lpstr>
      <vt:lpstr>Wingdings</vt:lpstr>
      <vt:lpstr>Office Theme</vt:lpstr>
      <vt:lpstr>SMART INDIA HACKATHON 2026</vt:lpstr>
      <vt:lpstr> IDEA TITLE</vt:lpstr>
      <vt:lpstr>TECHNICAL APPROACH</vt:lpstr>
      <vt:lpstr>FEASIBILITY AND VIABILITY</vt:lpstr>
      <vt:lpstr>IMPACT AND BENEFITS</vt:lpstr>
      <vt:lpstr>RESEARCH  AND REFERENCES</vt:lpstr>
      <vt:lpstr>PowerPoint Presentation</vt:lpstr>
    </vt:vector>
  </TitlesOfParts>
  <Manager/>
  <Company>Crowdfunder, Inc.</Company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Investor Pitch Deck Template</dc:title>
  <dc:subject/>
  <dc:creator>Crowdfunder</dc:creator>
  <cp:keywords/>
  <dc:description/>
  <cp:lastModifiedBy>AICTE</cp:lastModifiedBy>
  <cp:revision>148</cp:revision>
  <dcterms:created xsi:type="dcterms:W3CDTF">2013-12-12T18:46:50Z</dcterms:created>
  <dcterms:modified xsi:type="dcterms:W3CDTF">2026-06-02T09:29:39Z</dcterms:modified>
  <cp:category/>
</cp:coreProperties>
</file>