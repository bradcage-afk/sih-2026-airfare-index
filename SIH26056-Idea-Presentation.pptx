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cpi.mospi.gov.in/PDFile/CPI-Changes_in_the_Revised_Series.pdf"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5.png"/><Relationship Id="rId11" Type="http://schemas.openxmlformats.org/officeDocument/2006/relationships/hyperlink" Target="https://apix-api-n5ux.onrender.com/doc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84048" y="1965960"/>
            <a:ext cx="5806440" cy="4526280"/>
          </a:xfrm>
          <a:prstGeom prst="rect">
            <a:avLst/>
          </a:prstGeom>
          <a:noFill/>
        </p:spPr>
        <p:txBody>
          <a:bodyPr wrap="square" rtlCol="0" lIns="36576" rIns="36576" tIns="18288" bIns="18288">
            <a:spAutoFit/>
          </a:bodyPr>
          <a:lstStyle/>
          <a:p>
            <a:pPr algn="just">
              <a:lnSpc>
                <a:spcPct val="106000"/>
              </a:lnSpc>
              <a:spcBef>
                <a:spcPts val="0"/>
              </a:spcBef>
              <a:spcAft>
                <a:spcPts val="0"/>
              </a:spcAft>
            </a:pPr>
            <a:r>
              <a:rPr sz="1600" b="1">
                <a:solidFill>
                  <a:srgbClr val="262B33"/>
                </a:solidFill>
                <a:latin typeface="Arial"/>
              </a:rPr>
              <a:t>Problem Statement ID - SIH26056</a:t>
            </a:r>
            <a:endParaRPr lang="en-US" dirty="0"/>
          </a:p>
          <a:p>
            <a:pPr algn="just">
              <a:lnSpc>
                <a:spcPct val="106000"/>
              </a:lnSpc>
              <a:spcBef>
                <a:spcPts val="1100"/>
              </a:spcBef>
              <a:spcAft>
                <a:spcPts val="0"/>
              </a:spcAft>
            </a:pPr>
            <a:r>
              <a:rPr sz="1600" b="1">
                <a:solidFill>
                  <a:srgbClr val="262B33"/>
                </a:solidFill>
                <a:latin typeface="Arial"/>
              </a:rPr>
              <a:t>Problem Statement Title - Development of a Real-time Airfare Price Index for India through Automated Web Scraping of Airline and Online Travel Aggregator Portals for Augmentation of the Consumer Price Index (CPI)</a:t>
            </a:r>
          </a:p>
          <a:p>
            <a:pPr algn="just">
              <a:lnSpc>
                <a:spcPct val="106000"/>
              </a:lnSpc>
              <a:spcBef>
                <a:spcPts val="1100"/>
              </a:spcBef>
              <a:spcAft>
                <a:spcPts val="0"/>
              </a:spcAft>
            </a:pPr>
            <a:r>
              <a:rPr sz="1600" b="1">
                <a:solidFill>
                  <a:srgbClr val="262B33"/>
                </a:solidFill>
                <a:latin typeface="Arial"/>
              </a:rPr>
              <a:t>Theme - Travel &amp; Tourism</a:t>
            </a:r>
          </a:p>
          <a:p>
            <a:pPr algn="just">
              <a:lnSpc>
                <a:spcPct val="106000"/>
              </a:lnSpc>
              <a:spcBef>
                <a:spcPts val="1100"/>
              </a:spcBef>
              <a:spcAft>
                <a:spcPts val="0"/>
              </a:spcAft>
            </a:pPr>
            <a:r>
              <a:rPr sz="1600" b="1">
                <a:solidFill>
                  <a:srgbClr val="262B33"/>
                </a:solidFill>
                <a:latin typeface="Arial"/>
              </a:rPr>
              <a:t>PS Category - Software</a:t>
            </a:r>
          </a:p>
          <a:p>
            <a:pPr algn="just">
              <a:lnSpc>
                <a:spcPct val="106000"/>
              </a:lnSpc>
              <a:spcBef>
                <a:spcPts val="1100"/>
              </a:spcBef>
              <a:spcAft>
                <a:spcPts val="0"/>
              </a:spcAft>
            </a:pPr>
            <a:r>
              <a:rPr sz="1600" b="1">
                <a:solidFill>
                  <a:srgbClr val="262B33"/>
                </a:solidFill>
                <a:latin typeface="Arial"/>
              </a:rPr>
              <a:t>Team ID - ‹TEAM ID›</a:t>
            </a:r>
          </a:p>
          <a:p>
            <a:pPr algn="just">
              <a:lnSpc>
                <a:spcPct val="106000"/>
              </a:lnSpc>
              <a:spcBef>
                <a:spcPts val="1100"/>
              </a:spcBef>
              <a:spcAft>
                <a:spcPts val="0"/>
              </a:spcAft>
            </a:pPr>
            <a:r>
              <a:rPr sz="1600" b="1">
                <a:solidFill>
                  <a:srgbClr val="262B33"/>
                </a:solidFill>
                <a:latin typeface="Arial"/>
              </a:rPr>
              <a:t>Team Name (Registered on portal) - Fare Enough</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2800" b="1">
                <a:solidFill>
                  <a:srgbClr val="1F497D"/>
                </a:solidFill>
                <a:latin typeface="Times New Roman"/>
              </a:rPr>
              <a:t>WHY WE STAND OUT</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1078992"/>
            <a:ext cx="7863840" cy="548640"/>
          </a:xfrm>
          <a:prstGeom prst="rect">
            <a:avLst/>
          </a:prstGeom>
          <a:noFill/>
        </p:spPr>
        <p:txBody>
          <a:bodyPr wrap="square" lIns="36576" rIns="36576" tIns="18288" bIns="18288">
            <a:spAutoFit/>
          </a:bodyPr>
          <a:lstStyle/>
          <a:p>
            <a:pPr>
              <a:lnSpc>
                <a:spcPct val="95000"/>
              </a:lnSpc>
              <a:spcBef>
                <a:spcPts val="0"/>
              </a:spcBef>
              <a:spcAft>
                <a:spcPts val="0"/>
              </a:spcAft>
            </a:pPr>
            <a:r>
              <a:rPr sz="1600" b="1">
                <a:solidFill>
                  <a:srgbClr val="1F497D"/>
                </a:solidFill>
                <a:latin typeface="Arial"/>
              </a:rPr>
              <a:t>APIx  —  a daily airfare inflation index for the CPI</a:t>
            </a:r>
          </a:p>
          <a:p>
            <a:pPr>
              <a:lnSpc>
                <a:spcPct val="95000"/>
              </a:lnSpc>
              <a:spcBef>
                <a:spcPts val="400"/>
              </a:spcBef>
              <a:spcAft>
                <a:spcPts val="0"/>
              </a:spcAft>
            </a:pPr>
            <a:r>
              <a:rPr sz="1350" b="0">
                <a:solidFill>
                  <a:srgbClr val="5A626C"/>
                </a:solidFill>
                <a:latin typeface="Arial"/>
              </a:rPr>
              <a:t>India's CPI prices air travel from monthly manual visits. We measure it every ten minutes and publish it in a form MoSPI can ingest.</a:t>
            </a:r>
          </a:p>
        </p:txBody>
      </p:sp>
      <p:sp>
        <p:nvSpPr>
          <p:cNvPr id="15363" name="Rounded Rectangle 15362"/>
          <p:cNvSpPr/>
          <p:nvPr/>
        </p:nvSpPr>
        <p:spPr>
          <a:xfrm>
            <a:off x="411480" y="2048256"/>
            <a:ext cx="3703320" cy="148132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4F81BD"/>
                </a:solidFill>
                <a:latin typeface="Arial"/>
              </a:rPr>
              <a:t>The standard method,
not a homemade average</a:t>
            </a:r>
          </a:p>
          <a:p>
            <a:pPr>
              <a:lnSpc>
                <a:spcPct val="95000"/>
              </a:lnSpc>
              <a:spcBef>
                <a:spcPts val="500"/>
              </a:spcBef>
              <a:spcAft>
                <a:spcPts val="0"/>
              </a:spcAft>
            </a:pPr>
            <a:r>
              <a:rPr sz="1200" b="0">
                <a:solidFill>
                  <a:srgbClr val="262B33"/>
                </a:solidFill>
                <a:latin typeface="Arial"/>
              </a:rPr>
              <a:t>Weighted Jevons on minimum logical fares — the elementary-aggregate method Eurostat and ONS use for their own price indices.</a:t>
            </a:r>
          </a:p>
        </p:txBody>
      </p:sp>
      <p:sp>
        <p:nvSpPr>
          <p:cNvPr id="15364" name="Rectangle 15363"/>
          <p:cNvSpPr/>
          <p:nvPr/>
        </p:nvSpPr>
        <p:spPr>
          <a:xfrm>
            <a:off x="411480" y="204825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5" name="Rounded Rectangle 15364"/>
          <p:cNvSpPr/>
          <p:nvPr/>
        </p:nvSpPr>
        <p:spPr>
          <a:xfrm>
            <a:off x="4370832" y="2048256"/>
            <a:ext cx="3703320" cy="14813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1B8A5A"/>
                </a:solidFill>
                <a:latin typeface="Arial"/>
              </a:rPr>
              <a:t>Weighting is a matrix,
not a guess</a:t>
            </a:r>
          </a:p>
          <a:p>
            <a:pPr>
              <a:lnSpc>
                <a:spcPct val="95000"/>
              </a:lnSpc>
              <a:spcBef>
                <a:spcPts val="500"/>
              </a:spcBef>
              <a:spcAft>
                <a:spcPts val="0"/>
              </a:spcAft>
            </a:pPr>
            <a:r>
              <a:rPr sz="1200" b="0">
                <a:solidFill>
                  <a:srgbClr val="262B33"/>
                </a:solidFill>
                <a:latin typeface="Arial"/>
              </a:rPr>
              <a:t>Every cell is weighted by route share of scheduled seats × booking lead time, so Delhi–Mumbai moves the index three times as much as Delhi–Srinagar.</a:t>
            </a:r>
          </a:p>
        </p:txBody>
      </p:sp>
      <p:sp>
        <p:nvSpPr>
          <p:cNvPr id="15366" name="Rectangle 15365"/>
          <p:cNvSpPr/>
          <p:nvPr/>
        </p:nvSpPr>
        <p:spPr>
          <a:xfrm>
            <a:off x="4370832" y="204825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Rounded Rectangle 15366"/>
          <p:cNvSpPr/>
          <p:nvPr/>
        </p:nvSpPr>
        <p:spPr>
          <a:xfrm>
            <a:off x="8330183" y="2048256"/>
            <a:ext cx="3703320" cy="148132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C77700"/>
                </a:solidFill>
                <a:latin typeface="Arial"/>
              </a:rPr>
              <a:t>It knows when not
to publish</a:t>
            </a:r>
          </a:p>
          <a:p>
            <a:pPr>
              <a:lnSpc>
                <a:spcPct val="95000"/>
              </a:lnSpc>
              <a:spcBef>
                <a:spcPts val="500"/>
              </a:spcBef>
              <a:spcAft>
                <a:spcPts val="0"/>
              </a:spcAft>
            </a:pPr>
            <a:r>
              <a:rPr sz="1200" b="0">
                <a:solidFill>
                  <a:srgbClr val="262B33"/>
                </a:solidFill>
                <a:latin typeface="Arial"/>
              </a:rPr>
              <a:t>Below 60% basket coverage a figure is marked provisional with the reason. An index that admits thin coverage is worth more than one that never does.</a:t>
            </a:r>
          </a:p>
        </p:txBody>
      </p:sp>
      <p:sp>
        <p:nvSpPr>
          <p:cNvPr id="15368" name="Rectangle 15367"/>
          <p:cNvSpPr/>
          <p:nvPr/>
        </p:nvSpPr>
        <p:spPr>
          <a:xfrm>
            <a:off x="8330183" y="2048256"/>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9" name="Rounded Rectangle 15368"/>
          <p:cNvSpPr/>
          <p:nvPr/>
        </p:nvSpPr>
        <p:spPr>
          <a:xfrm>
            <a:off x="411480" y="3694176"/>
            <a:ext cx="3703320" cy="14813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4B3F8C"/>
                </a:solidFill>
                <a:latin typeface="Arial"/>
              </a:rPr>
              <a:t>Machine-readable
for MoSPI</a:t>
            </a:r>
          </a:p>
          <a:p>
            <a:pPr>
              <a:lnSpc>
                <a:spcPct val="95000"/>
              </a:lnSpc>
              <a:spcBef>
                <a:spcPts val="500"/>
              </a:spcBef>
              <a:spcAft>
                <a:spcPts val="0"/>
              </a:spcAft>
            </a:pPr>
            <a:r>
              <a:rPr sz="1200" b="0">
                <a:solidFill>
                  <a:srgbClr val="262B33"/>
                </a:solidFill>
                <a:latin typeface="Arial"/>
              </a:rPr>
              <a:t>An authenticated REST endpoint returns the index with its method, coverage and revision history. Nobody retypes a number from a screen.</a:t>
            </a:r>
          </a:p>
        </p:txBody>
      </p:sp>
      <p:sp>
        <p:nvSpPr>
          <p:cNvPr id="15370" name="Rectangle 15369"/>
          <p:cNvSpPr/>
          <p:nvPr/>
        </p:nvSpPr>
        <p:spPr>
          <a:xfrm>
            <a:off x="411480" y="3694176"/>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1" name="Rounded Rectangle 15370"/>
          <p:cNvSpPr/>
          <p:nvPr/>
        </p:nvSpPr>
        <p:spPr>
          <a:xfrm>
            <a:off x="4370832" y="3694176"/>
            <a:ext cx="3703320" cy="148132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0E7C86"/>
                </a:solidFill>
                <a:latin typeface="Arial"/>
              </a:rPr>
              <a:t>Compliance by
construction</a:t>
            </a:r>
          </a:p>
          <a:p>
            <a:pPr>
              <a:lnSpc>
                <a:spcPct val="95000"/>
              </a:lnSpc>
              <a:spcBef>
                <a:spcPts val="500"/>
              </a:spcBef>
              <a:spcAft>
                <a:spcPts val="0"/>
              </a:spcAft>
            </a:pPr>
            <a:r>
              <a:rPr sz="1200" b="0">
                <a:solidFill>
                  <a:srgbClr val="262B33"/>
                </a:solidFill>
                <a:latin typeface="Arial"/>
              </a:rPr>
              <a:t>robots.txt is checked to RFC 9309 before every single request. We wrote our own parser because Python's standard one gets it wrong.</a:t>
            </a:r>
          </a:p>
        </p:txBody>
      </p:sp>
      <p:sp>
        <p:nvSpPr>
          <p:cNvPr id="15372" name="Rectangle 15371"/>
          <p:cNvSpPr/>
          <p:nvPr/>
        </p:nvSpPr>
        <p:spPr>
          <a:xfrm>
            <a:off x="4370832" y="3694176"/>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Rounded Rectangle 15372"/>
          <p:cNvSpPr/>
          <p:nvPr/>
        </p:nvSpPr>
        <p:spPr>
          <a:xfrm>
            <a:off x="8330183" y="3694176"/>
            <a:ext cx="3703320" cy="14813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7A3E6B"/>
                </a:solidFill>
                <a:latin typeface="Arial"/>
              </a:rPr>
              <a:t>It never
estimates</a:t>
            </a:r>
          </a:p>
          <a:p>
            <a:pPr>
              <a:lnSpc>
                <a:spcPct val="95000"/>
              </a:lnSpc>
              <a:spcBef>
                <a:spcPts val="500"/>
              </a:spcBef>
              <a:spcAft>
                <a:spcPts val="0"/>
              </a:spcAft>
            </a:pPr>
            <a:r>
              <a:rPr sz="1200" b="0">
                <a:solidFill>
                  <a:srgbClr val="262B33"/>
                </a:solidFill>
                <a:latin typeface="Arial"/>
              </a:rPr>
              <a:t>Fields a portal does not publish stay NULL. Cells with too few observations are excluded, not filled in. The system says when it does not know.</a:t>
            </a:r>
          </a:p>
        </p:txBody>
      </p:sp>
      <p:sp>
        <p:nvSpPr>
          <p:cNvPr id="15374" name="Rectangle 15373"/>
          <p:cNvSpPr/>
          <p:nvPr/>
        </p:nvSpPr>
        <p:spPr>
          <a:xfrm>
            <a:off x="8330183" y="3694176"/>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5" name="Rounded Rectangle 15374"/>
          <p:cNvSpPr/>
          <p:nvPr/>
        </p:nvSpPr>
        <p:spPr>
          <a:xfrm>
            <a:off x="411480" y="5285232"/>
            <a:ext cx="11338560" cy="64008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1B8A5A"/>
                </a:solidFill>
                <a:latin typeface="Arial"/>
              </a:rPr>
              <a:t>BUILT AND RUNNING · 36,000+ fares · 15 city pairs × 5 lead times · every 10 minutes · ₹0 a month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How a published fare becomes a published index</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36192"/>
            <a:ext cx="1719072" cy="138988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450" b="1">
                <a:solidFill>
                  <a:srgbClr val="1F497D"/>
                </a:solidFill>
                <a:latin typeface="Arial"/>
              </a:rPr>
              <a:t>Collect</a:t>
            </a:r>
          </a:p>
          <a:p>
            <a:pPr>
              <a:lnSpc>
                <a:spcPct val="95000"/>
              </a:lnSpc>
              <a:spcBef>
                <a:spcPts val="400"/>
              </a:spcBef>
              <a:spcAft>
                <a:spcPts val="0"/>
              </a:spcAft>
            </a:pPr>
            <a:r>
              <a:rPr sz="1150" b="0">
                <a:solidFill>
                  <a:srgbClr val="5A626C"/>
                </a:solidFill>
                <a:latin typeface="Arial"/>
              </a:rPr>
              <a:t>Robots-gated fetch,
every 10 minutes</a:t>
            </a:r>
          </a:p>
        </p:txBody>
      </p:sp>
      <p:sp>
        <p:nvSpPr>
          <p:cNvPr id="17413" name="Rectangle 17412"/>
          <p:cNvSpPr/>
          <p:nvPr/>
        </p:nvSpPr>
        <p:spPr>
          <a:xfrm>
            <a:off x="411480" y="1536192"/>
            <a:ext cx="171907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ight Arrow 17413"/>
          <p:cNvSpPr/>
          <p:nvPr/>
        </p:nvSpPr>
        <p:spPr>
          <a:xfrm>
            <a:off x="2144268" y="2139696"/>
            <a:ext cx="173736"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331720" y="1536192"/>
            <a:ext cx="1719072" cy="138988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450" b="1">
                <a:solidFill>
                  <a:srgbClr val="1F497D"/>
                </a:solidFill>
                <a:latin typeface="Arial"/>
              </a:rPr>
              <a:t>Extract</a:t>
            </a:r>
          </a:p>
          <a:p>
            <a:pPr>
              <a:lnSpc>
                <a:spcPct val="95000"/>
              </a:lnSpc>
              <a:spcBef>
                <a:spcPts val="400"/>
              </a:spcBef>
              <a:spcAft>
                <a:spcPts val="0"/>
              </a:spcAft>
            </a:pPr>
            <a:r>
              <a:rPr sz="1150" b="0">
                <a:solidFill>
                  <a:srgbClr val="5A626C"/>
                </a:solidFill>
                <a:latin typeface="Arial"/>
              </a:rPr>
              <a:t>LLM → strict JSON,
retry then fail over</a:t>
            </a:r>
          </a:p>
        </p:txBody>
      </p:sp>
      <p:sp>
        <p:nvSpPr>
          <p:cNvPr id="17416" name="Rectangle 17415"/>
          <p:cNvSpPr/>
          <p:nvPr/>
        </p:nvSpPr>
        <p:spPr>
          <a:xfrm>
            <a:off x="2331720" y="1536192"/>
            <a:ext cx="171907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ight Arrow 17416"/>
          <p:cNvSpPr/>
          <p:nvPr/>
        </p:nvSpPr>
        <p:spPr>
          <a:xfrm>
            <a:off x="4064507" y="2139696"/>
            <a:ext cx="173736" cy="182880"/>
          </a:xfrm>
          <a:prstGeom prst="rightArrow">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251960" y="1536192"/>
            <a:ext cx="1719072" cy="138988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450" b="1">
                <a:solidFill>
                  <a:srgbClr val="1F497D"/>
                </a:solidFill>
                <a:latin typeface="Arial"/>
              </a:rPr>
              <a:t>Validate</a:t>
            </a:r>
          </a:p>
          <a:p>
            <a:pPr>
              <a:lnSpc>
                <a:spcPct val="95000"/>
              </a:lnSpc>
              <a:spcBef>
                <a:spcPts val="400"/>
              </a:spcBef>
              <a:spcAft>
                <a:spcPts val="0"/>
              </a:spcAft>
            </a:pPr>
            <a:r>
              <a:rPr sz="1150" b="0">
                <a:solidFill>
                  <a:srgbClr val="5A626C"/>
                </a:solidFill>
                <a:latin typeface="Arial"/>
              </a:rPr>
              <a:t>Schema and range,
never estimates</a:t>
            </a:r>
          </a:p>
        </p:txBody>
      </p:sp>
      <p:sp>
        <p:nvSpPr>
          <p:cNvPr id="17419" name="Rectangle 17418"/>
          <p:cNvSpPr/>
          <p:nvPr/>
        </p:nvSpPr>
        <p:spPr>
          <a:xfrm>
            <a:off x="4251960" y="1536192"/>
            <a:ext cx="171907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ight Arrow 17419"/>
          <p:cNvSpPr/>
          <p:nvPr/>
        </p:nvSpPr>
        <p:spPr>
          <a:xfrm>
            <a:off x="5984748" y="2139696"/>
            <a:ext cx="173736" cy="182880"/>
          </a:xfrm>
          <a:prstGeom prst="rightArrow">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172200" y="1536192"/>
            <a:ext cx="1719072" cy="138988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450" b="1">
                <a:solidFill>
                  <a:srgbClr val="1F497D"/>
                </a:solidFill>
                <a:latin typeface="Arial"/>
              </a:rPr>
              <a:t>Clean</a:t>
            </a:r>
          </a:p>
          <a:p>
            <a:pPr>
              <a:lnSpc>
                <a:spcPct val="95000"/>
              </a:lnSpc>
              <a:spcBef>
                <a:spcPts val="400"/>
              </a:spcBef>
              <a:spcAft>
                <a:spcPts val="0"/>
              </a:spcAft>
            </a:pPr>
            <a:r>
              <a:rPr sz="1150" b="0">
                <a:solidFill>
                  <a:srgbClr val="5A626C"/>
                </a:solidFill>
                <a:latin typeface="Arial"/>
              </a:rPr>
              <a:t>Min 3 observations,
exclusions published</a:t>
            </a:r>
          </a:p>
        </p:txBody>
      </p:sp>
      <p:sp>
        <p:nvSpPr>
          <p:cNvPr id="17422" name="Rectangle 17421"/>
          <p:cNvSpPr/>
          <p:nvPr/>
        </p:nvSpPr>
        <p:spPr>
          <a:xfrm>
            <a:off x="6172200" y="1536192"/>
            <a:ext cx="171907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ight Arrow 17422"/>
          <p:cNvSpPr/>
          <p:nvPr/>
        </p:nvSpPr>
        <p:spPr>
          <a:xfrm>
            <a:off x="7904988" y="2139696"/>
            <a:ext cx="173736" cy="182880"/>
          </a:xfrm>
          <a:prstGeom prst="rightArrow">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092440" y="1536192"/>
            <a:ext cx="1719072" cy="138988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450" b="1">
                <a:solidFill>
                  <a:srgbClr val="1F497D"/>
                </a:solidFill>
                <a:latin typeface="Arial"/>
              </a:rPr>
              <a:t>Index</a:t>
            </a:r>
          </a:p>
          <a:p>
            <a:pPr>
              <a:lnSpc>
                <a:spcPct val="95000"/>
              </a:lnSpc>
              <a:spcBef>
                <a:spcPts val="400"/>
              </a:spcBef>
              <a:spcAft>
                <a:spcPts val="0"/>
              </a:spcAft>
            </a:pPr>
            <a:r>
              <a:rPr sz="1150" b="0">
                <a:solidFill>
                  <a:srgbClr val="5A626C"/>
                </a:solidFill>
                <a:latin typeface="Arial"/>
              </a:rPr>
              <a:t>Weighted Jevons,
route × lead time</a:t>
            </a:r>
          </a:p>
        </p:txBody>
      </p:sp>
      <p:sp>
        <p:nvSpPr>
          <p:cNvPr id="17425" name="Rectangle 17424"/>
          <p:cNvSpPr/>
          <p:nvPr/>
        </p:nvSpPr>
        <p:spPr>
          <a:xfrm>
            <a:off x="8092440" y="1536192"/>
            <a:ext cx="1719072"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ight Arrow 17425"/>
          <p:cNvSpPr/>
          <p:nvPr/>
        </p:nvSpPr>
        <p:spPr>
          <a:xfrm>
            <a:off x="9825228" y="2139696"/>
            <a:ext cx="173736" cy="1828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10012680" y="1536192"/>
            <a:ext cx="1719072" cy="138988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450" b="1">
                <a:solidFill>
                  <a:srgbClr val="1F497D"/>
                </a:solidFill>
                <a:latin typeface="Arial"/>
              </a:rPr>
              <a:t>Publish</a:t>
            </a:r>
          </a:p>
          <a:p>
            <a:pPr>
              <a:lnSpc>
                <a:spcPct val="95000"/>
              </a:lnSpc>
              <a:spcBef>
                <a:spcPts val="400"/>
              </a:spcBef>
              <a:spcAft>
                <a:spcPts val="0"/>
              </a:spcAft>
            </a:pPr>
            <a:r>
              <a:rPr sz="1150" b="0">
                <a:solidFill>
                  <a:srgbClr val="5A626C"/>
                </a:solidFill>
                <a:latin typeface="Arial"/>
              </a:rPr>
              <a:t>Portal and REST API
for MoSPI</a:t>
            </a:r>
          </a:p>
        </p:txBody>
      </p:sp>
      <p:sp>
        <p:nvSpPr>
          <p:cNvPr id="17428" name="Rectangle 17427"/>
          <p:cNvSpPr/>
          <p:nvPr/>
        </p:nvSpPr>
        <p:spPr>
          <a:xfrm>
            <a:off x="10012680" y="1536192"/>
            <a:ext cx="1719072"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Rounded Rectangle 17428"/>
          <p:cNvSpPr/>
          <p:nvPr/>
        </p:nvSpPr>
        <p:spPr>
          <a:xfrm>
            <a:off x="411480" y="3108960"/>
            <a:ext cx="11338560" cy="7315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1B8A5A"/>
                </a:solidFill>
                <a:latin typeface="Arial"/>
              </a:rPr>
              <a:t>BUILT AND RUNNING</a:t>
            </a:r>
          </a:p>
          <a:p>
            <a:pPr>
              <a:lnSpc>
                <a:spcPct val="95000"/>
              </a:lnSpc>
              <a:spcBef>
                <a:spcPts val="300"/>
              </a:spcBef>
              <a:spcAft>
                <a:spcPts val="0"/>
              </a:spcAft>
            </a:pPr>
            <a:r>
              <a:rPr sz="1300" b="0">
                <a:solidFill>
                  <a:srgbClr val="262B33"/>
                </a:solidFill>
                <a:latin typeface="Arial"/>
              </a:rPr>
              <a:t>36,076 fares · 298 runs, 98.7% clean · APIx published daily and monthly · portal and authenticated REST API, both reading Postgres directly.</a:t>
            </a:r>
          </a:p>
        </p:txBody>
      </p:sp>
      <p:sp>
        <p:nvSpPr>
          <p:cNvPr id="17430" name="Rounded Rectangle 17429"/>
          <p:cNvSpPr/>
          <p:nvPr/>
        </p:nvSpPr>
        <p:spPr>
          <a:xfrm>
            <a:off x="411480" y="4059936"/>
            <a:ext cx="5623560" cy="215798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4F81BD"/>
                </a:solidFill>
                <a:latin typeface="Arial"/>
              </a:rPr>
              <a:t>What one stored fare looks like</a:t>
            </a:r>
          </a:p>
        </p:txBody>
      </p:sp>
      <p:sp>
        <p:nvSpPr>
          <p:cNvPr id="17431" name="Rectangle 17430"/>
          <p:cNvSpPr/>
          <p:nvPr/>
        </p:nvSpPr>
        <p:spPr>
          <a:xfrm>
            <a:off x="411480" y="4059936"/>
            <a:ext cx="562356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2" name="Picture 17431" descr="chart-record.png"/>
          <p:cNvPicPr>
            <a:picLocks noChangeAspect="1"/>
          </p:cNvPicPr>
          <p:nvPr/>
        </p:nvPicPr>
        <p:blipFill>
          <a:blip r:embed="rId4"/>
          <a:stretch>
            <a:fillRect/>
          </a:stretch>
        </p:blipFill>
        <p:spPr>
          <a:xfrm>
            <a:off x="658368" y="4498848"/>
            <a:ext cx="5120640" cy="1619317"/>
          </a:xfrm>
          <a:prstGeom prst="rect">
            <a:avLst/>
          </a:prstGeom>
        </p:spPr>
      </p:pic>
      <p:sp>
        <p:nvSpPr>
          <p:cNvPr id="17433" name="Rounded Rectangle 17432"/>
          <p:cNvSpPr/>
          <p:nvPr/>
        </p:nvSpPr>
        <p:spPr>
          <a:xfrm>
            <a:off x="6400800" y="4059936"/>
            <a:ext cx="5349240" cy="215798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4B3F8C"/>
                </a:solidFill>
                <a:latin typeface="Arial"/>
              </a:rPr>
              <a:t>Technologies</a:t>
            </a:r>
          </a:p>
        </p:txBody>
      </p:sp>
      <p:sp>
        <p:nvSpPr>
          <p:cNvPr id="17434" name="Rectangle 17433"/>
          <p:cNvSpPr/>
          <p:nvPr/>
        </p:nvSpPr>
        <p:spPr>
          <a:xfrm>
            <a:off x="6400800" y="4059936"/>
            <a:ext cx="534924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ounded Rectangle 17434"/>
          <p:cNvSpPr/>
          <p:nvPr/>
        </p:nvSpPr>
        <p:spPr>
          <a:xfrm>
            <a:off x="6601968" y="4517136"/>
            <a:ext cx="1170432" cy="210312"/>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Arial"/>
              </a:rPr>
              <a:t>Collection</a:t>
            </a:r>
          </a:p>
        </p:txBody>
      </p:sp>
      <p:sp>
        <p:nvSpPr>
          <p:cNvPr id="17436" name="TextBox 17435"/>
          <p:cNvSpPr txBox="1"/>
          <p:nvPr/>
        </p:nvSpPr>
        <p:spPr>
          <a:xfrm>
            <a:off x="7882127" y="4503420"/>
            <a:ext cx="3767328"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262B33"/>
                </a:solidFill>
                <a:latin typeface="Arial"/>
              </a:rPr>
              <a:t>Python 3.11 · Playwright Chromium</a:t>
            </a:r>
          </a:p>
        </p:txBody>
      </p:sp>
      <p:sp>
        <p:nvSpPr>
          <p:cNvPr id="17437" name="Rounded Rectangle 17436"/>
          <p:cNvSpPr/>
          <p:nvPr/>
        </p:nvSpPr>
        <p:spPr>
          <a:xfrm>
            <a:off x="6601968" y="4754880"/>
            <a:ext cx="1170432" cy="210312"/>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Arial"/>
              </a:rPr>
              <a:t>Extraction</a:t>
            </a:r>
          </a:p>
        </p:txBody>
      </p:sp>
      <p:sp>
        <p:nvSpPr>
          <p:cNvPr id="17438" name="TextBox 17437"/>
          <p:cNvSpPr txBox="1"/>
          <p:nvPr/>
        </p:nvSpPr>
        <p:spPr>
          <a:xfrm>
            <a:off x="7882127" y="4741164"/>
            <a:ext cx="3767328"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262B33"/>
                </a:solidFill>
                <a:latin typeface="Arial"/>
              </a:rPr>
              <a:t>OpenAI-compatible LLM, with failover</a:t>
            </a:r>
          </a:p>
        </p:txBody>
      </p:sp>
      <p:sp>
        <p:nvSpPr>
          <p:cNvPr id="17439" name="Rounded Rectangle 17438"/>
          <p:cNvSpPr/>
          <p:nvPr/>
        </p:nvSpPr>
        <p:spPr>
          <a:xfrm>
            <a:off x="6601968" y="4992624"/>
            <a:ext cx="1170432" cy="210312"/>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Arial"/>
              </a:rPr>
              <a:t>Validation</a:t>
            </a:r>
          </a:p>
        </p:txBody>
      </p:sp>
      <p:sp>
        <p:nvSpPr>
          <p:cNvPr id="17440" name="TextBox 17439"/>
          <p:cNvSpPr txBox="1"/>
          <p:nvPr/>
        </p:nvSpPr>
        <p:spPr>
          <a:xfrm>
            <a:off x="7882127" y="4978908"/>
            <a:ext cx="3767328"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262B33"/>
                </a:solidFill>
                <a:latin typeface="Arial"/>
              </a:rPr>
              <a:t>Pydantic v2 — schema and ranges</a:t>
            </a:r>
          </a:p>
        </p:txBody>
      </p:sp>
      <p:sp>
        <p:nvSpPr>
          <p:cNvPr id="17441" name="Rounded Rectangle 17440"/>
          <p:cNvSpPr/>
          <p:nvPr/>
        </p:nvSpPr>
        <p:spPr>
          <a:xfrm>
            <a:off x="6601968" y="5230368"/>
            <a:ext cx="1170432" cy="210312"/>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Arial"/>
              </a:rPr>
              <a:t>Storage</a:t>
            </a:r>
          </a:p>
        </p:txBody>
      </p:sp>
      <p:sp>
        <p:nvSpPr>
          <p:cNvPr id="17442" name="TextBox 17441"/>
          <p:cNvSpPr txBox="1"/>
          <p:nvPr/>
        </p:nvSpPr>
        <p:spPr>
          <a:xfrm>
            <a:off x="7882127" y="5216652"/>
            <a:ext cx="3767328"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262B33"/>
                </a:solidFill>
                <a:latin typeface="Arial"/>
              </a:rPr>
              <a:t>Supabase PostgreSQL, insert-only</a:t>
            </a:r>
          </a:p>
        </p:txBody>
      </p:sp>
      <p:sp>
        <p:nvSpPr>
          <p:cNvPr id="17443" name="Rounded Rectangle 17442"/>
          <p:cNvSpPr/>
          <p:nvPr/>
        </p:nvSpPr>
        <p:spPr>
          <a:xfrm>
            <a:off x="6601968" y="5468112"/>
            <a:ext cx="1170432" cy="210312"/>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Arial"/>
              </a:rPr>
              <a:t>Index</a:t>
            </a:r>
          </a:p>
        </p:txBody>
      </p:sp>
      <p:sp>
        <p:nvSpPr>
          <p:cNvPr id="17444" name="TextBox 17443"/>
          <p:cNvSpPr txBox="1"/>
          <p:nvPr/>
        </p:nvSpPr>
        <p:spPr>
          <a:xfrm>
            <a:off x="7882127" y="5454396"/>
            <a:ext cx="3767328"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262B33"/>
                </a:solidFill>
                <a:latin typeface="Arial"/>
              </a:rPr>
              <a:t>Jevons engine, weights in config</a:t>
            </a:r>
          </a:p>
        </p:txBody>
      </p:sp>
      <p:sp>
        <p:nvSpPr>
          <p:cNvPr id="17445" name="Rounded Rectangle 17444"/>
          <p:cNvSpPr/>
          <p:nvPr/>
        </p:nvSpPr>
        <p:spPr>
          <a:xfrm>
            <a:off x="6601968" y="5705855"/>
            <a:ext cx="1170432" cy="210312"/>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Arial"/>
              </a:rPr>
              <a:t>Delivery</a:t>
            </a:r>
          </a:p>
        </p:txBody>
      </p:sp>
      <p:sp>
        <p:nvSpPr>
          <p:cNvPr id="17446" name="TextBox 17445"/>
          <p:cNvSpPr txBox="1"/>
          <p:nvPr/>
        </p:nvSpPr>
        <p:spPr>
          <a:xfrm>
            <a:off x="7882127" y="5692140"/>
            <a:ext cx="3767328"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262B33"/>
                </a:solidFill>
                <a:latin typeface="Arial"/>
              </a:rPr>
              <a:t>FastAPI on Render · Cloudflare Pages</a:t>
            </a:r>
          </a:p>
        </p:txBody>
      </p:sp>
      <p:sp>
        <p:nvSpPr>
          <p:cNvPr id="17447" name="Rounded Rectangle 17446"/>
          <p:cNvSpPr/>
          <p:nvPr/>
        </p:nvSpPr>
        <p:spPr>
          <a:xfrm>
            <a:off x="6601968" y="5943599"/>
            <a:ext cx="1170432" cy="210312"/>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Arial"/>
              </a:rPr>
              <a:t>Scheduling</a:t>
            </a:r>
          </a:p>
        </p:txBody>
      </p:sp>
      <p:sp>
        <p:nvSpPr>
          <p:cNvPr id="17448" name="TextBox 17447"/>
          <p:cNvSpPr txBox="1"/>
          <p:nvPr/>
        </p:nvSpPr>
        <p:spPr>
          <a:xfrm>
            <a:off x="7882127" y="5929883"/>
            <a:ext cx="3767328"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262B33"/>
                </a:solidFill>
                <a:latin typeface="Arial"/>
              </a:rPr>
              <a:t>cron, flock-guarded, residential host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623560"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4F81BD"/>
                </a:solidFill>
                <a:latin typeface="Arial"/>
              </a:rPr>
              <a:t>Technical feasibility</a:t>
            </a:r>
          </a:p>
          <a:p>
            <a:pPr>
              <a:lnSpc>
                <a:spcPct val="95000"/>
              </a:lnSpc>
              <a:spcBef>
                <a:spcPts val="400"/>
              </a:spcBef>
              <a:spcAft>
                <a:spcPts val="0"/>
              </a:spcAft>
            </a:pPr>
            <a:r>
              <a:rPr sz="1200" b="0">
                <a:solidFill>
                  <a:srgbClr val="262B33"/>
                </a:solidFill>
                <a:latin typeface="Arial"/>
              </a:rPr>
              <a:t>India is the world's fifth-largest aviation market, worth USD 18.14 bn in 2026 and growing at 11.72% a year. The prices exist and change constantly — what is missing is a systematic way to measure them.</a:t>
            </a:r>
          </a:p>
        </p:txBody>
      </p:sp>
      <p:sp>
        <p:nvSpPr>
          <p:cNvPr id="17411" name="Rectangle 17410"/>
          <p:cNvSpPr/>
          <p:nvPr/>
        </p:nvSpPr>
        <p:spPr>
          <a:xfrm>
            <a:off x="411480" y="1133856"/>
            <a:ext cx="68580" cy="118872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2423160"/>
            <a:ext cx="5623560"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1B8A5A"/>
                </a:solidFill>
                <a:latin typeface="Arial"/>
              </a:rPr>
              <a:t>Operational feasibility</a:t>
            </a:r>
          </a:p>
          <a:p>
            <a:pPr>
              <a:lnSpc>
                <a:spcPct val="95000"/>
              </a:lnSpc>
              <a:spcBef>
                <a:spcPts val="400"/>
              </a:spcBef>
              <a:spcAft>
                <a:spcPts val="0"/>
              </a:spcAft>
            </a:pPr>
            <a:r>
              <a:rPr sz="1200" b="0">
                <a:solidFill>
                  <a:srgbClr val="262B33"/>
                </a:solidFill>
                <a:latin typeface="Arial"/>
              </a:rPr>
              <a:t>164 million domestic passengers a year across 148 operational airports, up from 74 in 2014. A fixed basket of the 15 busiest city pairs tracks the traffic that actually matters.</a:t>
            </a:r>
          </a:p>
        </p:txBody>
      </p:sp>
      <p:sp>
        <p:nvSpPr>
          <p:cNvPr id="17413" name="Rectangle 17412"/>
          <p:cNvSpPr/>
          <p:nvPr/>
        </p:nvSpPr>
        <p:spPr>
          <a:xfrm>
            <a:off x="411480" y="2423160"/>
            <a:ext cx="68580" cy="1188720"/>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411480" y="3712463"/>
            <a:ext cx="5623560"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C77700"/>
                </a:solidFill>
                <a:latin typeface="Arial"/>
              </a:rPr>
              <a:t>Economic feasibility</a:t>
            </a:r>
          </a:p>
          <a:p>
            <a:pPr>
              <a:lnSpc>
                <a:spcPct val="95000"/>
              </a:lnSpc>
              <a:spcBef>
                <a:spcPts val="400"/>
              </a:spcBef>
              <a:spcAft>
                <a:spcPts val="0"/>
              </a:spcAft>
            </a:pPr>
            <a:r>
              <a:rPr sz="1200" b="0">
                <a:solidFill>
                  <a:srgbClr val="262B33"/>
                </a:solidFill>
                <a:latin typeface="Arial"/>
              </a:rPr>
              <a:t>The pipeline runs on free tiers at ₹0 a month and ~2 minutes of compute per cycle. MoSPI's field collectors visit shops and markets monthly; this observes 144 times a day without leaving a desk.</a:t>
            </a:r>
          </a:p>
        </p:txBody>
      </p:sp>
      <p:sp>
        <p:nvSpPr>
          <p:cNvPr id="17415" name="Rectangle 17414"/>
          <p:cNvSpPr/>
          <p:nvPr/>
        </p:nvSpPr>
        <p:spPr>
          <a:xfrm>
            <a:off x="411480" y="3712463"/>
            <a:ext cx="68580" cy="118872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11480" y="5001768"/>
            <a:ext cx="5623560"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4B3F8C"/>
                </a:solidFill>
                <a:latin typeface="Arial"/>
              </a:rPr>
              <a:t>Regulatory feasibility</a:t>
            </a:r>
          </a:p>
          <a:p>
            <a:pPr>
              <a:lnSpc>
                <a:spcPct val="95000"/>
              </a:lnSpc>
              <a:spcBef>
                <a:spcPts val="400"/>
              </a:spcBef>
              <a:spcAft>
                <a:spcPts val="0"/>
              </a:spcAft>
            </a:pPr>
            <a:r>
              <a:rPr sz="1200" b="0">
                <a:solidFill>
                  <a:srgbClr val="262B33"/>
                </a:solidFill>
                <a:latin typeface="Arial"/>
              </a:rPr>
              <a:t>Eurostat publishes guidance on web-scraped prices for HICP and names air fares explicitly. ONS has done it since 2014. The method is precedented in official statistics, not experimental.</a:t>
            </a:r>
          </a:p>
        </p:txBody>
      </p:sp>
      <p:sp>
        <p:nvSpPr>
          <p:cNvPr id="17417" name="Rectangle 17416"/>
          <p:cNvSpPr/>
          <p:nvPr/>
        </p:nvSpPr>
        <p:spPr>
          <a:xfrm>
            <a:off x="411480" y="5001768"/>
            <a:ext cx="68580" cy="1188720"/>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19" name="Rectangle 17418"/>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6400800" y="1554480"/>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1" name="Rectangle 17420"/>
          <p:cNvSpPr/>
          <p:nvPr/>
        </p:nvSpPr>
        <p:spPr>
          <a:xfrm>
            <a:off x="6400800" y="1554480"/>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6583680" y="1655064"/>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16 portals surveyed, one is usable</a:t>
            </a:r>
          </a:p>
          <a:p>
            <a:pPr>
              <a:lnSpc>
                <a:spcPct val="95000"/>
              </a:lnSpc>
              <a:spcBef>
                <a:spcPts val="400"/>
              </a:spcBef>
              <a:spcAft>
                <a:spcPts val="0"/>
              </a:spcAft>
            </a:pPr>
            <a:r>
              <a:rPr sz="1200" b="0">
                <a:solidFill>
                  <a:srgbClr val="262B33"/>
                </a:solidFill>
                <a:latin typeface="Arial"/>
              </a:rPr>
              <a:t>Ten disallow us, four block us, airlines refuse automation entirely.</a:t>
            </a:r>
          </a:p>
        </p:txBody>
      </p:sp>
      <p:sp>
        <p:nvSpPr>
          <p:cNvPr id="17423" name="Rounded Rectangle 17422"/>
          <p:cNvSpPr/>
          <p:nvPr/>
        </p:nvSpPr>
        <p:spPr>
          <a:xfrm>
            <a:off x="6400800" y="2496312"/>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4" name="Rectangle 17423"/>
          <p:cNvSpPr/>
          <p:nvPr/>
        </p:nvSpPr>
        <p:spPr>
          <a:xfrm>
            <a:off x="6400800" y="2496312"/>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6583680" y="2596896"/>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Cloud IPs are blocked too</a:t>
            </a:r>
          </a:p>
          <a:p>
            <a:pPr>
              <a:lnSpc>
                <a:spcPct val="95000"/>
              </a:lnSpc>
              <a:spcBef>
                <a:spcPts val="400"/>
              </a:spcBef>
              <a:spcAft>
                <a:spcPts val="0"/>
              </a:spcAft>
            </a:pPr>
            <a:r>
              <a:rPr sz="1200" b="0">
                <a:solidFill>
                  <a:srgbClr val="262B33"/>
                </a:solidFill>
                <a:latin typeface="Arial"/>
              </a:rPr>
              <a:t>Verified in CI — so collection runs from a residential host.</a:t>
            </a:r>
          </a:p>
        </p:txBody>
      </p:sp>
      <p:sp>
        <p:nvSpPr>
          <p:cNvPr id="17426" name="Rounded Rectangle 17425"/>
          <p:cNvSpPr/>
          <p:nvPr/>
        </p:nvSpPr>
        <p:spPr>
          <a:xfrm>
            <a:off x="6400800" y="3438144"/>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7" name="Rectangle 17426"/>
          <p:cNvSpPr/>
          <p:nvPr/>
        </p:nvSpPr>
        <p:spPr>
          <a:xfrm>
            <a:off x="6400800" y="3438144"/>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6583680" y="3538727"/>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Models get retired without notice</a:t>
            </a:r>
          </a:p>
          <a:p>
            <a:pPr>
              <a:lnSpc>
                <a:spcPct val="95000"/>
              </a:lnSpc>
              <a:spcBef>
                <a:spcPts val="400"/>
              </a:spcBef>
              <a:spcAft>
                <a:spcPts val="0"/>
              </a:spcAft>
            </a:pPr>
            <a:r>
              <a:rPr sz="1200" b="0">
                <a:solidFill>
                  <a:srgbClr val="262B33"/>
                </a:solidFill>
                <a:latin typeface="Arial"/>
              </a:rPr>
              <a:t>Three died during this build. Extraction now fails over automatically.</a:t>
            </a:r>
          </a:p>
        </p:txBody>
      </p:sp>
      <p:sp>
        <p:nvSpPr>
          <p:cNvPr id="17429" name="Rounded Rectangle 17428"/>
          <p:cNvSpPr/>
          <p:nvPr/>
        </p:nvSpPr>
        <p:spPr>
          <a:xfrm>
            <a:off x="6400800" y="4379976"/>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0" name="Rectangle 17429"/>
          <p:cNvSpPr/>
          <p:nvPr/>
        </p:nvSpPr>
        <p:spPr>
          <a:xfrm>
            <a:off x="6400800" y="4379976"/>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TextBox 17430"/>
          <p:cNvSpPr txBox="1"/>
          <p:nvPr/>
        </p:nvSpPr>
        <p:spPr>
          <a:xfrm>
            <a:off x="6583680" y="4480560"/>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Thin coverage would mislead</a:t>
            </a:r>
          </a:p>
          <a:p>
            <a:pPr>
              <a:lnSpc>
                <a:spcPct val="95000"/>
              </a:lnSpc>
              <a:spcBef>
                <a:spcPts val="400"/>
              </a:spcBef>
              <a:spcAft>
                <a:spcPts val="0"/>
              </a:spcAft>
            </a:pPr>
            <a:r>
              <a:rPr sz="1200" b="0">
                <a:solidFill>
                  <a:srgbClr val="262B33"/>
                </a:solidFill>
                <a:latin typeface="Arial"/>
              </a:rPr>
              <a:t>Days below 60% basket weight publish as provisional, with the reason.</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 one departure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Collected every 10 minutes,
robots-checked, timestamped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fare per route × lead time
— what a traveller could transact at</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
→ airfare inflation</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coverage
and revision history attached</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priced from
144 daily observations, not 1 visit</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70448"/>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the method, stated on the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A defensible transport input, recomputable from stored micro-data</a:t>
            </a:r>
          </a:p>
        </p:txBody>
      </p:sp>
      <p:sp>
        <p:nvSpPr>
          <p:cNvPr id="17429" name="Rounded Rectangle 17428"/>
          <p:cNvSpPr/>
          <p:nvPr/>
        </p:nvSpPr>
        <p:spPr>
          <a:xfrm>
            <a:off x="6400800" y="3986783"/>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96849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Route-level fare behaviour nobody currently publishes</a:t>
            </a:r>
          </a:p>
        </p:txBody>
      </p:sp>
      <p:sp>
        <p:nvSpPr>
          <p:cNvPr id="17431" name="Rounded Rectangle 17430"/>
          <p:cNvSpPr/>
          <p:nvPr/>
        </p:nvSpPr>
        <p:spPr>
          <a:xfrm>
            <a:off x="6400800" y="4535423"/>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51713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A public record of what air travel actually costs over time</a:t>
            </a:r>
          </a:p>
        </p:txBody>
      </p:sp>
      <p:sp>
        <p:nvSpPr>
          <p:cNvPr id="17433" name="Rounded Rectangle 17432"/>
          <p:cNvSpPr/>
          <p:nvPr/>
        </p:nvSpPr>
        <p:spPr>
          <a:xfrm>
            <a:off x="6400800" y="5084063"/>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5065775"/>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An open, reproducible price series for a market that has none</a:t>
            </a:r>
          </a:p>
        </p:txBody>
      </p:sp>
      <p:sp>
        <p:nvSpPr>
          <p:cNvPr id="17435" name="Rounded Rectangle 17434"/>
          <p:cNvSpPr/>
          <p:nvPr/>
        </p:nvSpPr>
        <p:spPr>
          <a:xfrm>
            <a:off x="6400800" y="5504688"/>
            <a:ext cx="5394960" cy="76809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1B8A5A"/>
                </a:solidFill>
                <a:latin typeface="Arial"/>
              </a:rPr>
              <a:t>OUR PROMISE</a:t>
            </a:r>
          </a:p>
          <a:p>
            <a:pPr>
              <a:lnSpc>
                <a:spcPct val="95000"/>
              </a:lnSpc>
              <a:spcBef>
                <a:spcPts val="300"/>
              </a:spcBef>
              <a:spcAft>
                <a:spcPts val="0"/>
              </a:spcAft>
            </a:pPr>
            <a:r>
              <a:rPr sz="1300" b="0">
                <a:solidFill>
                  <a:srgbClr val="262B33"/>
                </a:solidFill>
                <a:latin typeface="Arial"/>
              </a:rPr>
              <a:t>Replace one manual price visit a month with 144 automated observations a day —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3703320" cy="170078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557784"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4F81BD"/>
                </a:solidFill>
                <a:latin typeface="Arial"/>
              </a:rPr>
              <a:t>Method — why Jevons</a:t>
            </a:r>
          </a:p>
          <a:p>
            <a:pPr>
              <a:lnSpc>
                <a:spcPct val="100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a:p>
            <a:pPr>
              <a:lnSpc>
                <a:spcPct val="100000"/>
              </a:lnSpc>
              <a:spcBef>
                <a:spcPts val="500"/>
              </a:spcBef>
              <a:spcAft>
                <a:spcPts val="0"/>
              </a:spcAft>
            </a:pPr>
            <a:r>
              <a:rPr sz="1100" b="1">
                <a:solidFill>
                  <a:srgbClr val="4F81BD"/>
                </a:solidFill>
                <a:latin typeface="Arial"/>
                <a:hlinkClick r:id="rId4"/>
              </a:rPr>
              <a:t>Eurostat HICP guidance →</a:t>
            </a:r>
          </a:p>
        </p:txBody>
      </p:sp>
      <p:sp>
        <p:nvSpPr>
          <p:cNvPr id="17413" name="Rounded Rectangle 17412"/>
          <p:cNvSpPr/>
          <p:nvPr/>
        </p:nvSpPr>
        <p:spPr>
          <a:xfrm>
            <a:off x="4370832" y="1133856"/>
            <a:ext cx="3703320" cy="170078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4" name="Rectangle 17413"/>
          <p:cNvSpPr/>
          <p:nvPr/>
        </p:nvSpPr>
        <p:spPr>
          <a:xfrm>
            <a:off x="4370832" y="113385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4517136"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1B8A5A"/>
                </a:solidFill>
                <a:latin typeface="Arial"/>
              </a:rPr>
              <a:t>Precedent — already done</a:t>
            </a:r>
          </a:p>
          <a:p>
            <a:pPr>
              <a:lnSpc>
                <a:spcPct val="100000"/>
              </a:lnSpc>
              <a:spcBef>
                <a:spcPts val="400"/>
              </a:spcBef>
              <a:spcAft>
                <a:spcPts val="0"/>
              </a:spcAft>
            </a:pPr>
            <a:r>
              <a:rPr sz="1150" b="0">
                <a:solidFill>
                  <a:srgbClr val="262B33"/>
                </a:solidFill>
                <a:latin typeface="Arial"/>
              </a:rPr>
              <a:t>ONS ran a web-scraping programme for consumer prices from 2014, Eurostat-funded from 2015.</a:t>
            </a:r>
          </a:p>
          <a:p>
            <a:pPr>
              <a:lnSpc>
                <a:spcPct val="100000"/>
              </a:lnSpc>
              <a:spcBef>
                <a:spcPts val="500"/>
              </a:spcBef>
              <a:spcAft>
                <a:spcPts val="0"/>
              </a:spcAft>
            </a:pPr>
            <a:r>
              <a:rPr sz="1100" b="1">
                <a:solidFill>
                  <a:srgbClr val="4F81BD"/>
                </a:solidFill>
                <a:latin typeface="Arial"/>
                <a:hlinkClick r:id="rId5"/>
              </a:rPr>
              <a:t>ONS research indices →</a:t>
            </a:r>
          </a:p>
        </p:txBody>
      </p:sp>
      <p:sp>
        <p:nvSpPr>
          <p:cNvPr id="17416" name="Rounded Rectangle 17415"/>
          <p:cNvSpPr/>
          <p:nvPr/>
        </p:nvSpPr>
        <p:spPr>
          <a:xfrm>
            <a:off x="8330183" y="1133856"/>
            <a:ext cx="3703320" cy="170078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7" name="Rectangle 17416"/>
          <p:cNvSpPr/>
          <p:nvPr/>
        </p:nvSpPr>
        <p:spPr>
          <a:xfrm>
            <a:off x="8330183" y="1133856"/>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8476488"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C77700"/>
                </a:solidFill>
                <a:latin typeface="Arial"/>
              </a:rPr>
              <a:t>The Indian basket</a:t>
            </a:r>
          </a:p>
          <a:p>
            <a:pPr>
              <a:lnSpc>
                <a:spcPct val="100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a:p>
            <a:pPr>
              <a:lnSpc>
                <a:spcPct val="100000"/>
              </a:lnSpc>
              <a:spcBef>
                <a:spcPts val="500"/>
              </a:spcBef>
              <a:spcAft>
                <a:spcPts val="0"/>
              </a:spcAft>
            </a:pPr>
            <a:r>
              <a:rPr sz="1100" b="1">
                <a:solidFill>
                  <a:srgbClr val="4F81BD"/>
                </a:solidFill>
                <a:latin typeface="Arial"/>
                <a:hlinkClick r:id="rId6"/>
              </a:rPr>
              <a:t>DGCA monthly statistics →</a:t>
            </a:r>
          </a:p>
        </p:txBody>
      </p:sp>
      <p:sp>
        <p:nvSpPr>
          <p:cNvPr id="17419" name="Rounded Rectangle 17418"/>
          <p:cNvSpPr/>
          <p:nvPr/>
        </p:nvSpPr>
        <p:spPr>
          <a:xfrm>
            <a:off x="411480" y="2999232"/>
            <a:ext cx="3703320" cy="170078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0" name="Rectangle 17419"/>
          <p:cNvSpPr/>
          <p:nvPr/>
        </p:nvSpPr>
        <p:spPr>
          <a:xfrm>
            <a:off x="411480" y="2999232"/>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557784"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4B3F8C"/>
                </a:solidFill>
                <a:latin typeface="Arial"/>
              </a:rPr>
              <a:t>Standards we hold to</a:t>
            </a:r>
          </a:p>
          <a:p>
            <a:pPr>
              <a:lnSpc>
                <a:spcPct val="100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a:p>
            <a:pPr>
              <a:lnSpc>
                <a:spcPct val="100000"/>
              </a:lnSpc>
              <a:spcBef>
                <a:spcPts val="500"/>
              </a:spcBef>
              <a:spcAft>
                <a:spcPts val="0"/>
              </a:spcAft>
            </a:pPr>
            <a:r>
              <a:rPr sz="1100" b="1">
                <a:solidFill>
                  <a:srgbClr val="4F81BD"/>
                </a:solidFill>
                <a:latin typeface="Arial"/>
                <a:hlinkClick r:id="rId7"/>
              </a:rPr>
              <a:t>RFC 9309 →</a:t>
            </a:r>
          </a:p>
        </p:txBody>
      </p:sp>
      <p:sp>
        <p:nvSpPr>
          <p:cNvPr id="17422" name="Rounded Rectangle 17421"/>
          <p:cNvSpPr/>
          <p:nvPr/>
        </p:nvSpPr>
        <p:spPr>
          <a:xfrm>
            <a:off x="4370832" y="2999232"/>
            <a:ext cx="3703320" cy="170078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370832" y="2999232"/>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4517136"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0E7C86"/>
                </a:solidFill>
                <a:latin typeface="Arial"/>
              </a:rPr>
              <a:t>CPI methodology</a:t>
            </a:r>
          </a:p>
          <a:p>
            <a:pPr>
              <a:lnSpc>
                <a:spcPct val="100000"/>
              </a:lnSpc>
              <a:spcBef>
                <a:spcPts val="400"/>
              </a:spcBef>
              <a:spcAft>
                <a:spcPts val="0"/>
              </a:spcAft>
            </a:pPr>
            <a:r>
              <a:rPr sz="1150" b="0">
                <a:solidFill>
                  <a:srgbClr val="262B33"/>
                </a:solidFill>
                <a:latin typeface="Arial"/>
              </a:rPr>
              <a:t>MoSPI CPI (Base 2012=100). Field collectors visit shops and markets monthly — the process this augments.</a:t>
            </a:r>
          </a:p>
          <a:p>
            <a:pPr>
              <a:lnSpc>
                <a:spcPct val="100000"/>
              </a:lnSpc>
              <a:spcBef>
                <a:spcPts val="500"/>
              </a:spcBef>
              <a:spcAft>
                <a:spcPts val="0"/>
              </a:spcAft>
            </a:pPr>
            <a:r>
              <a:rPr sz="1100" b="1">
                <a:solidFill>
                  <a:srgbClr val="4F81BD"/>
                </a:solidFill>
                <a:latin typeface="Arial"/>
                <a:hlinkClick r:id="rId8"/>
              </a:rPr>
              <a:t>MoSPI CPI series →</a:t>
            </a:r>
          </a:p>
        </p:txBody>
      </p:sp>
      <p:sp>
        <p:nvSpPr>
          <p:cNvPr id="17425" name="Rounded Rectangle 17424"/>
          <p:cNvSpPr/>
          <p:nvPr/>
        </p:nvSpPr>
        <p:spPr>
          <a:xfrm>
            <a:off x="8330183" y="2999232"/>
            <a:ext cx="3703320" cy="1700784"/>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6" name="Rectangle 17425"/>
          <p:cNvSpPr/>
          <p:nvPr/>
        </p:nvSpPr>
        <p:spPr>
          <a:xfrm>
            <a:off x="8330183" y="2999232"/>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TextBox 17426"/>
          <p:cNvSpPr txBox="1"/>
          <p:nvPr/>
        </p:nvSpPr>
        <p:spPr>
          <a:xfrm>
            <a:off x="8476488"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7A3E6B"/>
                </a:solidFill>
                <a:latin typeface="Arial"/>
              </a:rPr>
              <a:t>Our code and full method</a:t>
            </a:r>
          </a:p>
          <a:p>
            <a:pPr>
              <a:lnSpc>
                <a:spcPct val="100000"/>
              </a:lnSpc>
              <a:spcBef>
                <a:spcPts val="400"/>
              </a:spcBef>
              <a:spcAft>
                <a:spcPts val="0"/>
              </a:spcAft>
            </a:pPr>
            <a:r>
              <a:rPr sz="1150" b="0">
                <a:solidFill>
                  <a:srgbClr val="262B33"/>
                </a:solidFill>
                <a:latin typeface="Arial"/>
              </a:rPr>
              <a:t>Collector, index engine, export API and portal. The README documents the method, the exclusion rules and the publication threshold.</a:t>
            </a:r>
          </a:p>
          <a:p>
            <a:pPr>
              <a:lnSpc>
                <a:spcPct val="100000"/>
              </a:lnSpc>
              <a:spcBef>
                <a:spcPts val="500"/>
              </a:spcBef>
              <a:spcAft>
                <a:spcPts val="0"/>
              </a:spcAft>
            </a:pPr>
            <a:r>
              <a:rPr sz="1100" b="1">
                <a:solidFill>
                  <a:srgbClr val="4F81BD"/>
                </a:solidFill>
                <a:latin typeface="Arial"/>
                <a:hlinkClick r:id="rId9"/>
              </a:rPr>
              <a:t>github.com/BradCage-afk/sih-2026-airfare-index →</a:t>
            </a:r>
          </a:p>
        </p:txBody>
      </p:sp>
      <p:pic>
        <p:nvPicPr>
          <p:cNvPr id="17428" name="Picture 17427" descr="chart-survey.png"/>
          <p:cNvPicPr>
            <a:picLocks noChangeAspect="1"/>
          </p:cNvPicPr>
          <p:nvPr/>
        </p:nvPicPr>
        <p:blipFill>
          <a:blip r:embed="rId10"/>
          <a:stretch>
            <a:fillRect/>
          </a:stretch>
        </p:blipFill>
        <p:spPr>
          <a:xfrm>
            <a:off x="411480" y="4809744"/>
            <a:ext cx="4023360" cy="1333831"/>
          </a:xfrm>
          <a:prstGeom prst="rect">
            <a:avLst/>
          </a:prstGeom>
        </p:spPr>
      </p:pic>
      <p:sp>
        <p:nvSpPr>
          <p:cNvPr id="17429" name="TextBox 17428"/>
          <p:cNvSpPr txBox="1"/>
          <p:nvPr/>
        </p:nvSpPr>
        <p:spPr>
          <a:xfrm>
            <a:off x="4663440" y="4864608"/>
            <a:ext cx="7086600" cy="137160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500"/>
              </a:spcBef>
              <a:spcAft>
                <a:spcPts val="0"/>
              </a:spcAft>
            </a:pPr>
            <a:r>
              <a:rPr sz="1150" b="1">
                <a:solidFill>
                  <a:srgbClr val="4F81BD"/>
                </a:solidFill>
                <a:latin typeface="Arial"/>
                <a:hlinkClick r:id="rId11"/>
              </a:rPr>
              <a:t>Live API and interactive documentation →</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