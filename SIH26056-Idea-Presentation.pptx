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9"/>
  </p:notesMasterIdLst>
  <p:sldIdLst>
    <p:sldId id="291" r:id="rId2"/>
    <p:sldId id="281" r:id="rId3"/>
    <p:sldId id="290" r:id="rId4"/>
    <p:sldId id="293" r:id="rId5"/>
    <p:sldId id="294" r:id="rId6"/>
    <p:sldId id="296" r:id="rId7"/>
  </p:sldIdLst>
  <p:sldSz cx="12192000" cy="6858000"/>
  <p:notesSz cx="6858000" cy="9144000"/>
  <p:defaultTextStyle>
    <a:defPPr>
      <a:defRPr lang="en-US"/>
    </a:defPPr>
    <a:lvl1pPr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1pPr>
    <a:lvl2pPr marL="4572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2pPr>
    <a:lvl3pPr marL="9144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3pPr>
    <a:lvl4pPr marL="13716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4pPr>
    <a:lvl5pPr marL="18288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5pPr>
    <a:lvl6pPr marL="2286000" algn="l" defTabSz="914400" rtl="0" eaLnBrk="1" latinLnBrk="0" hangingPunct="1">
      <a:defRPr kern="1200">
        <a:solidFill>
          <a:schemeClr val="tx1"/>
        </a:solidFill>
        <a:latin typeface="Calibri" pitchFamily="34" charset="0"/>
        <a:ea typeface="ＭＳ Ｐゴシック" pitchFamily="1" charset="-128"/>
        <a:cs typeface="+mn-cs"/>
      </a:defRPr>
    </a:lvl6pPr>
    <a:lvl7pPr marL="2743200" algn="l" defTabSz="914400" rtl="0" eaLnBrk="1" latinLnBrk="0" hangingPunct="1">
      <a:defRPr kern="1200">
        <a:solidFill>
          <a:schemeClr val="tx1"/>
        </a:solidFill>
        <a:latin typeface="Calibri" pitchFamily="34" charset="0"/>
        <a:ea typeface="ＭＳ Ｐゴシック" pitchFamily="1" charset="-128"/>
        <a:cs typeface="+mn-cs"/>
      </a:defRPr>
    </a:lvl7pPr>
    <a:lvl8pPr marL="3200400" algn="l" defTabSz="914400" rtl="0" eaLnBrk="1" latinLnBrk="0" hangingPunct="1">
      <a:defRPr kern="1200">
        <a:solidFill>
          <a:schemeClr val="tx1"/>
        </a:solidFill>
        <a:latin typeface="Calibri" pitchFamily="34" charset="0"/>
        <a:ea typeface="ＭＳ Ｐゴシック" pitchFamily="1" charset="-128"/>
        <a:cs typeface="+mn-cs"/>
      </a:defRPr>
    </a:lvl8pPr>
    <a:lvl9pPr marL="3657600" algn="l" defTabSz="914400" rtl="0" eaLnBrk="1" latinLnBrk="0" hangingPunct="1">
      <a:defRPr kern="1200">
        <a:solidFill>
          <a:schemeClr val="tx1"/>
        </a:solidFill>
        <a:latin typeface="Calibri" pitchFamily="34" charset="0"/>
        <a:ea typeface="ＭＳ Ｐゴシック" pitchFamily="1"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BB59"/>
    <a:srgbClr val="39B0D4"/>
    <a:srgbClr val="727272"/>
    <a:srgbClr val="010000"/>
    <a:srgbClr val="FFA751"/>
    <a:srgbClr val="3232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8" d="100"/>
          <a:sy n="68" d="100"/>
        </p:scale>
        <p:origin x="792" y="72"/>
      </p:cViewPr>
      <p:guideLst>
        <p:guide orient="horz" pos="2160"/>
        <p:guide pos="3840"/>
      </p:guideLst>
    </p:cSldViewPr>
  </p:slideViewPr>
  <p:notesTextViewPr>
    <p:cViewPr>
      <p:scale>
        <a:sx n="100" d="100"/>
        <a:sy n="100" d="100"/>
      </p:scale>
      <p:origin x="0" y="0"/>
    </p:cViewPr>
  </p:notesTextViewPr>
  <p:sorterViewPr>
    <p:cViewPr>
      <p:scale>
        <a:sx n="125" d="100"/>
        <a:sy n="125"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vl1pPr>
          </a:lstStyle>
          <a:p>
            <a:fld id="{C4D5ADD5-2BBC-4A94-8F86-D9013941F742}" type="datetimeFigureOut">
              <a:rPr lang="en-US"/>
              <a:pPr/>
              <a:t>6/2/2026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fld id="{EC790738-CFC9-4A5E-8424-6B42AA5706F7}" type="slidenum">
              <a:rPr lang="en-US"/>
              <a:pPr/>
              <a:t>‹#›</a:t>
            </a:fld>
            <a:endParaRPr lang="en-US"/>
          </a:p>
        </p:txBody>
      </p:sp>
    </p:spTree>
    <p:extLst>
      <p:ext uri="{BB962C8B-B14F-4D97-AF65-F5344CB8AC3E}">
        <p14:creationId xmlns:p14="http://schemas.microsoft.com/office/powerpoint/2010/main" val="235749454"/>
      </p:ext>
    </p:extLst>
  </p:cSld>
  <p:clrMap bg1="lt1" tx1="dk1" bg2="lt2" tx2="dk2" accent1="accent1" accent2="accent2" accent3="accent3" accent4="accent4" accent5="accent5" accent6="accent6" hlink="hlink" folHlink="folHlink"/>
  <p:notesStyle>
    <a:lvl1pPr algn="l" defTabSz="457200" rtl="0" eaLnBrk="0" fontAlgn="base" hangingPunct="0">
      <a:spcBef>
        <a:spcPct val="30000"/>
      </a:spcBef>
      <a:spcAft>
        <a:spcPct val="0"/>
      </a:spcAft>
      <a:defRPr sz="1200" kern="1200">
        <a:solidFill>
          <a:schemeClr val="tx1"/>
        </a:solidFill>
        <a:latin typeface="+mn-lt"/>
        <a:ea typeface="ＭＳ Ｐゴシック" charset="0"/>
        <a:cs typeface="ＭＳ Ｐゴシック" charset="0"/>
      </a:defRPr>
    </a:lvl1pPr>
    <a:lvl2pPr marL="4572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2pPr>
    <a:lvl3pPr marL="9144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3pPr>
    <a:lvl4pPr marL="13716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4pPr>
    <a:lvl5pPr marL="18288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6386"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6387" name="Slide Number Placeholder 3"/>
          <p:cNvSpPr>
            <a:spLocks noGrp="1"/>
          </p:cNvSpPr>
          <p:nvPr>
            <p:ph type="sldNum" sz="quarter" idx="5"/>
          </p:nvPr>
        </p:nvSpPr>
        <p:spPr bwMode="auto">
          <a:noFill/>
          <a:ln>
            <a:miter lim="800000"/>
            <a:headEnd/>
            <a:tailEnd/>
          </a:ln>
        </p:spPr>
        <p:txBody>
          <a:bodyPr/>
          <a:lstStyle/>
          <a:p>
            <a:fld id="{65F62A7E-A2F8-438F-9CF8-47DE63F471B4}" type="slidenum">
              <a:rPr lang="en-US"/>
              <a:pPr/>
              <a:t>2</a:t>
            </a:fld>
            <a:endParaRPr lang="en-US"/>
          </a:p>
        </p:txBody>
      </p:sp>
    </p:spTree>
    <p:extLst>
      <p:ext uri="{BB962C8B-B14F-4D97-AF65-F5344CB8AC3E}">
        <p14:creationId xmlns:p14="http://schemas.microsoft.com/office/powerpoint/2010/main" val="29040732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fld id="{0CA7B74D-3791-4AC6-8451-F10DBCCCDD9A}" type="slidenum">
              <a:rPr lang="en-US"/>
              <a:pPr/>
              <a:t>3</a:t>
            </a:fld>
            <a:endParaRPr lang="en-US"/>
          </a:p>
        </p:txBody>
      </p:sp>
    </p:spTree>
    <p:extLst>
      <p:ext uri="{BB962C8B-B14F-4D97-AF65-F5344CB8AC3E}">
        <p14:creationId xmlns:p14="http://schemas.microsoft.com/office/powerpoint/2010/main" val="23352062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735054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26417228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190867272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fld id="{E60792E3-D524-454C-8AFD-A91972900BCB}"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5B7E1BAA-A38D-40DE-B22C-DF9BD7D82058}" type="slidenum">
              <a:rPr lang="en-US"/>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708B7524-32A2-4C20-A58C-BC3BAA1042FC}"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677C3CE7-23F7-4828-823C-E0205DF2CF97}" type="slidenum">
              <a:rPr lang="en-US"/>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1E994447-D6B2-43BB-A877-57F1A267B99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41DB31D2-2A87-4F4C-A9AD-05C6CC2B321D}" type="slidenum">
              <a:rPr lang="en-US"/>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fld id="{68920E16-BD35-483C-AA6B-346FC7E46DEA}"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E1FC16D9-1635-4844-816A-0A8A2160FADA}" type="slidenum">
              <a:rPr lang="en-US"/>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fld id="{2FEAC6F8-5103-4FC0-A69E-5C6AE6469DA8}" type="datetime1">
              <a:rPr lang="en-US" smtClean="0"/>
              <a:t>6/2/2026</a:t>
            </a:fld>
            <a:endParaRPr lang="en-US"/>
          </a:p>
        </p:txBody>
      </p:sp>
      <p:sp>
        <p:nvSpPr>
          <p:cNvPr id="8"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9" name="Slide Number Placeholder 5"/>
          <p:cNvSpPr>
            <a:spLocks noGrp="1"/>
          </p:cNvSpPr>
          <p:nvPr>
            <p:ph type="sldNum" sz="quarter" idx="12"/>
          </p:nvPr>
        </p:nvSpPr>
        <p:spPr/>
        <p:txBody>
          <a:bodyPr/>
          <a:lstStyle>
            <a:lvl1pPr>
              <a:defRPr/>
            </a:lvl1pPr>
          </a:lstStyle>
          <a:p>
            <a:fld id="{71C4100A-98DE-4944-910A-A93F5CA9F724}" type="slidenum">
              <a:rPr lang="en-US"/>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fld id="{C60C6921-0627-4C8F-83D5-0CF936D2FFDD}" type="datetime1">
              <a:rPr lang="en-US" smtClean="0"/>
              <a:t>6/2/2026</a:t>
            </a:fld>
            <a:endParaRPr lang="en-US"/>
          </a:p>
        </p:txBody>
      </p:sp>
      <p:sp>
        <p:nvSpPr>
          <p:cNvPr id="4"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5" name="Slide Number Placeholder 5"/>
          <p:cNvSpPr>
            <a:spLocks noGrp="1"/>
          </p:cNvSpPr>
          <p:nvPr>
            <p:ph type="sldNum" sz="quarter" idx="12"/>
          </p:nvPr>
        </p:nvSpPr>
        <p:spPr/>
        <p:txBody>
          <a:bodyPr/>
          <a:lstStyle>
            <a:lvl1pPr>
              <a:defRPr/>
            </a:lvl1pPr>
          </a:lstStyle>
          <a:p>
            <a:fld id="{6A63342B-5A73-45DC-864D-086DE78037EF}" type="slidenum">
              <a:rPr lang="en-US"/>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2FF08AD7-8103-40F8-983C-E2BA6BB9CBE0}" type="datetime1">
              <a:rPr lang="en-US" smtClean="0"/>
              <a:t>6/2/2026</a:t>
            </a:fld>
            <a:endParaRPr lang="en-US"/>
          </a:p>
        </p:txBody>
      </p:sp>
      <p:sp>
        <p:nvSpPr>
          <p:cNvPr id="3"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4" name="Slide Number Placeholder 5"/>
          <p:cNvSpPr>
            <a:spLocks noGrp="1"/>
          </p:cNvSpPr>
          <p:nvPr>
            <p:ph type="sldNum" sz="quarter" idx="12"/>
          </p:nvPr>
        </p:nvSpPr>
        <p:spPr/>
        <p:txBody>
          <a:bodyPr/>
          <a:lstStyle>
            <a:lvl1pPr>
              <a:defRPr/>
            </a:lvl1pPr>
          </a:lstStyle>
          <a:p>
            <a:fld id="{B635AFB3-1ACD-44AC-8702-86B1729DF035}" type="slidenum">
              <a:rPr lang="en-US"/>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DF8C06B4-9380-4A4D-AF49-A3596E17DAF5}"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05CF15F3-5E77-4C57-9E21-50D6D1D6C022}" type="slidenum">
              <a:rPr lang="en-US"/>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EF7FDEF1-C582-4E22-9E77-D68326471F28}"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1242169A-B3C7-4FB6-967F-AF95F4EB3315}" type="slidenum">
              <a:rPr lang="en-US"/>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053C3A68-6922-42D3-8905-ECC2D82A346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94FDD027-5576-4F27-AAB6-1D994836EE78}" type="slidenum">
              <a:rPr lang="en-US"/>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CB69E9F4-7604-4950-A8B2-8ACDEDB1506E}"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2957CE61-8714-431B-A40A-01B1C5541AB7}" type="slidenum">
              <a:rPr lang="en-US"/>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47625"/>
            <a:ext cx="109728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609600" y="1095375"/>
            <a:ext cx="10972800" cy="50307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wrap="square" lIns="91440" tIns="45720" rIns="91440" bIns="45720" numCol="1" anchor="ctr" anchorCtr="0" compatLnSpc="1">
            <a:prstTxWarp prst="textNoShape">
              <a:avLst/>
            </a:prstTxWarp>
          </a:bodyPr>
          <a:lstStyle>
            <a:lvl1pPr>
              <a:defRPr sz="1200">
                <a:solidFill>
                  <a:srgbClr val="898989"/>
                </a:solidFill>
                <a:latin typeface="TradeGothic" pitchFamily="1" charset="0"/>
              </a:defRPr>
            </a:lvl1pPr>
          </a:lstStyle>
          <a:p>
            <a:fld id="{780A9602-A9A9-453F-AEF1-37B5837E02CD}" type="datetime1">
              <a:rPr lang="en-US" smtClean="0"/>
              <a:t>6/2/2026</a:t>
            </a:fld>
            <a:endParaRPr lang="en-US"/>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TradeGothic"/>
                <a:ea typeface="+mn-ea"/>
                <a:cs typeface="+mn-cs"/>
              </a:defRPr>
            </a:lvl1pPr>
          </a:lstStyle>
          <a:p>
            <a:pPr>
              <a:defRPr/>
            </a:pPr>
            <a:r>
              <a:rPr lang="en-US"/>
              <a:t>@SIH Idea submission- Template</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latin typeface="TradeGothic" pitchFamily="1" charset="0"/>
              </a:defRPr>
            </a:lvl1pPr>
          </a:lstStyle>
          <a:p>
            <a:fld id="{1411BA53-830D-4830-BB65-E58DBE17D0B7}" type="slidenum">
              <a:rPr lang="en-US"/>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457200" rtl="0" eaLnBrk="0" fontAlgn="base" hangingPunct="0">
        <a:spcBef>
          <a:spcPct val="0"/>
        </a:spcBef>
        <a:spcAft>
          <a:spcPct val="0"/>
        </a:spcAft>
        <a:defRPr sz="4400" kern="1200">
          <a:solidFill>
            <a:schemeClr val="tx1"/>
          </a:solidFill>
          <a:latin typeface="TradeGothic"/>
          <a:ea typeface="ＭＳ Ｐゴシック" charset="0"/>
          <a:cs typeface="ＭＳ Ｐゴシック" charset="0"/>
        </a:defRPr>
      </a:lvl1pPr>
      <a:lvl2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2pPr>
      <a:lvl3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3pPr>
      <a:lvl4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4pPr>
      <a:lvl5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5pPr>
      <a:lvl6pPr marL="4572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6pPr>
      <a:lvl7pPr marL="9144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7pPr>
      <a:lvl8pPr marL="13716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8pPr>
      <a:lvl9pPr marL="18288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9pPr>
    </p:titleStyle>
    <p:bodyStyle>
      <a:lvl1pPr marL="342900" indent="-342900" algn="l" defTabSz="457200" rtl="0" eaLnBrk="0" fontAlgn="base" hangingPunct="0">
        <a:spcBef>
          <a:spcPct val="20000"/>
        </a:spcBef>
        <a:spcAft>
          <a:spcPct val="0"/>
        </a:spcAft>
        <a:buFont typeface="Arial" pitchFamily="34" charset="0"/>
        <a:buChar char="•"/>
        <a:defRPr sz="3200" kern="1200">
          <a:solidFill>
            <a:schemeClr val="tx1"/>
          </a:solidFill>
          <a:latin typeface="TradeGothic"/>
          <a:ea typeface="ＭＳ Ｐゴシック" charset="0"/>
          <a:cs typeface="ＭＳ Ｐゴシック" charset="0"/>
        </a:defRPr>
      </a:lvl1pPr>
      <a:lvl2pPr marL="742950" indent="-285750" algn="l" defTabSz="457200" rtl="0" eaLnBrk="0" fontAlgn="base" hangingPunct="0">
        <a:spcBef>
          <a:spcPct val="20000"/>
        </a:spcBef>
        <a:spcAft>
          <a:spcPct val="0"/>
        </a:spcAft>
        <a:buFont typeface="Arial" pitchFamily="34" charset="0"/>
        <a:buChar char="–"/>
        <a:defRPr sz="2800" kern="1200">
          <a:solidFill>
            <a:schemeClr val="tx1"/>
          </a:solidFill>
          <a:latin typeface="TradeGothic"/>
          <a:ea typeface="ＭＳ Ｐゴシック" charset="0"/>
          <a:cs typeface="+mn-cs"/>
        </a:defRPr>
      </a:lvl2pPr>
      <a:lvl3pPr marL="1143000" indent="-228600" algn="l" defTabSz="457200" rtl="0" eaLnBrk="0" fontAlgn="base" hangingPunct="0">
        <a:spcBef>
          <a:spcPct val="20000"/>
        </a:spcBef>
        <a:spcAft>
          <a:spcPct val="0"/>
        </a:spcAft>
        <a:buFont typeface="Arial" pitchFamily="34" charset="0"/>
        <a:buChar char="•"/>
        <a:defRPr sz="2400" kern="1200">
          <a:solidFill>
            <a:schemeClr val="tx1"/>
          </a:solidFill>
          <a:latin typeface="TradeGothic"/>
          <a:ea typeface="ＭＳ Ｐゴシック" charset="0"/>
          <a:cs typeface="+mn-cs"/>
        </a:defRPr>
      </a:lvl3pPr>
      <a:lvl4pPr marL="16002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4pPr>
      <a:lvl5pPr marL="20574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hyperlink" Target="https://apix-portal.pages.dev"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hyperlink" Target="https://ec.europa.eu/eurostat/documents/272892/12032198/Guidelines-web-scraping-HICP-11-2020.pdf" TargetMode="External"/><Relationship Id="rId5" Type="http://schemas.openxmlformats.org/officeDocument/2006/relationships/hyperlink" Target="https://www.ons.gov.uk/economy/inflationandpriceindices/articles/researchindicesusingwebscrapedpricedata/august2017update/previous/v1/pdf" TargetMode="External"/><Relationship Id="rId6" Type="http://schemas.openxmlformats.org/officeDocument/2006/relationships/hyperlink" Target="https://www.dgca.gov.in/digigov-portal/" TargetMode="External"/><Relationship Id="rId7" Type="http://schemas.openxmlformats.org/officeDocument/2006/relationships/hyperlink" Target="https://www.rfc-editor.org/rfc/rfc9309" TargetMode="External"/><Relationship Id="rId8" Type="http://schemas.openxmlformats.org/officeDocument/2006/relationships/hyperlink" Target="https://www.cpi.mospi.gov.in/PDFile/CPI-Changes_in_the_Revised_Series.pdf" TargetMode="External"/><Relationship Id="rId9" Type="http://schemas.openxmlformats.org/officeDocument/2006/relationships/hyperlink" Target="https://github.com/BradCage-afk/sih-2026-airfare-index" TargetMode="External"/><Relationship Id="rId10" Type="http://schemas.openxmlformats.org/officeDocument/2006/relationships/image" Target="../media/image6.png"/><Relationship Id="rId11" Type="http://schemas.openxmlformats.org/officeDocument/2006/relationships/hyperlink" Target="https://apix-api-n5ux.onrender.com/docs"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24">
            <a:extLst>
              <a:ext uri="{FF2B5EF4-FFF2-40B4-BE49-F238E27FC236}">
                <a16:creationId xmlns:a16="http://schemas.microsoft.com/office/drawing/2014/main" id="{3E443FD7-A66B-4AA0-872D-B088B9BC5F1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00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Shape 26">
            <a:extLst>
              <a:ext uri="{FF2B5EF4-FFF2-40B4-BE49-F238E27FC236}">
                <a16:creationId xmlns:a16="http://schemas.microsoft.com/office/drawing/2014/main" id="{C04BE0EF-3561-49B4-9A29-F283168A91C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56780" y="851521"/>
            <a:ext cx="4638605" cy="5154967"/>
          </a:xfrm>
          <a:custGeom>
            <a:avLst/>
            <a:gdLst>
              <a:gd name="connsiteX0" fmla="*/ 363179 w 6184806"/>
              <a:gd name="connsiteY0" fmla="*/ 3125191 h 5154967"/>
              <a:gd name="connsiteX1" fmla="*/ 898270 w 6184806"/>
              <a:gd name="connsiteY1" fmla="*/ 3125191 h 5154967"/>
              <a:gd name="connsiteX2" fmla="*/ 980326 w 6184806"/>
              <a:gd name="connsiteY2" fmla="*/ 3173551 h 5154967"/>
              <a:gd name="connsiteX3" fmla="*/ 1248448 w 6184806"/>
              <a:gd name="connsiteY3" fmla="*/ 3635277 h 5154967"/>
              <a:gd name="connsiteX4" fmla="*/ 1248448 w 6184806"/>
              <a:gd name="connsiteY4" fmla="*/ 3729695 h 5154967"/>
              <a:gd name="connsiteX5" fmla="*/ 980326 w 6184806"/>
              <a:gd name="connsiteY5" fmla="*/ 4191421 h 5154967"/>
              <a:gd name="connsiteX6" fmla="*/ 898270 w 6184806"/>
              <a:gd name="connsiteY6" fmla="*/ 4239781 h 5154967"/>
              <a:gd name="connsiteX7" fmla="*/ 363179 w 6184806"/>
              <a:gd name="connsiteY7" fmla="*/ 4239781 h 5154967"/>
              <a:gd name="connsiteX8" fmla="*/ 279969 w 6184806"/>
              <a:gd name="connsiteY8" fmla="*/ 4191421 h 5154967"/>
              <a:gd name="connsiteX9" fmla="*/ 13002 w 6184806"/>
              <a:gd name="connsiteY9" fmla="*/ 3729695 h 5154967"/>
              <a:gd name="connsiteX10" fmla="*/ 13002 w 6184806"/>
              <a:gd name="connsiteY10" fmla="*/ 3635277 h 5154967"/>
              <a:gd name="connsiteX11" fmla="*/ 279969 w 6184806"/>
              <a:gd name="connsiteY11" fmla="*/ 3173551 h 5154967"/>
              <a:gd name="connsiteX12" fmla="*/ 363179 w 6184806"/>
              <a:gd name="connsiteY12" fmla="*/ 3125191 h 5154967"/>
              <a:gd name="connsiteX13" fmla="*/ 2489721 w 6184806"/>
              <a:gd name="connsiteY13" fmla="*/ 570035 h 5154967"/>
              <a:gd name="connsiteX14" fmla="*/ 2764862 w 6184806"/>
              <a:gd name="connsiteY14" fmla="*/ 570035 h 5154967"/>
              <a:gd name="connsiteX15" fmla="*/ 2796959 w 6184806"/>
              <a:gd name="connsiteY15" fmla="*/ 570035 h 5154967"/>
              <a:gd name="connsiteX16" fmla="*/ 2827587 w 6184806"/>
              <a:gd name="connsiteY16" fmla="*/ 622777 h 5154967"/>
              <a:gd name="connsiteX17" fmla="*/ 2977604 w 6184806"/>
              <a:gd name="connsiteY17" fmla="*/ 881117 h 5154967"/>
              <a:gd name="connsiteX18" fmla="*/ 2977604 w 6184806"/>
              <a:gd name="connsiteY18" fmla="*/ 1025720 h 5154967"/>
              <a:gd name="connsiteX19" fmla="*/ 2566968 w 6184806"/>
              <a:gd name="connsiteY19" fmla="*/ 1732863 h 5154967"/>
              <a:gd name="connsiteX20" fmla="*/ 2441299 w 6184806"/>
              <a:gd name="connsiteY20" fmla="*/ 1806927 h 5154967"/>
              <a:gd name="connsiteX21" fmla="*/ 1621798 w 6184806"/>
              <a:gd name="connsiteY21" fmla="*/ 1806927 h 5154967"/>
              <a:gd name="connsiteX22" fmla="*/ 1583218 w 6184806"/>
              <a:gd name="connsiteY22" fmla="*/ 1801802 h 5154967"/>
              <a:gd name="connsiteX23" fmla="*/ 1556683 w 6184806"/>
              <a:gd name="connsiteY23" fmla="*/ 1790677 h 5154967"/>
              <a:gd name="connsiteX24" fmla="*/ 1572899 w 6184806"/>
              <a:gd name="connsiteY24" fmla="*/ 1762630 h 5154967"/>
              <a:gd name="connsiteX25" fmla="*/ 2147429 w 6184806"/>
              <a:gd name="connsiteY25" fmla="*/ 768968 h 5154967"/>
              <a:gd name="connsiteX26" fmla="*/ 2489721 w 6184806"/>
              <a:gd name="connsiteY26" fmla="*/ 570035 h 5154967"/>
              <a:gd name="connsiteX27" fmla="*/ 1573268 w 6184806"/>
              <a:gd name="connsiteY27" fmla="*/ 0 h 5154967"/>
              <a:gd name="connsiteX28" fmla="*/ 2497662 w 6184806"/>
              <a:gd name="connsiteY28" fmla="*/ 0 h 5154967"/>
              <a:gd name="connsiteX29" fmla="*/ 2639415 w 6184806"/>
              <a:gd name="connsiteY29" fmla="*/ 83546 h 5154967"/>
              <a:gd name="connsiteX30" fmla="*/ 2887862 w 6184806"/>
              <a:gd name="connsiteY30" fmla="*/ 511387 h 5154967"/>
              <a:gd name="connsiteX31" fmla="*/ 2915928 w 6184806"/>
              <a:gd name="connsiteY31" fmla="*/ 559720 h 5154967"/>
              <a:gd name="connsiteX32" fmla="*/ 2893844 w 6184806"/>
              <a:gd name="connsiteY32" fmla="*/ 559720 h 5154967"/>
              <a:gd name="connsiteX33" fmla="*/ 2789466 w 6184806"/>
              <a:gd name="connsiteY33" fmla="*/ 559720 h 5154967"/>
              <a:gd name="connsiteX34" fmla="*/ 2744122 w 6184806"/>
              <a:gd name="connsiteY34" fmla="*/ 481634 h 5154967"/>
              <a:gd name="connsiteX35" fmla="*/ 2570885 w 6184806"/>
              <a:gd name="connsiteY35" fmla="*/ 183309 h 5154967"/>
              <a:gd name="connsiteX36" fmla="*/ 2445216 w 6184806"/>
              <a:gd name="connsiteY36" fmla="*/ 109243 h 5154967"/>
              <a:gd name="connsiteX37" fmla="*/ 1625714 w 6184806"/>
              <a:gd name="connsiteY37" fmla="*/ 109243 h 5154967"/>
              <a:gd name="connsiteX38" fmla="*/ 1498276 w 6184806"/>
              <a:gd name="connsiteY38" fmla="*/ 183309 h 5154967"/>
              <a:gd name="connsiteX39" fmla="*/ 1089410 w 6184806"/>
              <a:gd name="connsiteY39" fmla="*/ 890450 h 5154967"/>
              <a:gd name="connsiteX40" fmla="*/ 1089410 w 6184806"/>
              <a:gd name="connsiteY40" fmla="*/ 1035054 h 5154967"/>
              <a:gd name="connsiteX41" fmla="*/ 1498276 w 6184806"/>
              <a:gd name="connsiteY41" fmla="*/ 1742196 h 5154967"/>
              <a:gd name="connsiteX42" fmla="*/ 1552039 w 6184806"/>
              <a:gd name="connsiteY42" fmla="*/ 1796422 h 5154967"/>
              <a:gd name="connsiteX43" fmla="*/ 1558260 w 6184806"/>
              <a:gd name="connsiteY43" fmla="*/ 1799029 h 5154967"/>
              <a:gd name="connsiteX44" fmla="*/ 1524911 w 6184806"/>
              <a:gd name="connsiteY44" fmla="*/ 1856707 h 5154967"/>
              <a:gd name="connsiteX45" fmla="*/ 1500108 w 6184806"/>
              <a:gd name="connsiteY45" fmla="*/ 1899604 h 5154967"/>
              <a:gd name="connsiteX46" fmla="*/ 1525834 w 6184806"/>
              <a:gd name="connsiteY46" fmla="*/ 1910390 h 5154967"/>
              <a:gd name="connsiteX47" fmla="*/ 1569352 w 6184806"/>
              <a:gd name="connsiteY47" fmla="*/ 1916170 h 5154967"/>
              <a:gd name="connsiteX48" fmla="*/ 2493745 w 6184806"/>
              <a:gd name="connsiteY48" fmla="*/ 1916170 h 5154967"/>
              <a:gd name="connsiteX49" fmla="*/ 2635498 w 6184806"/>
              <a:gd name="connsiteY49" fmla="*/ 1832627 h 5154967"/>
              <a:gd name="connsiteX50" fmla="*/ 3098693 w 6184806"/>
              <a:gd name="connsiteY50" fmla="*/ 1034974 h 5154967"/>
              <a:gd name="connsiteX51" fmla="*/ 3098693 w 6184806"/>
              <a:gd name="connsiteY51" fmla="*/ 871863 h 5154967"/>
              <a:gd name="connsiteX52" fmla="*/ 2945803 w 6184806"/>
              <a:gd name="connsiteY52" fmla="*/ 608576 h 5154967"/>
              <a:gd name="connsiteX53" fmla="*/ 2923422 w 6184806"/>
              <a:gd name="connsiteY53" fmla="*/ 570035 h 5154967"/>
              <a:gd name="connsiteX54" fmla="*/ 3027104 w 6184806"/>
              <a:gd name="connsiteY54" fmla="*/ 570035 h 5154967"/>
              <a:gd name="connsiteX55" fmla="*/ 4690846 w 6184806"/>
              <a:gd name="connsiteY55" fmla="*/ 570035 h 5154967"/>
              <a:gd name="connsiteX56" fmla="*/ 5028384 w 6184806"/>
              <a:gd name="connsiteY56" fmla="*/ 768968 h 5154967"/>
              <a:gd name="connsiteX57" fmla="*/ 6131323 w 6184806"/>
              <a:gd name="connsiteY57" fmla="*/ 2668304 h 5154967"/>
              <a:gd name="connsiteX58" fmla="*/ 6131323 w 6184806"/>
              <a:gd name="connsiteY58" fmla="*/ 3056698 h 5154967"/>
              <a:gd name="connsiteX59" fmla="*/ 5028384 w 6184806"/>
              <a:gd name="connsiteY59" fmla="*/ 4956035 h 5154967"/>
              <a:gd name="connsiteX60" fmla="*/ 4690846 w 6184806"/>
              <a:gd name="connsiteY60" fmla="*/ 5154967 h 5154967"/>
              <a:gd name="connsiteX61" fmla="*/ 2489721 w 6184806"/>
              <a:gd name="connsiteY61" fmla="*/ 5154967 h 5154967"/>
              <a:gd name="connsiteX62" fmla="*/ 2147429 w 6184806"/>
              <a:gd name="connsiteY62" fmla="*/ 4956035 h 5154967"/>
              <a:gd name="connsiteX63" fmla="*/ 1049243 w 6184806"/>
              <a:gd name="connsiteY63" fmla="*/ 3056698 h 5154967"/>
              <a:gd name="connsiteX64" fmla="*/ 1049243 w 6184806"/>
              <a:gd name="connsiteY64" fmla="*/ 2668304 h 5154967"/>
              <a:gd name="connsiteX65" fmla="*/ 1457007 w 6184806"/>
              <a:gd name="connsiteY65" fmla="*/ 1963067 h 5154967"/>
              <a:gd name="connsiteX66" fmla="*/ 1491373 w 6184806"/>
              <a:gd name="connsiteY66" fmla="*/ 1903634 h 5154967"/>
              <a:gd name="connsiteX67" fmla="*/ 1490164 w 6184806"/>
              <a:gd name="connsiteY67" fmla="*/ 1903127 h 5154967"/>
              <a:gd name="connsiteX68" fmla="*/ 1429519 w 6184806"/>
              <a:gd name="connsiteY68" fmla="*/ 1841960 h 5154967"/>
              <a:gd name="connsiteX69" fmla="*/ 968320 w 6184806"/>
              <a:gd name="connsiteY69" fmla="*/ 1044307 h 5154967"/>
              <a:gd name="connsiteX70" fmla="*/ 968320 w 6184806"/>
              <a:gd name="connsiteY70" fmla="*/ 881196 h 5154967"/>
              <a:gd name="connsiteX71" fmla="*/ 1429519 w 6184806"/>
              <a:gd name="connsiteY71" fmla="*/ 83546 h 5154967"/>
              <a:gd name="connsiteX72" fmla="*/ 1573268 w 6184806"/>
              <a:gd name="connsiteY72" fmla="*/ 0 h 51549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Lst>
            <a:rect l="l" t="t" r="r" b="b"/>
            <a:pathLst>
              <a:path w="6184806" h="5154967">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a:schemeClr val="tx1">
              <a:lumMod val="50000"/>
              <a:lumOff val="50000"/>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Picture 4">
            <a:extLst>
              <a:ext uri="{FF2B5EF4-FFF2-40B4-BE49-F238E27FC236}">
                <a16:creationId xmlns:a16="http://schemas.microsoft.com/office/drawing/2014/main" id="{9120848B-B2B4-45BE-A961-AEC0B06CF41B}"/>
              </a:ext>
            </a:extLst>
          </p:cNvPr>
          <p:cNvPicPr>
            <a:picLocks noChangeAspect="1"/>
          </p:cNvPicPr>
          <p:nvPr/>
        </p:nvPicPr>
        <p:blipFill rotWithShape="1">
          <a:blip r:embed="rId2"/>
          <a:srcRect r="59916"/>
          <a:stretch/>
        </p:blipFill>
        <p:spPr>
          <a:xfrm>
            <a:off x="6854891" y="1715881"/>
            <a:ext cx="3203509" cy="3426237"/>
          </a:xfrm>
          <a:prstGeom prst="rect">
            <a:avLst/>
          </a:prstGeom>
        </p:spPr>
      </p:pic>
      <p:sp>
        <p:nvSpPr>
          <p:cNvPr id="8" name="Title 7"/>
          <p:cNvSpPr>
            <a:spLocks noGrp="1"/>
          </p:cNvSpPr>
          <p:nvPr>
            <p:ph type="ctrTitle"/>
          </p:nvPr>
        </p:nvSpPr>
        <p:spPr>
          <a:xfrm>
            <a:off x="331286" y="-526757"/>
            <a:ext cx="10363200" cy="2076450"/>
          </a:xfrm>
        </p:spPr>
        <p:txBody>
          <a:bodyPr/>
          <a:lstStyle/>
          <a:p>
            <a:r>
              <a:rPr lang="en-US" sz="4000" b="1" dirty="0">
                <a:solidFill>
                  <a:schemeClr val="tx2"/>
                </a:solidFill>
                <a:latin typeface="Garamond" panose="02020404030301010803" pitchFamily="18" charset="0"/>
              </a:rPr>
              <a:t>SMART INDIA HACKATHON </a:t>
            </a:r>
            <a:r>
              <a:rPr lang="en-US" sz="4000" b="1" dirty="0" smtClean="0">
                <a:solidFill>
                  <a:schemeClr val="tx2"/>
                </a:solidFill>
                <a:latin typeface="Garamond" panose="02020404030301010803" pitchFamily="18" charset="0"/>
              </a:rPr>
              <a:t>2026</a:t>
            </a:r>
            <a:endParaRPr lang="en-IN" sz="4000" b="1" dirty="0">
              <a:solidFill>
                <a:schemeClr val="tx2"/>
              </a:solidFill>
              <a:latin typeface="Garamond" panose="02020404030301010803" pitchFamily="18" charset="0"/>
            </a:endParaRPr>
          </a:p>
        </p:txBody>
      </p:sp>
      <p:sp>
        <p:nvSpPr>
          <p:cNvPr id="10" name="TextBox 9"/>
          <p:cNvSpPr txBox="1"/>
          <p:nvPr/>
        </p:nvSpPr>
        <p:spPr>
          <a:xfrm>
            <a:off x="384048" y="1965960"/>
            <a:ext cx="5806440" cy="4526280"/>
          </a:xfrm>
          <a:prstGeom prst="rect">
            <a:avLst/>
          </a:prstGeom>
          <a:noFill/>
        </p:spPr>
        <p:txBody>
          <a:bodyPr wrap="square" rtlCol="0" lIns="36576" rIns="36576" tIns="18288" bIns="18288">
            <a:spAutoFit/>
          </a:bodyPr>
          <a:lstStyle/>
          <a:p>
            <a:pPr>
              <a:lnSpc>
                <a:spcPct val="95000"/>
              </a:lnSpc>
              <a:spcBef>
                <a:spcPts val="0"/>
              </a:spcBef>
              <a:spcAft>
                <a:spcPts val="0"/>
              </a:spcAft>
            </a:pPr>
            <a:r>
              <a:rPr sz="950" b="1">
                <a:solidFill>
                  <a:srgbClr val="4F81BD"/>
                </a:solidFill>
                <a:latin typeface="Arial"/>
              </a:rPr>
              <a:t>PROBLEM STATEMENT ID</a:t>
            </a:r>
            <a:endParaRPr lang="en-US" dirty="0"/>
          </a:p>
          <a:p>
            <a:pPr>
              <a:lnSpc>
                <a:spcPct val="95000"/>
              </a:lnSpc>
              <a:spcBef>
                <a:spcPts val="100"/>
              </a:spcBef>
              <a:spcAft>
                <a:spcPts val="0"/>
              </a:spcAft>
            </a:pPr>
            <a:r>
              <a:rPr sz="1300" b="1">
                <a:solidFill>
                  <a:srgbClr val="262B33"/>
                </a:solidFill>
                <a:latin typeface="Arial"/>
              </a:rPr>
              <a:t>SIH26056</a:t>
            </a:r>
          </a:p>
          <a:p>
            <a:pPr>
              <a:lnSpc>
                <a:spcPct val="95000"/>
              </a:lnSpc>
              <a:spcBef>
                <a:spcPts val="900"/>
              </a:spcBef>
              <a:spcAft>
                <a:spcPts val="0"/>
              </a:spcAft>
            </a:pPr>
            <a:r>
              <a:rPr sz="950" b="1">
                <a:solidFill>
                  <a:srgbClr val="4F81BD"/>
                </a:solidFill>
                <a:latin typeface="Arial"/>
              </a:rPr>
              <a:t>PROBLEM STATEMENT TITLE</a:t>
            </a:r>
          </a:p>
          <a:p>
            <a:pPr>
              <a:lnSpc>
                <a:spcPct val="95000"/>
              </a:lnSpc>
              <a:spcBef>
                <a:spcPts val="100"/>
              </a:spcBef>
              <a:spcAft>
                <a:spcPts val="0"/>
              </a:spcAft>
            </a:pPr>
            <a:r>
              <a:rPr sz="1200" b="1">
                <a:solidFill>
                  <a:srgbClr val="262B33"/>
                </a:solidFill>
                <a:latin typeface="Arial"/>
              </a:rPr>
              <a:t>Development of a Real-time Airfare Price Index for India through Automated Web Scraping of Airline and Online Travel Aggregator Portals for Augmentation of the Consumer Price Index (CPI)</a:t>
            </a:r>
          </a:p>
          <a:p>
            <a:pPr>
              <a:lnSpc>
                <a:spcPct val="95000"/>
              </a:lnSpc>
              <a:spcBef>
                <a:spcPts val="900"/>
              </a:spcBef>
              <a:spcAft>
                <a:spcPts val="0"/>
              </a:spcAft>
            </a:pPr>
            <a:r>
              <a:rPr sz="950" b="1">
                <a:solidFill>
                  <a:srgbClr val="4F81BD"/>
                </a:solidFill>
                <a:latin typeface="Arial"/>
              </a:rPr>
              <a:t>THEME</a:t>
            </a:r>
          </a:p>
          <a:p>
            <a:pPr>
              <a:lnSpc>
                <a:spcPct val="95000"/>
              </a:lnSpc>
              <a:spcBef>
                <a:spcPts val="100"/>
              </a:spcBef>
              <a:spcAft>
                <a:spcPts val="0"/>
              </a:spcAft>
            </a:pPr>
            <a:r>
              <a:rPr sz="1300" b="1">
                <a:solidFill>
                  <a:srgbClr val="262B33"/>
                </a:solidFill>
                <a:latin typeface="Arial"/>
              </a:rPr>
              <a:t>Travel &amp; Tourism</a:t>
            </a:r>
          </a:p>
          <a:p>
            <a:pPr>
              <a:lnSpc>
                <a:spcPct val="95000"/>
              </a:lnSpc>
              <a:spcBef>
                <a:spcPts val="900"/>
              </a:spcBef>
              <a:spcAft>
                <a:spcPts val="0"/>
              </a:spcAft>
            </a:pPr>
            <a:r>
              <a:rPr sz="950" b="1">
                <a:solidFill>
                  <a:srgbClr val="4F81BD"/>
                </a:solidFill>
                <a:latin typeface="Arial"/>
              </a:rPr>
              <a:t>PS CATEGORY</a:t>
            </a:r>
          </a:p>
          <a:p>
            <a:pPr>
              <a:lnSpc>
                <a:spcPct val="95000"/>
              </a:lnSpc>
              <a:spcBef>
                <a:spcPts val="100"/>
              </a:spcBef>
              <a:spcAft>
                <a:spcPts val="0"/>
              </a:spcAft>
            </a:pPr>
            <a:r>
              <a:rPr sz="1300" b="1">
                <a:solidFill>
                  <a:srgbClr val="262B33"/>
                </a:solidFill>
                <a:latin typeface="Arial"/>
              </a:rPr>
              <a:t>Software</a:t>
            </a:r>
          </a:p>
          <a:p>
            <a:pPr>
              <a:lnSpc>
                <a:spcPct val="95000"/>
              </a:lnSpc>
              <a:spcBef>
                <a:spcPts val="900"/>
              </a:spcBef>
              <a:spcAft>
                <a:spcPts val="0"/>
              </a:spcAft>
            </a:pPr>
            <a:r>
              <a:rPr sz="950" b="1">
                <a:solidFill>
                  <a:srgbClr val="4F81BD"/>
                </a:solidFill>
                <a:latin typeface="Arial"/>
              </a:rPr>
              <a:t>SPONSORING MINISTRY</a:t>
            </a:r>
          </a:p>
          <a:p>
            <a:pPr>
              <a:lnSpc>
                <a:spcPct val="95000"/>
              </a:lnSpc>
              <a:spcBef>
                <a:spcPts val="100"/>
              </a:spcBef>
              <a:spcAft>
                <a:spcPts val="0"/>
              </a:spcAft>
            </a:pPr>
            <a:r>
              <a:rPr sz="1300" b="1">
                <a:solidFill>
                  <a:srgbClr val="262B33"/>
                </a:solidFill>
                <a:latin typeface="Arial"/>
              </a:rPr>
              <a:t>MoSPI — Ministry of Statistics and Programme Implementation</a:t>
            </a:r>
          </a:p>
          <a:p>
            <a:pPr>
              <a:lnSpc>
                <a:spcPct val="95000"/>
              </a:lnSpc>
              <a:spcBef>
                <a:spcPts val="900"/>
              </a:spcBef>
              <a:spcAft>
                <a:spcPts val="0"/>
              </a:spcAft>
            </a:pPr>
            <a:r>
              <a:rPr sz="950" b="1">
                <a:solidFill>
                  <a:srgbClr val="4F81BD"/>
                </a:solidFill>
                <a:latin typeface="Arial"/>
              </a:rPr>
              <a:t>TEAM ID</a:t>
            </a:r>
          </a:p>
          <a:p>
            <a:pPr>
              <a:lnSpc>
                <a:spcPct val="95000"/>
              </a:lnSpc>
              <a:spcBef>
                <a:spcPts val="100"/>
              </a:spcBef>
              <a:spcAft>
                <a:spcPts val="0"/>
              </a:spcAft>
            </a:pPr>
            <a:r>
              <a:rPr sz="1300" b="1">
                <a:solidFill>
                  <a:srgbClr val="262B33"/>
                </a:solidFill>
                <a:latin typeface="Arial"/>
              </a:rPr>
              <a:t>‹TEAM ID›</a:t>
            </a:r>
          </a:p>
          <a:p>
            <a:pPr>
              <a:lnSpc>
                <a:spcPct val="95000"/>
              </a:lnSpc>
              <a:spcBef>
                <a:spcPts val="900"/>
              </a:spcBef>
              <a:spcAft>
                <a:spcPts val="0"/>
              </a:spcAft>
            </a:pPr>
            <a:r>
              <a:rPr sz="950" b="1">
                <a:solidFill>
                  <a:srgbClr val="4F81BD"/>
                </a:solidFill>
                <a:latin typeface="Arial"/>
              </a:rPr>
              <a:t>TEAM NAME</a:t>
            </a:r>
          </a:p>
          <a:p>
            <a:pPr>
              <a:lnSpc>
                <a:spcPct val="95000"/>
              </a:lnSpc>
              <a:spcBef>
                <a:spcPts val="100"/>
              </a:spcBef>
              <a:spcAft>
                <a:spcPts val="0"/>
              </a:spcAft>
            </a:pPr>
            <a:r>
              <a:rPr sz="1300" b="1">
                <a:solidFill>
                  <a:srgbClr val="262B33"/>
                </a:solidFill>
                <a:latin typeface="Arial"/>
              </a:rPr>
              <a:t>Fare Enough  (as registered on portal)</a:t>
            </a: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5361" name="Title 1"/>
          <p:cNvSpPr>
            <a:spLocks noGrp="1"/>
          </p:cNvSpPr>
          <p:nvPr>
            <p:ph type="title"/>
          </p:nvPr>
        </p:nvSpPr>
        <p:spPr>
          <a:xfrm>
            <a:off x="182998" y="0"/>
            <a:ext cx="10972800" cy="1143000"/>
          </a:xfrm>
        </p:spPr>
        <p:txBody>
          <a:bodyPr/>
          <a:lstStyle/>
          <a:p>
            <a:pPr eaLnBrk="1" hangingPunct="1" algn="ctr"/>
            <a:r>
              <a:rPr sz="2800" b="1">
                <a:solidFill>
                  <a:srgbClr val="1F497D"/>
                </a:solidFill>
                <a:latin typeface="Times New Roman"/>
              </a:rPr>
              <a:t>WHY WE STAND OUT</a:t>
            </a:r>
          </a:p>
        </p:txBody>
      </p:sp>
      <p:sp>
        <p:nvSpPr>
          <p:cNvPr id="6" name="Slide Number Placeholder 5"/>
          <p:cNvSpPr>
            <a:spLocks noGrp="1"/>
          </p:cNvSpPr>
          <p:nvPr>
            <p:ph type="sldNum" sz="quarter" idx="12"/>
          </p:nvPr>
        </p:nvSpPr>
        <p:spPr/>
        <p:txBody>
          <a:bodyPr/>
          <a:lstStyle/>
          <a:p>
            <a:fld id="{677C3CE7-23F7-4828-823C-E0205DF2CF97}" type="slidenum">
              <a:rPr lang="en-US" b="1" smtClean="0">
                <a:solidFill>
                  <a:schemeClr val="bg1"/>
                </a:solidFill>
              </a:rPr>
              <a:pPr/>
              <a:t>2</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0" name="Oval 9"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050" b="1"/>
              <a:t>Fare Enough</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5362" name="TextBox 15361"/>
          <p:cNvSpPr txBox="1"/>
          <p:nvPr/>
        </p:nvSpPr>
        <p:spPr>
          <a:xfrm>
            <a:off x="411480" y="1078992"/>
            <a:ext cx="7863840" cy="548640"/>
          </a:xfrm>
          <a:prstGeom prst="rect">
            <a:avLst/>
          </a:prstGeom>
          <a:noFill/>
        </p:spPr>
        <p:txBody>
          <a:bodyPr wrap="square" lIns="36576" rIns="36576" tIns="18288" bIns="18288">
            <a:spAutoFit/>
          </a:bodyPr>
          <a:lstStyle/>
          <a:p>
            <a:pPr>
              <a:lnSpc>
                <a:spcPct val="95000"/>
              </a:lnSpc>
              <a:spcBef>
                <a:spcPts val="0"/>
              </a:spcBef>
              <a:spcAft>
                <a:spcPts val="0"/>
              </a:spcAft>
            </a:pPr>
            <a:r>
              <a:rPr sz="1600" b="1">
                <a:solidFill>
                  <a:srgbClr val="1F497D"/>
                </a:solidFill>
                <a:latin typeface="Arial"/>
              </a:rPr>
              <a:t>APIx  —  a daily airfare inflation index for the CPI</a:t>
            </a:r>
          </a:p>
          <a:p>
            <a:pPr>
              <a:lnSpc>
                <a:spcPct val="95000"/>
              </a:lnSpc>
              <a:spcBef>
                <a:spcPts val="400"/>
              </a:spcBef>
              <a:spcAft>
                <a:spcPts val="0"/>
              </a:spcAft>
            </a:pPr>
            <a:r>
              <a:rPr sz="1350" b="0">
                <a:solidFill>
                  <a:srgbClr val="5A626C"/>
                </a:solidFill>
                <a:latin typeface="Arial"/>
              </a:rPr>
              <a:t>India's CPI prices air travel from monthly manual visits. We measure it every ten minutes and publish it in a form MoSPI can ingest.</a:t>
            </a:r>
          </a:p>
        </p:txBody>
      </p:sp>
      <p:sp>
        <p:nvSpPr>
          <p:cNvPr id="15363" name="Rounded Rectangle 15362"/>
          <p:cNvSpPr/>
          <p:nvPr/>
        </p:nvSpPr>
        <p:spPr>
          <a:xfrm>
            <a:off x="411480" y="2048256"/>
            <a:ext cx="3703320" cy="1481328"/>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400" b="1">
                <a:solidFill>
                  <a:srgbClr val="4F81BD"/>
                </a:solidFill>
                <a:latin typeface="Arial"/>
              </a:rPr>
              <a:t>The standard method,
not a homemade average</a:t>
            </a:r>
          </a:p>
          <a:p>
            <a:pPr>
              <a:lnSpc>
                <a:spcPct val="95000"/>
              </a:lnSpc>
              <a:spcBef>
                <a:spcPts val="500"/>
              </a:spcBef>
              <a:spcAft>
                <a:spcPts val="0"/>
              </a:spcAft>
            </a:pPr>
            <a:r>
              <a:rPr sz="1200" b="0">
                <a:solidFill>
                  <a:srgbClr val="262B33"/>
                </a:solidFill>
                <a:latin typeface="Arial"/>
              </a:rPr>
              <a:t>Weighted Jevons on minimum logical fares — the elementary-aggregate method Eurostat and ONS use for their own price indices.</a:t>
            </a:r>
          </a:p>
        </p:txBody>
      </p:sp>
      <p:sp>
        <p:nvSpPr>
          <p:cNvPr id="15364" name="Rectangle 15363"/>
          <p:cNvSpPr/>
          <p:nvPr/>
        </p:nvSpPr>
        <p:spPr>
          <a:xfrm>
            <a:off x="411480" y="2048256"/>
            <a:ext cx="3703320" cy="64008"/>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65" name="Rounded Rectangle 15364"/>
          <p:cNvSpPr/>
          <p:nvPr/>
        </p:nvSpPr>
        <p:spPr>
          <a:xfrm>
            <a:off x="4370832" y="2048256"/>
            <a:ext cx="3703320" cy="1481328"/>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400" b="1">
                <a:solidFill>
                  <a:srgbClr val="1B8A5A"/>
                </a:solidFill>
                <a:latin typeface="Arial"/>
              </a:rPr>
              <a:t>Weighting is a matrix,
not a guess</a:t>
            </a:r>
          </a:p>
          <a:p>
            <a:pPr>
              <a:lnSpc>
                <a:spcPct val="95000"/>
              </a:lnSpc>
              <a:spcBef>
                <a:spcPts val="500"/>
              </a:spcBef>
              <a:spcAft>
                <a:spcPts val="0"/>
              </a:spcAft>
            </a:pPr>
            <a:r>
              <a:rPr sz="1200" b="0">
                <a:solidFill>
                  <a:srgbClr val="262B33"/>
                </a:solidFill>
                <a:latin typeface="Arial"/>
              </a:rPr>
              <a:t>Every cell is weighted by route share of scheduled seats × booking lead time, so Delhi–Mumbai moves the index three times as much as Delhi–Srinagar.</a:t>
            </a:r>
          </a:p>
        </p:txBody>
      </p:sp>
      <p:sp>
        <p:nvSpPr>
          <p:cNvPr id="15366" name="Rectangle 15365"/>
          <p:cNvSpPr/>
          <p:nvPr/>
        </p:nvSpPr>
        <p:spPr>
          <a:xfrm>
            <a:off x="4370832" y="2048256"/>
            <a:ext cx="3703320" cy="64008"/>
          </a:xfrm>
          <a:prstGeom prst="rect">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67" name="Rounded Rectangle 15366"/>
          <p:cNvSpPr/>
          <p:nvPr/>
        </p:nvSpPr>
        <p:spPr>
          <a:xfrm>
            <a:off x="8330183" y="2048256"/>
            <a:ext cx="3703320" cy="1481328"/>
          </a:xfrm>
          <a:prstGeom prst="roundRect">
            <a:avLst>
              <a:gd name="adj" fmla="val 6000"/>
            </a:avLst>
          </a:prstGeom>
          <a:solidFill>
            <a:srgbClr val="FB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400" b="1">
                <a:solidFill>
                  <a:srgbClr val="C77700"/>
                </a:solidFill>
                <a:latin typeface="Arial"/>
              </a:rPr>
              <a:t>It knows when not
to publish</a:t>
            </a:r>
          </a:p>
          <a:p>
            <a:pPr>
              <a:lnSpc>
                <a:spcPct val="95000"/>
              </a:lnSpc>
              <a:spcBef>
                <a:spcPts val="500"/>
              </a:spcBef>
              <a:spcAft>
                <a:spcPts val="0"/>
              </a:spcAft>
            </a:pPr>
            <a:r>
              <a:rPr sz="1200" b="0">
                <a:solidFill>
                  <a:srgbClr val="262B33"/>
                </a:solidFill>
                <a:latin typeface="Arial"/>
              </a:rPr>
              <a:t>Below 60% basket coverage a figure is marked provisional with the reason. An index that admits thin coverage is worth more than one that never does.</a:t>
            </a:r>
          </a:p>
        </p:txBody>
      </p:sp>
      <p:sp>
        <p:nvSpPr>
          <p:cNvPr id="15368" name="Rectangle 15367"/>
          <p:cNvSpPr/>
          <p:nvPr/>
        </p:nvSpPr>
        <p:spPr>
          <a:xfrm>
            <a:off x="8330183" y="2048256"/>
            <a:ext cx="3703320" cy="64008"/>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69" name="Rounded Rectangle 15368"/>
          <p:cNvSpPr/>
          <p:nvPr/>
        </p:nvSpPr>
        <p:spPr>
          <a:xfrm>
            <a:off x="411480" y="3694176"/>
            <a:ext cx="3703320" cy="1481328"/>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400" b="1">
                <a:solidFill>
                  <a:srgbClr val="4B3F8C"/>
                </a:solidFill>
                <a:latin typeface="Arial"/>
              </a:rPr>
              <a:t>Machine-readable
for MoSPI</a:t>
            </a:r>
          </a:p>
          <a:p>
            <a:pPr>
              <a:lnSpc>
                <a:spcPct val="95000"/>
              </a:lnSpc>
              <a:spcBef>
                <a:spcPts val="500"/>
              </a:spcBef>
              <a:spcAft>
                <a:spcPts val="0"/>
              </a:spcAft>
            </a:pPr>
            <a:r>
              <a:rPr sz="1200" b="0">
                <a:solidFill>
                  <a:srgbClr val="262B33"/>
                </a:solidFill>
                <a:latin typeface="Arial"/>
              </a:rPr>
              <a:t>An authenticated REST endpoint returns the index with its method, coverage and revision history. Nobody retypes a number from a screen.</a:t>
            </a:r>
          </a:p>
        </p:txBody>
      </p:sp>
      <p:sp>
        <p:nvSpPr>
          <p:cNvPr id="15370" name="Rectangle 15369"/>
          <p:cNvSpPr/>
          <p:nvPr/>
        </p:nvSpPr>
        <p:spPr>
          <a:xfrm>
            <a:off x="411480" y="3694176"/>
            <a:ext cx="3703320" cy="64008"/>
          </a:xfrm>
          <a:prstGeom prst="rect">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1" name="Rounded Rectangle 15370"/>
          <p:cNvSpPr/>
          <p:nvPr/>
        </p:nvSpPr>
        <p:spPr>
          <a:xfrm>
            <a:off x="4370832" y="3694176"/>
            <a:ext cx="3703320" cy="1481328"/>
          </a:xfrm>
          <a:prstGeom prst="roundRect">
            <a:avLst>
              <a:gd name="adj" fmla="val 6000"/>
            </a:avLst>
          </a:prstGeom>
          <a:solidFill>
            <a:srgbClr val="E2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400" b="1">
                <a:solidFill>
                  <a:srgbClr val="0E7C86"/>
                </a:solidFill>
                <a:latin typeface="Arial"/>
              </a:rPr>
              <a:t>Compliance by
construction</a:t>
            </a:r>
          </a:p>
          <a:p>
            <a:pPr>
              <a:lnSpc>
                <a:spcPct val="95000"/>
              </a:lnSpc>
              <a:spcBef>
                <a:spcPts val="500"/>
              </a:spcBef>
              <a:spcAft>
                <a:spcPts val="0"/>
              </a:spcAft>
            </a:pPr>
            <a:r>
              <a:rPr sz="1200" b="0">
                <a:solidFill>
                  <a:srgbClr val="262B33"/>
                </a:solidFill>
                <a:latin typeface="Arial"/>
              </a:rPr>
              <a:t>robots.txt is checked to RFC 9309 before every single request. We wrote our own parser because Python's standard one gets it wrong.</a:t>
            </a:r>
          </a:p>
        </p:txBody>
      </p:sp>
      <p:sp>
        <p:nvSpPr>
          <p:cNvPr id="15372" name="Rectangle 15371"/>
          <p:cNvSpPr/>
          <p:nvPr/>
        </p:nvSpPr>
        <p:spPr>
          <a:xfrm>
            <a:off x="4370832" y="3694176"/>
            <a:ext cx="3703320" cy="6400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3" name="Rounded Rectangle 15372"/>
          <p:cNvSpPr/>
          <p:nvPr/>
        </p:nvSpPr>
        <p:spPr>
          <a:xfrm>
            <a:off x="8330183" y="3694176"/>
            <a:ext cx="3703320" cy="1481328"/>
          </a:xfrm>
          <a:prstGeom prst="roundRect">
            <a:avLst>
              <a:gd name="adj" fmla="val 6000"/>
            </a:avLst>
          </a:prstGeom>
          <a:solidFill>
            <a:srgbClr val="F4EA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400" b="1">
                <a:solidFill>
                  <a:srgbClr val="7A3E6B"/>
                </a:solidFill>
                <a:latin typeface="Arial"/>
              </a:rPr>
              <a:t>It never
estimates</a:t>
            </a:r>
          </a:p>
          <a:p>
            <a:pPr>
              <a:lnSpc>
                <a:spcPct val="95000"/>
              </a:lnSpc>
              <a:spcBef>
                <a:spcPts val="500"/>
              </a:spcBef>
              <a:spcAft>
                <a:spcPts val="0"/>
              </a:spcAft>
            </a:pPr>
            <a:r>
              <a:rPr sz="1200" b="0">
                <a:solidFill>
                  <a:srgbClr val="262B33"/>
                </a:solidFill>
                <a:latin typeface="Arial"/>
              </a:rPr>
              <a:t>Fields a portal does not publish stay NULL. Cells with too few observations are excluded, not filled in. The system says when it does not know.</a:t>
            </a:r>
          </a:p>
        </p:txBody>
      </p:sp>
      <p:sp>
        <p:nvSpPr>
          <p:cNvPr id="15374" name="Rectangle 15373"/>
          <p:cNvSpPr/>
          <p:nvPr/>
        </p:nvSpPr>
        <p:spPr>
          <a:xfrm>
            <a:off x="8330183" y="3694176"/>
            <a:ext cx="3703320" cy="64008"/>
          </a:xfrm>
          <a:prstGeom prst="rect">
            <a:avLst/>
          </a:prstGeom>
          <a:solidFill>
            <a:srgbClr val="7A3E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5" name="Rounded Rectangle 15374"/>
          <p:cNvSpPr/>
          <p:nvPr/>
        </p:nvSpPr>
        <p:spPr>
          <a:xfrm>
            <a:off x="411480" y="5285232"/>
            <a:ext cx="11338560" cy="640080"/>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400" b="1">
                <a:solidFill>
                  <a:srgbClr val="1B8A5A"/>
                </a:solidFill>
                <a:latin typeface="Arial"/>
              </a:rPr>
              <a:t>BUILT AND RUNNING · 36,000+ fares · 15 city pairs × 5 lead times · every 10 minutes · ₹0 a month</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7409" name="Title 1"/>
          <p:cNvSpPr>
            <a:spLocks noGrp="1"/>
          </p:cNvSpPr>
          <p:nvPr>
            <p:ph type="title"/>
          </p:nvPr>
        </p:nvSpPr>
        <p:spPr/>
        <p:txBody>
          <a:bodyPr/>
          <a:lstStyle/>
          <a:p>
            <a:pPr eaLnBrk="1" hangingPunct="1" algn="ctr"/>
            <a:r>
              <a:rPr sz="2800" b="1">
                <a:solidFill>
                  <a:srgbClr val="1F497D"/>
                </a:solidFill>
                <a:latin typeface="Times New Roman"/>
              </a:rPr>
              <a:t>TECHNICAL APPROACH</a:t>
            </a:r>
          </a:p>
        </p:txBody>
      </p:sp>
      <p:sp>
        <p:nvSpPr>
          <p:cNvPr id="6" name="Slide Number Placeholder 5"/>
          <p:cNvSpPr>
            <a:spLocks noGrp="1"/>
          </p:cNvSpPr>
          <p:nvPr>
            <p:ph type="sldNum" sz="quarter" idx="12"/>
          </p:nvPr>
        </p:nvSpPr>
        <p:spPr/>
        <p:txBody>
          <a:bodyPr/>
          <a:lstStyle/>
          <a:p>
            <a:fld id="{677C3CE7-23F7-4828-823C-E0205DF2CF97}" type="slidenum">
              <a:rPr lang="en-US" b="1">
                <a:solidFill>
                  <a:schemeClr val="bg1"/>
                </a:solidFill>
              </a:rPr>
              <a:pPr/>
              <a:t>3</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1" name="Oval 10"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050" b="1"/>
              <a:t>Fare Enough</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411480" y="1133856"/>
            <a:ext cx="11338560" cy="274320"/>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1F497D"/>
                </a:solidFill>
                <a:latin typeface="Arial"/>
              </a:rPr>
              <a:t>Methodology — one route, one booking window</a:t>
            </a:r>
          </a:p>
        </p:txBody>
      </p:sp>
      <p:sp>
        <p:nvSpPr>
          <p:cNvPr id="17411" name="Rectangle 17410"/>
          <p:cNvSpPr/>
          <p:nvPr/>
        </p:nvSpPr>
        <p:spPr>
          <a:xfrm>
            <a:off x="429768" y="1408176"/>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Rounded Rectangle 17411"/>
          <p:cNvSpPr/>
          <p:nvPr/>
        </p:nvSpPr>
        <p:spPr>
          <a:xfrm>
            <a:off x="411480" y="1627632"/>
            <a:ext cx="1700784" cy="1371600"/>
          </a:xfrm>
          <a:prstGeom prst="roundRect">
            <a:avLst>
              <a:gd name="adj" fmla="val 6000"/>
            </a:avLst>
          </a:prstGeom>
          <a:solidFill>
            <a:srgbClr val="EEF3F9"/>
          </a:solidFill>
          <a:ln w="12700">
            <a:solidFill>
              <a:srgbClr val="C7D3E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4F81BD"/>
                </a:solidFill>
                <a:latin typeface="Arial"/>
              </a:rPr>
              <a:t>1</a:t>
            </a:r>
          </a:p>
          <a:p>
            <a:pPr>
              <a:lnSpc>
                <a:spcPct val="95000"/>
              </a:lnSpc>
              <a:spcBef>
                <a:spcPts val="200"/>
              </a:spcBef>
              <a:spcAft>
                <a:spcPts val="0"/>
              </a:spcAft>
            </a:pPr>
            <a:r>
              <a:rPr sz="1400" b="1">
                <a:solidFill>
                  <a:srgbClr val="1F497D"/>
                </a:solidFill>
                <a:latin typeface="Arial"/>
              </a:rPr>
              <a:t>Collect</a:t>
            </a:r>
          </a:p>
          <a:p>
            <a:pPr>
              <a:lnSpc>
                <a:spcPct val="95000"/>
              </a:lnSpc>
              <a:spcBef>
                <a:spcPts val="400"/>
              </a:spcBef>
              <a:spcAft>
                <a:spcPts val="0"/>
              </a:spcAft>
            </a:pPr>
            <a:r>
              <a:rPr sz="1150" b="0">
                <a:solidFill>
                  <a:srgbClr val="5A626C"/>
                </a:solidFill>
                <a:latin typeface="Arial"/>
              </a:rPr>
              <a:t>Robots-gated fetch
every 10 minutes</a:t>
            </a:r>
          </a:p>
        </p:txBody>
      </p:sp>
      <p:sp>
        <p:nvSpPr>
          <p:cNvPr id="17413" name="Right Arrow 17412"/>
          <p:cNvSpPr/>
          <p:nvPr/>
        </p:nvSpPr>
        <p:spPr>
          <a:xfrm>
            <a:off x="2130552" y="2212848"/>
            <a:ext cx="182879" cy="201168"/>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4" name="Rounded Rectangle 17413"/>
          <p:cNvSpPr/>
          <p:nvPr/>
        </p:nvSpPr>
        <p:spPr>
          <a:xfrm>
            <a:off x="2331720" y="1627632"/>
            <a:ext cx="1700784" cy="1371600"/>
          </a:xfrm>
          <a:prstGeom prst="roundRect">
            <a:avLst>
              <a:gd name="adj" fmla="val 6000"/>
            </a:avLst>
          </a:prstGeom>
          <a:solidFill>
            <a:srgbClr val="EEF3F9"/>
          </a:solidFill>
          <a:ln w="12700">
            <a:solidFill>
              <a:srgbClr val="C7D3E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4F81BD"/>
                </a:solidFill>
                <a:latin typeface="Arial"/>
              </a:rPr>
              <a:t>2</a:t>
            </a:r>
          </a:p>
          <a:p>
            <a:pPr>
              <a:lnSpc>
                <a:spcPct val="95000"/>
              </a:lnSpc>
              <a:spcBef>
                <a:spcPts val="200"/>
              </a:spcBef>
              <a:spcAft>
                <a:spcPts val="0"/>
              </a:spcAft>
            </a:pPr>
            <a:r>
              <a:rPr sz="1400" b="1">
                <a:solidFill>
                  <a:srgbClr val="1F497D"/>
                </a:solidFill>
                <a:latin typeface="Arial"/>
              </a:rPr>
              <a:t>Extract</a:t>
            </a:r>
          </a:p>
          <a:p>
            <a:pPr>
              <a:lnSpc>
                <a:spcPct val="95000"/>
              </a:lnSpc>
              <a:spcBef>
                <a:spcPts val="400"/>
              </a:spcBef>
              <a:spcAft>
                <a:spcPts val="0"/>
              </a:spcAft>
            </a:pPr>
            <a:r>
              <a:rPr sz="1150" b="0">
                <a:solidFill>
                  <a:srgbClr val="5A626C"/>
                </a:solidFill>
                <a:latin typeface="Arial"/>
              </a:rPr>
              <a:t>LLM → strict JSON
retry, then fail over</a:t>
            </a:r>
          </a:p>
        </p:txBody>
      </p:sp>
      <p:sp>
        <p:nvSpPr>
          <p:cNvPr id="17415" name="Right Arrow 17414"/>
          <p:cNvSpPr/>
          <p:nvPr/>
        </p:nvSpPr>
        <p:spPr>
          <a:xfrm>
            <a:off x="4050791" y="2212848"/>
            <a:ext cx="182879" cy="201168"/>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6" name="Rounded Rectangle 17415"/>
          <p:cNvSpPr/>
          <p:nvPr/>
        </p:nvSpPr>
        <p:spPr>
          <a:xfrm>
            <a:off x="4251960" y="1627632"/>
            <a:ext cx="1700784" cy="1371600"/>
          </a:xfrm>
          <a:prstGeom prst="roundRect">
            <a:avLst>
              <a:gd name="adj" fmla="val 6000"/>
            </a:avLst>
          </a:prstGeom>
          <a:solidFill>
            <a:srgbClr val="EEF3F9"/>
          </a:solidFill>
          <a:ln w="12700">
            <a:solidFill>
              <a:srgbClr val="C7D3E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4F81BD"/>
                </a:solidFill>
                <a:latin typeface="Arial"/>
              </a:rPr>
              <a:t>3</a:t>
            </a:r>
          </a:p>
          <a:p>
            <a:pPr>
              <a:lnSpc>
                <a:spcPct val="95000"/>
              </a:lnSpc>
              <a:spcBef>
                <a:spcPts val="200"/>
              </a:spcBef>
              <a:spcAft>
                <a:spcPts val="0"/>
              </a:spcAft>
            </a:pPr>
            <a:r>
              <a:rPr sz="1400" b="1">
                <a:solidFill>
                  <a:srgbClr val="1F497D"/>
                </a:solidFill>
                <a:latin typeface="Arial"/>
              </a:rPr>
              <a:t>Validate</a:t>
            </a:r>
          </a:p>
          <a:p>
            <a:pPr>
              <a:lnSpc>
                <a:spcPct val="95000"/>
              </a:lnSpc>
              <a:spcBef>
                <a:spcPts val="400"/>
              </a:spcBef>
              <a:spcAft>
                <a:spcPts val="0"/>
              </a:spcAft>
            </a:pPr>
            <a:r>
              <a:rPr sz="1150" b="0">
                <a:solidFill>
                  <a:srgbClr val="5A626C"/>
                </a:solidFill>
                <a:latin typeface="Arial"/>
              </a:rPr>
              <a:t>Schema + range
never estimates</a:t>
            </a:r>
          </a:p>
        </p:txBody>
      </p:sp>
      <p:sp>
        <p:nvSpPr>
          <p:cNvPr id="17417" name="Right Arrow 17416"/>
          <p:cNvSpPr/>
          <p:nvPr/>
        </p:nvSpPr>
        <p:spPr>
          <a:xfrm>
            <a:off x="5971032" y="2212848"/>
            <a:ext cx="182879" cy="201168"/>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8" name="Rounded Rectangle 17417"/>
          <p:cNvSpPr/>
          <p:nvPr/>
        </p:nvSpPr>
        <p:spPr>
          <a:xfrm>
            <a:off x="6172200" y="1627632"/>
            <a:ext cx="1700784" cy="1371600"/>
          </a:xfrm>
          <a:prstGeom prst="roundRect">
            <a:avLst>
              <a:gd name="adj" fmla="val 6000"/>
            </a:avLst>
          </a:prstGeom>
          <a:solidFill>
            <a:srgbClr val="EEF3F9"/>
          </a:solidFill>
          <a:ln w="12700">
            <a:solidFill>
              <a:srgbClr val="C7D3E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4F81BD"/>
                </a:solidFill>
                <a:latin typeface="Arial"/>
              </a:rPr>
              <a:t>4</a:t>
            </a:r>
          </a:p>
          <a:p>
            <a:pPr>
              <a:lnSpc>
                <a:spcPct val="95000"/>
              </a:lnSpc>
              <a:spcBef>
                <a:spcPts val="200"/>
              </a:spcBef>
              <a:spcAft>
                <a:spcPts val="0"/>
              </a:spcAft>
            </a:pPr>
            <a:r>
              <a:rPr sz="1400" b="1">
                <a:solidFill>
                  <a:srgbClr val="1F497D"/>
                </a:solidFill>
                <a:latin typeface="Arial"/>
              </a:rPr>
              <a:t>Clean</a:t>
            </a:r>
          </a:p>
          <a:p>
            <a:pPr>
              <a:lnSpc>
                <a:spcPct val="95000"/>
              </a:lnSpc>
              <a:spcBef>
                <a:spcPts val="400"/>
              </a:spcBef>
              <a:spcAft>
                <a:spcPts val="0"/>
              </a:spcAft>
            </a:pPr>
            <a:r>
              <a:rPr sz="1150" b="0">
                <a:solidFill>
                  <a:srgbClr val="5A626C"/>
                </a:solidFill>
                <a:latin typeface="Arial"/>
              </a:rPr>
              <a:t>Min 3 observations
exclusions published</a:t>
            </a:r>
          </a:p>
        </p:txBody>
      </p:sp>
      <p:sp>
        <p:nvSpPr>
          <p:cNvPr id="17419" name="Right Arrow 17418"/>
          <p:cNvSpPr/>
          <p:nvPr/>
        </p:nvSpPr>
        <p:spPr>
          <a:xfrm>
            <a:off x="7891272" y="2212848"/>
            <a:ext cx="182879" cy="201168"/>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0" name="Rounded Rectangle 17419"/>
          <p:cNvSpPr/>
          <p:nvPr/>
        </p:nvSpPr>
        <p:spPr>
          <a:xfrm>
            <a:off x="8092440" y="1627632"/>
            <a:ext cx="1700784" cy="1371600"/>
          </a:xfrm>
          <a:prstGeom prst="roundRect">
            <a:avLst>
              <a:gd name="adj" fmla="val 6000"/>
            </a:avLst>
          </a:prstGeom>
          <a:solidFill>
            <a:srgbClr val="EEF3F9"/>
          </a:solidFill>
          <a:ln w="12700">
            <a:solidFill>
              <a:srgbClr val="C7D3E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4F81BD"/>
                </a:solidFill>
                <a:latin typeface="Arial"/>
              </a:rPr>
              <a:t>5</a:t>
            </a:r>
          </a:p>
          <a:p>
            <a:pPr>
              <a:lnSpc>
                <a:spcPct val="95000"/>
              </a:lnSpc>
              <a:spcBef>
                <a:spcPts val="200"/>
              </a:spcBef>
              <a:spcAft>
                <a:spcPts val="0"/>
              </a:spcAft>
            </a:pPr>
            <a:r>
              <a:rPr sz="1400" b="1">
                <a:solidFill>
                  <a:srgbClr val="1F497D"/>
                </a:solidFill>
                <a:latin typeface="Arial"/>
              </a:rPr>
              <a:t>Index</a:t>
            </a:r>
          </a:p>
          <a:p>
            <a:pPr>
              <a:lnSpc>
                <a:spcPct val="95000"/>
              </a:lnSpc>
              <a:spcBef>
                <a:spcPts val="400"/>
              </a:spcBef>
              <a:spcAft>
                <a:spcPts val="0"/>
              </a:spcAft>
            </a:pPr>
            <a:r>
              <a:rPr sz="1150" b="0">
                <a:solidFill>
                  <a:srgbClr val="5A626C"/>
                </a:solidFill>
                <a:latin typeface="Arial"/>
              </a:rPr>
              <a:t>Weighted Jevons
route × lead time</a:t>
            </a:r>
          </a:p>
        </p:txBody>
      </p:sp>
      <p:sp>
        <p:nvSpPr>
          <p:cNvPr id="17421" name="Right Arrow 17420"/>
          <p:cNvSpPr/>
          <p:nvPr/>
        </p:nvSpPr>
        <p:spPr>
          <a:xfrm>
            <a:off x="9811511" y="2212848"/>
            <a:ext cx="182879" cy="201168"/>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2" name="Rounded Rectangle 17421"/>
          <p:cNvSpPr/>
          <p:nvPr/>
        </p:nvSpPr>
        <p:spPr>
          <a:xfrm>
            <a:off x="10012680" y="1627632"/>
            <a:ext cx="1700784" cy="1371600"/>
          </a:xfrm>
          <a:prstGeom prst="roundRect">
            <a:avLst>
              <a:gd name="adj" fmla="val 6000"/>
            </a:avLst>
          </a:prstGeom>
          <a:solidFill>
            <a:srgbClr val="EEF3F9"/>
          </a:solidFill>
          <a:ln w="12700">
            <a:solidFill>
              <a:srgbClr val="C7D3E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4F81BD"/>
                </a:solidFill>
                <a:latin typeface="Arial"/>
              </a:rPr>
              <a:t>6</a:t>
            </a:r>
          </a:p>
          <a:p>
            <a:pPr>
              <a:lnSpc>
                <a:spcPct val="95000"/>
              </a:lnSpc>
              <a:spcBef>
                <a:spcPts val="200"/>
              </a:spcBef>
              <a:spcAft>
                <a:spcPts val="0"/>
              </a:spcAft>
            </a:pPr>
            <a:r>
              <a:rPr sz="1400" b="1">
                <a:solidFill>
                  <a:srgbClr val="1F497D"/>
                </a:solidFill>
                <a:latin typeface="Arial"/>
              </a:rPr>
              <a:t>Publish</a:t>
            </a:r>
          </a:p>
          <a:p>
            <a:pPr>
              <a:lnSpc>
                <a:spcPct val="95000"/>
              </a:lnSpc>
              <a:spcBef>
                <a:spcPts val="400"/>
              </a:spcBef>
              <a:spcAft>
                <a:spcPts val="0"/>
              </a:spcAft>
            </a:pPr>
            <a:r>
              <a:rPr sz="1150" b="0">
                <a:solidFill>
                  <a:srgbClr val="5A626C"/>
                </a:solidFill>
                <a:latin typeface="Arial"/>
              </a:rPr>
              <a:t>Portal + REST API
for MoSPI ingestion</a:t>
            </a:r>
          </a:p>
        </p:txBody>
      </p:sp>
      <p:sp>
        <p:nvSpPr>
          <p:cNvPr id="17423" name="Rounded Rectangle 17422"/>
          <p:cNvSpPr/>
          <p:nvPr/>
        </p:nvSpPr>
        <p:spPr>
          <a:xfrm>
            <a:off x="411480" y="3246120"/>
            <a:ext cx="11338560" cy="841248"/>
          </a:xfrm>
          <a:prstGeom prst="roundRect">
            <a:avLst>
              <a:gd name="adj" fmla="val 6000"/>
            </a:avLst>
          </a:prstGeom>
          <a:solidFill>
            <a:srgbClr val="DCE6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1F497D"/>
                </a:solidFill>
                <a:latin typeface="Arial"/>
              </a:rPr>
              <a:t>BUILT AND RUNNING</a:t>
            </a:r>
          </a:p>
          <a:p>
            <a:pPr>
              <a:lnSpc>
                <a:spcPct val="95000"/>
              </a:lnSpc>
              <a:spcBef>
                <a:spcPts val="400"/>
              </a:spcBef>
              <a:spcAft>
                <a:spcPts val="0"/>
              </a:spcAft>
            </a:pPr>
            <a:r>
              <a:rPr sz="1400" b="0">
                <a:solidFill>
                  <a:srgbClr val="262B33"/>
                </a:solidFill>
                <a:latin typeface="Arial"/>
              </a:rPr>
              <a:t>36,076 fares · 298 runs, 98.7% clean · APIx published daily and monthly · live portal and authenticated REST API, both reading Postgres directly.</a:t>
            </a:r>
          </a:p>
        </p:txBody>
      </p:sp>
      <p:pic>
        <p:nvPicPr>
          <p:cNvPr id="17424" name="Picture 17423" descr="chart-record.png"/>
          <p:cNvPicPr>
            <a:picLocks noChangeAspect="1"/>
          </p:cNvPicPr>
          <p:nvPr/>
        </p:nvPicPr>
        <p:blipFill>
          <a:blip r:embed="rId4"/>
          <a:stretch>
            <a:fillRect/>
          </a:stretch>
        </p:blipFill>
        <p:spPr>
          <a:xfrm>
            <a:off x="411480" y="4187952"/>
            <a:ext cx="4069080" cy="2044781"/>
          </a:xfrm>
          <a:prstGeom prst="rect">
            <a:avLst/>
          </a:prstGeom>
        </p:spPr>
      </p:pic>
      <p:pic>
        <p:nvPicPr>
          <p:cNvPr id="17425" name="Picture 17424" descr="chart-cadence.png"/>
          <p:cNvPicPr>
            <a:picLocks noChangeAspect="1"/>
          </p:cNvPicPr>
          <p:nvPr/>
        </p:nvPicPr>
        <p:blipFill>
          <a:blip r:embed="rId5"/>
          <a:stretch>
            <a:fillRect/>
          </a:stretch>
        </p:blipFill>
        <p:spPr>
          <a:xfrm>
            <a:off x="4846320" y="4224528"/>
            <a:ext cx="4206240" cy="1758472"/>
          </a:xfrm>
          <a:prstGeom prst="rect">
            <a:avLst/>
          </a:prstGeom>
        </p:spPr>
      </p:pic>
      <p:sp>
        <p:nvSpPr>
          <p:cNvPr id="17426" name="TextBox 17425"/>
          <p:cNvSpPr txBox="1"/>
          <p:nvPr/>
        </p:nvSpPr>
        <p:spPr>
          <a:xfrm>
            <a:off x="9372600" y="4224528"/>
            <a:ext cx="2377440" cy="274320"/>
          </a:xfrm>
          <a:prstGeom prst="rect">
            <a:avLst/>
          </a:prstGeom>
          <a:noFill/>
        </p:spPr>
        <p:txBody>
          <a:bodyPr wrap="square" lIns="36576" rIns="36576" tIns="18288" bIns="18288">
            <a:spAutoFit/>
          </a:bodyPr>
          <a:lstStyle/>
          <a:p>
            <a:pPr>
              <a:lnSpc>
                <a:spcPct val="95000"/>
              </a:lnSpc>
              <a:spcBef>
                <a:spcPts val="0"/>
              </a:spcBef>
              <a:spcAft>
                <a:spcPts val="0"/>
              </a:spcAft>
            </a:pPr>
            <a:r>
              <a:rPr sz="1300" b="1">
                <a:solidFill>
                  <a:srgbClr val="1F497D"/>
                </a:solidFill>
                <a:latin typeface="Arial"/>
              </a:rPr>
              <a:t>Stack</a:t>
            </a:r>
          </a:p>
        </p:txBody>
      </p:sp>
      <p:sp>
        <p:nvSpPr>
          <p:cNvPr id="17427" name="Rectangle 17426"/>
          <p:cNvSpPr/>
          <p:nvPr/>
        </p:nvSpPr>
        <p:spPr>
          <a:xfrm>
            <a:off x="9390888" y="4498848"/>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8" name="TextBox 17427"/>
          <p:cNvSpPr txBox="1"/>
          <p:nvPr/>
        </p:nvSpPr>
        <p:spPr>
          <a:xfrm>
            <a:off x="9372600" y="4590288"/>
            <a:ext cx="2468880" cy="1645920"/>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  Python · Playwright</a:t>
            </a:r>
          </a:p>
          <a:p>
            <a:pPr>
              <a:lnSpc>
                <a:spcPct val="95000"/>
              </a:lnSpc>
              <a:spcBef>
                <a:spcPts val="500"/>
              </a:spcBef>
              <a:spcAft>
                <a:spcPts val="0"/>
              </a:spcAft>
            </a:pPr>
            <a:r>
              <a:rPr sz="1150" b="0">
                <a:solidFill>
                  <a:srgbClr val="262B33"/>
                </a:solidFill>
                <a:latin typeface="Arial"/>
              </a:rPr>
              <a:t>•  OpenAI-compatible LLM</a:t>
            </a:r>
          </a:p>
          <a:p>
            <a:pPr>
              <a:lnSpc>
                <a:spcPct val="95000"/>
              </a:lnSpc>
              <a:spcBef>
                <a:spcPts val="500"/>
              </a:spcBef>
              <a:spcAft>
                <a:spcPts val="0"/>
              </a:spcAft>
            </a:pPr>
            <a:r>
              <a:rPr sz="1150" b="0">
                <a:solidFill>
                  <a:srgbClr val="262B33"/>
                </a:solidFill>
                <a:latin typeface="Arial"/>
              </a:rPr>
              <a:t>•  Pydantic validation</a:t>
            </a:r>
          </a:p>
          <a:p>
            <a:pPr>
              <a:lnSpc>
                <a:spcPct val="95000"/>
              </a:lnSpc>
              <a:spcBef>
                <a:spcPts val="500"/>
              </a:spcBef>
              <a:spcAft>
                <a:spcPts val="0"/>
              </a:spcAft>
            </a:pPr>
            <a:r>
              <a:rPr sz="1150" b="0">
                <a:solidFill>
                  <a:srgbClr val="262B33"/>
                </a:solidFill>
                <a:latin typeface="Arial"/>
              </a:rPr>
              <a:t>•  Supabase Postgres</a:t>
            </a:r>
          </a:p>
          <a:p>
            <a:pPr>
              <a:lnSpc>
                <a:spcPct val="95000"/>
              </a:lnSpc>
              <a:spcBef>
                <a:spcPts val="500"/>
              </a:spcBef>
              <a:spcAft>
                <a:spcPts val="0"/>
              </a:spcAft>
            </a:pPr>
            <a:r>
              <a:rPr sz="1150" b="0">
                <a:solidFill>
                  <a:srgbClr val="262B33"/>
                </a:solidFill>
                <a:latin typeface="Arial"/>
              </a:rPr>
              <a:t>•  cron · HTML + SVG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lgn="ctr"/>
            <a:r>
              <a:rPr sz="2800" b="1">
                <a:solidFill>
                  <a:srgbClr val="1F497D"/>
                </a:solidFill>
                <a:latin typeface="Times New Roman"/>
              </a:rPr>
              <a:t>FEASIBILITY AND VIABILITY</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050" b="1"/>
              <a:t>Fare Enough</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Rounded Rectangle 17409"/>
          <p:cNvSpPr/>
          <p:nvPr/>
        </p:nvSpPr>
        <p:spPr>
          <a:xfrm>
            <a:off x="411480" y="1133856"/>
            <a:ext cx="5623560" cy="1188720"/>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450" b="1">
                <a:solidFill>
                  <a:srgbClr val="4F81BD"/>
                </a:solidFill>
                <a:latin typeface="Arial"/>
              </a:rPr>
              <a:t>Technical feasibility</a:t>
            </a:r>
          </a:p>
          <a:p>
            <a:pPr>
              <a:lnSpc>
                <a:spcPct val="95000"/>
              </a:lnSpc>
              <a:spcBef>
                <a:spcPts val="400"/>
              </a:spcBef>
              <a:spcAft>
                <a:spcPts val="0"/>
              </a:spcAft>
            </a:pPr>
            <a:r>
              <a:rPr sz="1200" b="0">
                <a:solidFill>
                  <a:srgbClr val="262B33"/>
                </a:solidFill>
                <a:latin typeface="Arial"/>
              </a:rPr>
              <a:t>India is the world's fifth-largest aviation market, worth USD 18.14 bn in 2026 and growing at 11.72% a year. The prices exist and change constantly — what is missing is a systematic way to measure them.</a:t>
            </a:r>
          </a:p>
        </p:txBody>
      </p:sp>
      <p:sp>
        <p:nvSpPr>
          <p:cNvPr id="17411" name="Rectangle 17410"/>
          <p:cNvSpPr/>
          <p:nvPr/>
        </p:nvSpPr>
        <p:spPr>
          <a:xfrm>
            <a:off x="411480" y="1133856"/>
            <a:ext cx="68580" cy="1188720"/>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Rounded Rectangle 17411"/>
          <p:cNvSpPr/>
          <p:nvPr/>
        </p:nvSpPr>
        <p:spPr>
          <a:xfrm>
            <a:off x="411480" y="2423160"/>
            <a:ext cx="5623560" cy="1188720"/>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450" b="1">
                <a:solidFill>
                  <a:srgbClr val="1B8A5A"/>
                </a:solidFill>
                <a:latin typeface="Arial"/>
              </a:rPr>
              <a:t>Operational feasibility</a:t>
            </a:r>
          </a:p>
          <a:p>
            <a:pPr>
              <a:lnSpc>
                <a:spcPct val="95000"/>
              </a:lnSpc>
              <a:spcBef>
                <a:spcPts val="400"/>
              </a:spcBef>
              <a:spcAft>
                <a:spcPts val="0"/>
              </a:spcAft>
            </a:pPr>
            <a:r>
              <a:rPr sz="1200" b="0">
                <a:solidFill>
                  <a:srgbClr val="262B33"/>
                </a:solidFill>
                <a:latin typeface="Arial"/>
              </a:rPr>
              <a:t>164 million domestic passengers a year across 148 operational airports, up from 74 in 2014. A fixed basket of the 15 busiest city pairs tracks the traffic that actually matters.</a:t>
            </a:r>
          </a:p>
        </p:txBody>
      </p:sp>
      <p:sp>
        <p:nvSpPr>
          <p:cNvPr id="17413" name="Rectangle 17412"/>
          <p:cNvSpPr/>
          <p:nvPr/>
        </p:nvSpPr>
        <p:spPr>
          <a:xfrm>
            <a:off x="411480" y="2423160"/>
            <a:ext cx="68580" cy="1188720"/>
          </a:xfrm>
          <a:prstGeom prst="rect">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4" name="Rounded Rectangle 17413"/>
          <p:cNvSpPr/>
          <p:nvPr/>
        </p:nvSpPr>
        <p:spPr>
          <a:xfrm>
            <a:off x="411480" y="3712463"/>
            <a:ext cx="5623560" cy="1188720"/>
          </a:xfrm>
          <a:prstGeom prst="roundRect">
            <a:avLst>
              <a:gd name="adj" fmla="val 6000"/>
            </a:avLst>
          </a:prstGeom>
          <a:solidFill>
            <a:srgbClr val="FB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450" b="1">
                <a:solidFill>
                  <a:srgbClr val="C77700"/>
                </a:solidFill>
                <a:latin typeface="Arial"/>
              </a:rPr>
              <a:t>Economic feasibility</a:t>
            </a:r>
          </a:p>
          <a:p>
            <a:pPr>
              <a:lnSpc>
                <a:spcPct val="95000"/>
              </a:lnSpc>
              <a:spcBef>
                <a:spcPts val="400"/>
              </a:spcBef>
              <a:spcAft>
                <a:spcPts val="0"/>
              </a:spcAft>
            </a:pPr>
            <a:r>
              <a:rPr sz="1200" b="0">
                <a:solidFill>
                  <a:srgbClr val="262B33"/>
                </a:solidFill>
                <a:latin typeface="Arial"/>
              </a:rPr>
              <a:t>The pipeline runs on free tiers at ₹0 a month and ~2 minutes of compute per cycle. MoSPI's field collectors visit shops and markets monthly; this observes 144 times a day without leaving a desk.</a:t>
            </a:r>
          </a:p>
        </p:txBody>
      </p:sp>
      <p:sp>
        <p:nvSpPr>
          <p:cNvPr id="17415" name="Rectangle 17414"/>
          <p:cNvSpPr/>
          <p:nvPr/>
        </p:nvSpPr>
        <p:spPr>
          <a:xfrm>
            <a:off x="411480" y="3712463"/>
            <a:ext cx="68580" cy="1188720"/>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6" name="Rounded Rectangle 17415"/>
          <p:cNvSpPr/>
          <p:nvPr/>
        </p:nvSpPr>
        <p:spPr>
          <a:xfrm>
            <a:off x="411480" y="5001768"/>
            <a:ext cx="5623560" cy="1188720"/>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450" b="1">
                <a:solidFill>
                  <a:srgbClr val="4B3F8C"/>
                </a:solidFill>
                <a:latin typeface="Arial"/>
              </a:rPr>
              <a:t>Regulatory feasibility</a:t>
            </a:r>
          </a:p>
          <a:p>
            <a:pPr>
              <a:lnSpc>
                <a:spcPct val="95000"/>
              </a:lnSpc>
              <a:spcBef>
                <a:spcPts val="400"/>
              </a:spcBef>
              <a:spcAft>
                <a:spcPts val="0"/>
              </a:spcAft>
            </a:pPr>
            <a:r>
              <a:rPr sz="1200" b="0">
                <a:solidFill>
                  <a:srgbClr val="262B33"/>
                </a:solidFill>
                <a:latin typeface="Arial"/>
              </a:rPr>
              <a:t>Eurostat publishes guidance on web-scraped prices for HICP and names air fares explicitly. ONS has done it since 2014. The method is precedented in official statistics, not experimental.</a:t>
            </a:r>
          </a:p>
        </p:txBody>
      </p:sp>
      <p:sp>
        <p:nvSpPr>
          <p:cNvPr id="17417" name="Rectangle 17416"/>
          <p:cNvSpPr/>
          <p:nvPr/>
        </p:nvSpPr>
        <p:spPr>
          <a:xfrm>
            <a:off x="411480" y="5001768"/>
            <a:ext cx="68580" cy="1188720"/>
          </a:xfrm>
          <a:prstGeom prst="rect">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8" name="TextBox 17417"/>
          <p:cNvSpPr txBox="1"/>
          <p:nvPr/>
        </p:nvSpPr>
        <p:spPr>
          <a:xfrm>
            <a:off x="6400800" y="1133856"/>
            <a:ext cx="5394960" cy="274320"/>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1F497D"/>
                </a:solidFill>
                <a:latin typeface="Arial"/>
              </a:rPr>
              <a:t>Risks, and what we did about them</a:t>
            </a:r>
          </a:p>
        </p:txBody>
      </p:sp>
      <p:sp>
        <p:nvSpPr>
          <p:cNvPr id="17419" name="Rectangle 17418"/>
          <p:cNvSpPr/>
          <p:nvPr/>
        </p:nvSpPr>
        <p:spPr>
          <a:xfrm>
            <a:off x="6419088" y="1408176"/>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0" name="Rounded Rectangle 17419"/>
          <p:cNvSpPr/>
          <p:nvPr/>
        </p:nvSpPr>
        <p:spPr>
          <a:xfrm>
            <a:off x="6400800" y="1554480"/>
            <a:ext cx="5394960" cy="868680"/>
          </a:xfrm>
          <a:prstGeom prst="roundRect">
            <a:avLst>
              <a:gd name="adj" fmla="val 6000"/>
            </a:avLst>
          </a:prstGeom>
          <a:solidFill>
            <a:srgbClr val="FA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21" name="Rectangle 17420"/>
          <p:cNvSpPr/>
          <p:nvPr/>
        </p:nvSpPr>
        <p:spPr>
          <a:xfrm>
            <a:off x="6400800" y="1554480"/>
            <a:ext cx="50292" cy="86868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2" name="TextBox 17421"/>
          <p:cNvSpPr txBox="1"/>
          <p:nvPr/>
        </p:nvSpPr>
        <p:spPr>
          <a:xfrm>
            <a:off x="6583680" y="1655064"/>
            <a:ext cx="5120640" cy="713232"/>
          </a:xfrm>
          <a:prstGeom prst="rect">
            <a:avLst/>
          </a:prstGeom>
          <a:noFill/>
        </p:spPr>
        <p:txBody>
          <a:bodyPr wrap="square" lIns="36576" rIns="36576" tIns="18288" bIns="18288">
            <a:spAutoFit/>
          </a:bodyPr>
          <a:lstStyle/>
          <a:p>
            <a:pPr>
              <a:lnSpc>
                <a:spcPct val="95000"/>
              </a:lnSpc>
              <a:spcBef>
                <a:spcPts val="0"/>
              </a:spcBef>
              <a:spcAft>
                <a:spcPts val="0"/>
              </a:spcAft>
            </a:pPr>
            <a:r>
              <a:rPr sz="1400" b="1">
                <a:solidFill>
                  <a:srgbClr val="A63A3A"/>
                </a:solidFill>
                <a:latin typeface="Arial"/>
              </a:rPr>
              <a:t>16 portals surveyed, one is usable</a:t>
            </a:r>
          </a:p>
          <a:p>
            <a:pPr>
              <a:lnSpc>
                <a:spcPct val="95000"/>
              </a:lnSpc>
              <a:spcBef>
                <a:spcPts val="400"/>
              </a:spcBef>
              <a:spcAft>
                <a:spcPts val="0"/>
              </a:spcAft>
            </a:pPr>
            <a:r>
              <a:rPr sz="1200" b="0">
                <a:solidFill>
                  <a:srgbClr val="262B33"/>
                </a:solidFill>
                <a:latin typeface="Arial"/>
              </a:rPr>
              <a:t>Ten disallow us, four block us, airlines refuse automation entirely.</a:t>
            </a:r>
          </a:p>
        </p:txBody>
      </p:sp>
      <p:sp>
        <p:nvSpPr>
          <p:cNvPr id="17423" name="Rounded Rectangle 17422"/>
          <p:cNvSpPr/>
          <p:nvPr/>
        </p:nvSpPr>
        <p:spPr>
          <a:xfrm>
            <a:off x="6400800" y="2496312"/>
            <a:ext cx="5394960" cy="868680"/>
          </a:xfrm>
          <a:prstGeom prst="roundRect">
            <a:avLst>
              <a:gd name="adj" fmla="val 6000"/>
            </a:avLst>
          </a:prstGeom>
          <a:solidFill>
            <a:srgbClr val="FA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24" name="Rectangle 17423"/>
          <p:cNvSpPr/>
          <p:nvPr/>
        </p:nvSpPr>
        <p:spPr>
          <a:xfrm>
            <a:off x="6400800" y="2496312"/>
            <a:ext cx="50292" cy="86868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5" name="TextBox 17424"/>
          <p:cNvSpPr txBox="1"/>
          <p:nvPr/>
        </p:nvSpPr>
        <p:spPr>
          <a:xfrm>
            <a:off x="6583680" y="2596896"/>
            <a:ext cx="5120640" cy="713232"/>
          </a:xfrm>
          <a:prstGeom prst="rect">
            <a:avLst/>
          </a:prstGeom>
          <a:noFill/>
        </p:spPr>
        <p:txBody>
          <a:bodyPr wrap="square" lIns="36576" rIns="36576" tIns="18288" bIns="18288">
            <a:spAutoFit/>
          </a:bodyPr>
          <a:lstStyle/>
          <a:p>
            <a:pPr>
              <a:lnSpc>
                <a:spcPct val="95000"/>
              </a:lnSpc>
              <a:spcBef>
                <a:spcPts val="0"/>
              </a:spcBef>
              <a:spcAft>
                <a:spcPts val="0"/>
              </a:spcAft>
            </a:pPr>
            <a:r>
              <a:rPr sz="1400" b="1">
                <a:solidFill>
                  <a:srgbClr val="A63A3A"/>
                </a:solidFill>
                <a:latin typeface="Arial"/>
              </a:rPr>
              <a:t>Cloud IPs are blocked too</a:t>
            </a:r>
          </a:p>
          <a:p>
            <a:pPr>
              <a:lnSpc>
                <a:spcPct val="95000"/>
              </a:lnSpc>
              <a:spcBef>
                <a:spcPts val="400"/>
              </a:spcBef>
              <a:spcAft>
                <a:spcPts val="0"/>
              </a:spcAft>
            </a:pPr>
            <a:r>
              <a:rPr sz="1200" b="0">
                <a:solidFill>
                  <a:srgbClr val="262B33"/>
                </a:solidFill>
                <a:latin typeface="Arial"/>
              </a:rPr>
              <a:t>Verified in CI — so collection runs from a residential host.</a:t>
            </a:r>
          </a:p>
        </p:txBody>
      </p:sp>
      <p:sp>
        <p:nvSpPr>
          <p:cNvPr id="17426" name="Rounded Rectangle 17425"/>
          <p:cNvSpPr/>
          <p:nvPr/>
        </p:nvSpPr>
        <p:spPr>
          <a:xfrm>
            <a:off x="6400800" y="3438144"/>
            <a:ext cx="5394960" cy="868680"/>
          </a:xfrm>
          <a:prstGeom prst="roundRect">
            <a:avLst>
              <a:gd name="adj" fmla="val 6000"/>
            </a:avLst>
          </a:prstGeom>
          <a:solidFill>
            <a:srgbClr val="FA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27" name="Rectangle 17426"/>
          <p:cNvSpPr/>
          <p:nvPr/>
        </p:nvSpPr>
        <p:spPr>
          <a:xfrm>
            <a:off x="6400800" y="3438144"/>
            <a:ext cx="50292" cy="86868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8" name="TextBox 17427"/>
          <p:cNvSpPr txBox="1"/>
          <p:nvPr/>
        </p:nvSpPr>
        <p:spPr>
          <a:xfrm>
            <a:off x="6583680" y="3538727"/>
            <a:ext cx="5120640" cy="713232"/>
          </a:xfrm>
          <a:prstGeom prst="rect">
            <a:avLst/>
          </a:prstGeom>
          <a:noFill/>
        </p:spPr>
        <p:txBody>
          <a:bodyPr wrap="square" lIns="36576" rIns="36576" tIns="18288" bIns="18288">
            <a:spAutoFit/>
          </a:bodyPr>
          <a:lstStyle/>
          <a:p>
            <a:pPr>
              <a:lnSpc>
                <a:spcPct val="95000"/>
              </a:lnSpc>
              <a:spcBef>
                <a:spcPts val="0"/>
              </a:spcBef>
              <a:spcAft>
                <a:spcPts val="0"/>
              </a:spcAft>
            </a:pPr>
            <a:r>
              <a:rPr sz="1400" b="1">
                <a:solidFill>
                  <a:srgbClr val="A63A3A"/>
                </a:solidFill>
                <a:latin typeface="Arial"/>
              </a:rPr>
              <a:t>Models get retired without notice</a:t>
            </a:r>
          </a:p>
          <a:p>
            <a:pPr>
              <a:lnSpc>
                <a:spcPct val="95000"/>
              </a:lnSpc>
              <a:spcBef>
                <a:spcPts val="400"/>
              </a:spcBef>
              <a:spcAft>
                <a:spcPts val="0"/>
              </a:spcAft>
            </a:pPr>
            <a:r>
              <a:rPr sz="1200" b="0">
                <a:solidFill>
                  <a:srgbClr val="262B33"/>
                </a:solidFill>
                <a:latin typeface="Arial"/>
              </a:rPr>
              <a:t>Three died during this build. Extraction now fails over automatically.</a:t>
            </a:r>
          </a:p>
        </p:txBody>
      </p:sp>
      <p:sp>
        <p:nvSpPr>
          <p:cNvPr id="17429" name="Rounded Rectangle 17428"/>
          <p:cNvSpPr/>
          <p:nvPr/>
        </p:nvSpPr>
        <p:spPr>
          <a:xfrm>
            <a:off x="6400800" y="4379976"/>
            <a:ext cx="5394960" cy="868680"/>
          </a:xfrm>
          <a:prstGeom prst="roundRect">
            <a:avLst>
              <a:gd name="adj" fmla="val 6000"/>
            </a:avLst>
          </a:prstGeom>
          <a:solidFill>
            <a:srgbClr val="FA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30" name="Rectangle 17429"/>
          <p:cNvSpPr/>
          <p:nvPr/>
        </p:nvSpPr>
        <p:spPr>
          <a:xfrm>
            <a:off x="6400800" y="4379976"/>
            <a:ext cx="50292" cy="86868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1" name="TextBox 17430"/>
          <p:cNvSpPr txBox="1"/>
          <p:nvPr/>
        </p:nvSpPr>
        <p:spPr>
          <a:xfrm>
            <a:off x="6583680" y="4480560"/>
            <a:ext cx="5120640" cy="713232"/>
          </a:xfrm>
          <a:prstGeom prst="rect">
            <a:avLst/>
          </a:prstGeom>
          <a:noFill/>
        </p:spPr>
        <p:txBody>
          <a:bodyPr wrap="square" lIns="36576" rIns="36576" tIns="18288" bIns="18288">
            <a:spAutoFit/>
          </a:bodyPr>
          <a:lstStyle/>
          <a:p>
            <a:pPr>
              <a:lnSpc>
                <a:spcPct val="95000"/>
              </a:lnSpc>
              <a:spcBef>
                <a:spcPts val="0"/>
              </a:spcBef>
              <a:spcAft>
                <a:spcPts val="0"/>
              </a:spcAft>
            </a:pPr>
            <a:r>
              <a:rPr sz="1400" b="1">
                <a:solidFill>
                  <a:srgbClr val="A63A3A"/>
                </a:solidFill>
                <a:latin typeface="Arial"/>
              </a:rPr>
              <a:t>Thin coverage would mislead</a:t>
            </a:r>
          </a:p>
          <a:p>
            <a:pPr>
              <a:lnSpc>
                <a:spcPct val="95000"/>
              </a:lnSpc>
              <a:spcBef>
                <a:spcPts val="400"/>
              </a:spcBef>
              <a:spcAft>
                <a:spcPts val="0"/>
              </a:spcAft>
            </a:pPr>
            <a:r>
              <a:rPr sz="1200" b="0">
                <a:solidFill>
                  <a:srgbClr val="262B33"/>
                </a:solidFill>
                <a:latin typeface="Arial"/>
              </a:rPr>
              <a:t>Days below 60% basket weight publish as provisional, with the reason.</a:t>
            </a:r>
          </a:p>
        </p:txBody>
      </p:sp>
    </p:spTree>
    <p:extLst>
      <p:ext uri="{BB962C8B-B14F-4D97-AF65-F5344CB8AC3E}">
        <p14:creationId xmlns:p14="http://schemas.microsoft.com/office/powerpoint/2010/main" val="37533879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lgn="ctr"/>
            <a:r>
              <a:rPr sz="2800" b="1">
                <a:solidFill>
                  <a:srgbClr val="1F497D"/>
                </a:solidFill>
                <a:latin typeface="Times New Roman"/>
              </a:rPr>
              <a:t>IMPACT AND BENEFITS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050" b="1"/>
              <a:t>Fare Enough</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411480" y="1097280"/>
            <a:ext cx="11338560" cy="274320"/>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1F497D"/>
                </a:solidFill>
                <a:latin typeface="Arial"/>
              </a:rPr>
              <a:t>From a fare on a screen to a figure in the CPI</a:t>
            </a:r>
          </a:p>
        </p:txBody>
      </p:sp>
      <p:sp>
        <p:nvSpPr>
          <p:cNvPr id="17411" name="Rectangle 17410"/>
          <p:cNvSpPr/>
          <p:nvPr/>
        </p:nvSpPr>
        <p:spPr>
          <a:xfrm>
            <a:off x="429768" y="1371600"/>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Rounded Rectangle 17411"/>
          <p:cNvSpPr/>
          <p:nvPr/>
        </p:nvSpPr>
        <p:spPr>
          <a:xfrm>
            <a:off x="411480" y="1554480"/>
            <a:ext cx="1700784" cy="1298448"/>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4F81BD"/>
                </a:solidFill>
                <a:latin typeface="Arial"/>
              </a:rPr>
              <a:t>1</a:t>
            </a:r>
          </a:p>
          <a:p>
            <a:pPr>
              <a:lnSpc>
                <a:spcPct val="95000"/>
              </a:lnSpc>
              <a:spcBef>
                <a:spcPts val="200"/>
              </a:spcBef>
              <a:spcAft>
                <a:spcPts val="0"/>
              </a:spcAft>
            </a:pPr>
            <a:r>
              <a:rPr sz="1300" b="1">
                <a:solidFill>
                  <a:srgbClr val="1F497D"/>
                </a:solidFill>
                <a:latin typeface="Arial"/>
              </a:rPr>
              <a:t>A fare is published</a:t>
            </a:r>
          </a:p>
          <a:p>
            <a:pPr>
              <a:lnSpc>
                <a:spcPct val="95000"/>
              </a:lnSpc>
              <a:spcBef>
                <a:spcPts val="400"/>
              </a:spcBef>
              <a:spcAft>
                <a:spcPts val="0"/>
              </a:spcAft>
            </a:pPr>
            <a:r>
              <a:rPr sz="1050" b="0">
                <a:solidFill>
                  <a:srgbClr val="5A626C"/>
                </a:solidFill>
                <a:latin typeface="Arial"/>
              </a:rPr>
              <a:t>A portal shows a price for one route
on one departure date</a:t>
            </a:r>
          </a:p>
        </p:txBody>
      </p:sp>
      <p:sp>
        <p:nvSpPr>
          <p:cNvPr id="17413" name="Right Arrow 17412"/>
          <p:cNvSpPr/>
          <p:nvPr/>
        </p:nvSpPr>
        <p:spPr>
          <a:xfrm>
            <a:off x="2130552" y="2084831"/>
            <a:ext cx="182879" cy="18288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4" name="Rounded Rectangle 17413"/>
          <p:cNvSpPr/>
          <p:nvPr/>
        </p:nvSpPr>
        <p:spPr>
          <a:xfrm>
            <a:off x="2331720" y="1554480"/>
            <a:ext cx="1700784" cy="1298448"/>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1B8A5A"/>
                </a:solidFill>
                <a:latin typeface="Arial"/>
              </a:rPr>
              <a:t>2</a:t>
            </a:r>
          </a:p>
          <a:p>
            <a:pPr>
              <a:lnSpc>
                <a:spcPct val="95000"/>
              </a:lnSpc>
              <a:spcBef>
                <a:spcPts val="200"/>
              </a:spcBef>
              <a:spcAft>
                <a:spcPts val="0"/>
              </a:spcAft>
            </a:pPr>
            <a:r>
              <a:rPr sz="1300" b="1">
                <a:solidFill>
                  <a:srgbClr val="1F497D"/>
                </a:solidFill>
                <a:latin typeface="Arial"/>
              </a:rPr>
              <a:t>We observe it</a:t>
            </a:r>
          </a:p>
          <a:p>
            <a:pPr>
              <a:lnSpc>
                <a:spcPct val="95000"/>
              </a:lnSpc>
              <a:spcBef>
                <a:spcPts val="400"/>
              </a:spcBef>
              <a:spcAft>
                <a:spcPts val="0"/>
              </a:spcAft>
            </a:pPr>
            <a:r>
              <a:rPr sz="1050" b="0">
                <a:solidFill>
                  <a:srgbClr val="5A626C"/>
                </a:solidFill>
                <a:latin typeface="Arial"/>
              </a:rPr>
              <a:t>Collected every 10 minutes,
robots-checked, timestamped</a:t>
            </a:r>
          </a:p>
        </p:txBody>
      </p:sp>
      <p:sp>
        <p:nvSpPr>
          <p:cNvPr id="17415" name="Right Arrow 17414"/>
          <p:cNvSpPr/>
          <p:nvPr/>
        </p:nvSpPr>
        <p:spPr>
          <a:xfrm>
            <a:off x="4050791" y="2084831"/>
            <a:ext cx="182879" cy="18288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6" name="Rounded Rectangle 17415"/>
          <p:cNvSpPr/>
          <p:nvPr/>
        </p:nvSpPr>
        <p:spPr>
          <a:xfrm>
            <a:off x="4251960" y="1554480"/>
            <a:ext cx="1700784" cy="1298448"/>
          </a:xfrm>
          <a:prstGeom prst="roundRect">
            <a:avLst>
              <a:gd name="adj" fmla="val 6000"/>
            </a:avLst>
          </a:prstGeom>
          <a:solidFill>
            <a:srgbClr val="FB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C77700"/>
                </a:solidFill>
                <a:latin typeface="Arial"/>
              </a:rPr>
              <a:t>3</a:t>
            </a:r>
          </a:p>
          <a:p>
            <a:pPr>
              <a:lnSpc>
                <a:spcPct val="95000"/>
              </a:lnSpc>
              <a:spcBef>
                <a:spcPts val="200"/>
              </a:spcBef>
              <a:spcAft>
                <a:spcPts val="0"/>
              </a:spcAft>
            </a:pPr>
            <a:r>
              <a:rPr sz="1300" b="1">
                <a:solidFill>
                  <a:srgbClr val="1F497D"/>
                </a:solidFill>
                <a:latin typeface="Arial"/>
              </a:rPr>
              <a:t>It becomes a price</a:t>
            </a:r>
          </a:p>
          <a:p>
            <a:pPr>
              <a:lnSpc>
                <a:spcPct val="95000"/>
              </a:lnSpc>
              <a:spcBef>
                <a:spcPts val="400"/>
              </a:spcBef>
              <a:spcAft>
                <a:spcPts val="0"/>
              </a:spcAft>
            </a:pPr>
            <a:r>
              <a:rPr sz="1050" b="0">
                <a:solidFill>
                  <a:srgbClr val="5A626C"/>
                </a:solidFill>
                <a:latin typeface="Arial"/>
              </a:rPr>
              <a:t>Cheapest fare per route × lead time
— what a traveller could transact at</a:t>
            </a:r>
          </a:p>
        </p:txBody>
      </p:sp>
      <p:sp>
        <p:nvSpPr>
          <p:cNvPr id="17417" name="Right Arrow 17416"/>
          <p:cNvSpPr/>
          <p:nvPr/>
        </p:nvSpPr>
        <p:spPr>
          <a:xfrm>
            <a:off x="5971032" y="2084831"/>
            <a:ext cx="182879" cy="18288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8" name="Rounded Rectangle 17417"/>
          <p:cNvSpPr/>
          <p:nvPr/>
        </p:nvSpPr>
        <p:spPr>
          <a:xfrm>
            <a:off x="6172200" y="1554480"/>
            <a:ext cx="1700784" cy="1298448"/>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4B3F8C"/>
                </a:solidFill>
                <a:latin typeface="Arial"/>
              </a:rPr>
              <a:t>4</a:t>
            </a:r>
          </a:p>
          <a:p>
            <a:pPr>
              <a:lnSpc>
                <a:spcPct val="95000"/>
              </a:lnSpc>
              <a:spcBef>
                <a:spcPts val="200"/>
              </a:spcBef>
              <a:spcAft>
                <a:spcPts val="0"/>
              </a:spcAft>
            </a:pPr>
            <a:r>
              <a:rPr sz="1300" b="1">
                <a:solidFill>
                  <a:srgbClr val="1F497D"/>
                </a:solidFill>
                <a:latin typeface="Arial"/>
              </a:rPr>
              <a:t>It becomes an index</a:t>
            </a:r>
          </a:p>
          <a:p>
            <a:pPr>
              <a:lnSpc>
                <a:spcPct val="95000"/>
              </a:lnSpc>
              <a:spcBef>
                <a:spcPts val="400"/>
              </a:spcBef>
              <a:spcAft>
                <a:spcPts val="0"/>
              </a:spcAft>
            </a:pPr>
            <a:r>
              <a:rPr sz="1050" b="0">
                <a:solidFill>
                  <a:srgbClr val="5A626C"/>
                </a:solidFill>
                <a:latin typeface="Arial"/>
              </a:rPr>
              <a:t>Weighted Jevons across the basket
→ airfare inflation</a:t>
            </a:r>
          </a:p>
        </p:txBody>
      </p:sp>
      <p:sp>
        <p:nvSpPr>
          <p:cNvPr id="17419" name="Right Arrow 17418"/>
          <p:cNvSpPr/>
          <p:nvPr/>
        </p:nvSpPr>
        <p:spPr>
          <a:xfrm>
            <a:off x="7891272" y="2084831"/>
            <a:ext cx="182879" cy="18288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0" name="Rounded Rectangle 17419"/>
          <p:cNvSpPr/>
          <p:nvPr/>
        </p:nvSpPr>
        <p:spPr>
          <a:xfrm>
            <a:off x="8092440" y="1554480"/>
            <a:ext cx="1700784" cy="1298448"/>
          </a:xfrm>
          <a:prstGeom prst="roundRect">
            <a:avLst>
              <a:gd name="adj" fmla="val 6000"/>
            </a:avLst>
          </a:prstGeom>
          <a:solidFill>
            <a:srgbClr val="E2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0E7C86"/>
                </a:solidFill>
                <a:latin typeface="Arial"/>
              </a:rPr>
              <a:t>5</a:t>
            </a:r>
          </a:p>
          <a:p>
            <a:pPr>
              <a:lnSpc>
                <a:spcPct val="95000"/>
              </a:lnSpc>
              <a:spcBef>
                <a:spcPts val="200"/>
              </a:spcBef>
              <a:spcAft>
                <a:spcPts val="0"/>
              </a:spcAft>
            </a:pPr>
            <a:r>
              <a:rPr sz="1300" b="1">
                <a:solidFill>
                  <a:srgbClr val="1F497D"/>
                </a:solidFill>
                <a:latin typeface="Arial"/>
              </a:rPr>
              <a:t>MoSPI ingests it</a:t>
            </a:r>
          </a:p>
          <a:p>
            <a:pPr>
              <a:lnSpc>
                <a:spcPct val="95000"/>
              </a:lnSpc>
              <a:spcBef>
                <a:spcPts val="400"/>
              </a:spcBef>
              <a:spcAft>
                <a:spcPts val="0"/>
              </a:spcAft>
            </a:pPr>
            <a:r>
              <a:rPr sz="1050" b="0">
                <a:solidFill>
                  <a:srgbClr val="5A626C"/>
                </a:solidFill>
                <a:latin typeface="Arial"/>
              </a:rPr>
              <a:t>REST API with method, coverage
and revision history attached</a:t>
            </a:r>
          </a:p>
        </p:txBody>
      </p:sp>
      <p:sp>
        <p:nvSpPr>
          <p:cNvPr id="17421" name="Right Arrow 17420"/>
          <p:cNvSpPr/>
          <p:nvPr/>
        </p:nvSpPr>
        <p:spPr>
          <a:xfrm>
            <a:off x="9811511" y="2084831"/>
            <a:ext cx="182879" cy="18288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2" name="Rounded Rectangle 17421"/>
          <p:cNvSpPr/>
          <p:nvPr/>
        </p:nvSpPr>
        <p:spPr>
          <a:xfrm>
            <a:off x="10012680" y="1554480"/>
            <a:ext cx="1700784" cy="1298448"/>
          </a:xfrm>
          <a:prstGeom prst="roundRect">
            <a:avLst>
              <a:gd name="adj" fmla="val 6000"/>
            </a:avLst>
          </a:prstGeom>
          <a:solidFill>
            <a:srgbClr val="F4EA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7A3E6B"/>
                </a:solidFill>
                <a:latin typeface="Arial"/>
              </a:rPr>
              <a:t>6</a:t>
            </a:r>
          </a:p>
          <a:p>
            <a:pPr>
              <a:lnSpc>
                <a:spcPct val="95000"/>
              </a:lnSpc>
              <a:spcBef>
                <a:spcPts val="200"/>
              </a:spcBef>
              <a:spcAft>
                <a:spcPts val="0"/>
              </a:spcAft>
            </a:pPr>
            <a:r>
              <a:rPr sz="1300" b="1">
                <a:solidFill>
                  <a:srgbClr val="1F497D"/>
                </a:solidFill>
                <a:latin typeface="Arial"/>
              </a:rPr>
              <a:t>CPI reflects reality</a:t>
            </a:r>
          </a:p>
          <a:p>
            <a:pPr>
              <a:lnSpc>
                <a:spcPct val="95000"/>
              </a:lnSpc>
              <a:spcBef>
                <a:spcPts val="400"/>
              </a:spcBef>
              <a:spcAft>
                <a:spcPts val="0"/>
              </a:spcAft>
            </a:pPr>
            <a:r>
              <a:rPr sz="1050" b="0">
                <a:solidFill>
                  <a:srgbClr val="5A626C"/>
                </a:solidFill>
                <a:latin typeface="Arial"/>
              </a:rPr>
              <a:t>Transport sub-index priced from
144 daily observations, not 1 visit</a:t>
            </a:r>
          </a:p>
        </p:txBody>
      </p:sp>
      <p:pic>
        <p:nvPicPr>
          <p:cNvPr id="17423" name="Picture 17422" descr="portal-shot.png"/>
          <p:cNvPicPr>
            <a:picLocks noChangeAspect="1"/>
          </p:cNvPicPr>
          <p:nvPr/>
        </p:nvPicPr>
        <p:blipFill>
          <a:blip r:embed="rId4"/>
          <a:stretch>
            <a:fillRect/>
          </a:stretch>
        </p:blipFill>
        <p:spPr>
          <a:xfrm>
            <a:off x="411480" y="3072384"/>
            <a:ext cx="5669280" cy="2755900"/>
          </a:xfrm>
          <a:prstGeom prst="rect">
            <a:avLst/>
          </a:prstGeom>
        </p:spPr>
      </p:pic>
      <p:sp>
        <p:nvSpPr>
          <p:cNvPr id="17424" name="TextBox 17423"/>
          <p:cNvSpPr txBox="1"/>
          <p:nvPr/>
        </p:nvSpPr>
        <p:spPr>
          <a:xfrm>
            <a:off x="411480" y="5870448"/>
            <a:ext cx="5669280" cy="402336"/>
          </a:xfrm>
          <a:prstGeom prst="rect">
            <a:avLst/>
          </a:prstGeom>
          <a:noFill/>
        </p:spPr>
        <p:txBody>
          <a:bodyPr wrap="square" lIns="36576" rIns="36576">
            <a:spAutoFit/>
          </a:bodyPr>
          <a:lstStyle/>
          <a:p>
            <a:pPr>
              <a:lnSpc>
                <a:spcPct val="100000"/>
              </a:lnSpc>
              <a:spcBef>
                <a:spcPts val="0"/>
              </a:spcBef>
              <a:spcAft>
                <a:spcPts val="0"/>
              </a:spcAft>
            </a:pPr>
            <a:r>
              <a:rPr sz="1200" b="1">
                <a:solidFill>
                  <a:srgbClr val="4F81BD"/>
                </a:solidFill>
                <a:latin typeface="Arial"/>
                <a:hlinkClick r:id="rId5"/>
              </a:rPr>
              <a:t>Live: apix-portal.pages.dev</a:t>
            </a:r>
          </a:p>
          <a:p>
            <a:pPr>
              <a:lnSpc>
                <a:spcPct val="100000"/>
              </a:lnSpc>
              <a:spcBef>
                <a:spcPts val="200"/>
              </a:spcBef>
              <a:spcAft>
                <a:spcPts val="0"/>
              </a:spcAft>
            </a:pPr>
            <a:r>
              <a:rPr sz="1100" b="0">
                <a:solidFill>
                  <a:srgbClr val="5A626C"/>
                </a:solidFill>
                <a:latin typeface="Arial"/>
              </a:rPr>
              <a:t>Headline inflation, release status and the method, stated on the page.</a:t>
            </a:r>
          </a:p>
        </p:txBody>
      </p:sp>
      <p:sp>
        <p:nvSpPr>
          <p:cNvPr id="17425" name="TextBox 17424"/>
          <p:cNvSpPr txBox="1"/>
          <p:nvPr/>
        </p:nvSpPr>
        <p:spPr>
          <a:xfrm>
            <a:off x="6400800" y="3035808"/>
            <a:ext cx="5394960" cy="274320"/>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1F497D"/>
                </a:solidFill>
                <a:latin typeface="Arial"/>
              </a:rPr>
              <a:t>Who benefits, and how</a:t>
            </a:r>
          </a:p>
        </p:txBody>
      </p:sp>
      <p:sp>
        <p:nvSpPr>
          <p:cNvPr id="17426" name="Rectangle 17425"/>
          <p:cNvSpPr/>
          <p:nvPr/>
        </p:nvSpPr>
        <p:spPr>
          <a:xfrm>
            <a:off x="6419088" y="3310127"/>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7" name="Rounded Rectangle 17426"/>
          <p:cNvSpPr/>
          <p:nvPr/>
        </p:nvSpPr>
        <p:spPr>
          <a:xfrm>
            <a:off x="6400800" y="3438144"/>
            <a:ext cx="1691640" cy="292608"/>
          </a:xfrm>
          <a:prstGeom prst="roundRect">
            <a:avLst>
              <a:gd name="adj" fmla="val 6000"/>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1100" b="1">
                <a:solidFill>
                  <a:srgbClr val="FFFFFF"/>
                </a:solidFill>
                <a:latin typeface="Arial"/>
              </a:rPr>
              <a:t>MoSPI / NSO</a:t>
            </a:r>
          </a:p>
        </p:txBody>
      </p:sp>
      <p:sp>
        <p:nvSpPr>
          <p:cNvPr id="17428" name="TextBox 17427"/>
          <p:cNvSpPr txBox="1"/>
          <p:nvPr/>
        </p:nvSpPr>
        <p:spPr>
          <a:xfrm>
            <a:off x="8275320" y="3419856"/>
            <a:ext cx="3520440" cy="457200"/>
          </a:xfrm>
          <a:prstGeom prst="rect">
            <a:avLst/>
          </a:prstGeom>
          <a:noFill/>
        </p:spPr>
        <p:txBody>
          <a:bodyPr wrap="square" lIns="36576" rIns="36576" tIns="18288" bIns="18288">
            <a:spAutoFit/>
          </a:bodyPr>
          <a:lstStyle/>
          <a:p>
            <a:pPr>
              <a:lnSpc>
                <a:spcPct val="95000"/>
              </a:lnSpc>
              <a:spcBef>
                <a:spcPts val="0"/>
              </a:spcBef>
              <a:spcAft>
                <a:spcPts val="0"/>
              </a:spcAft>
            </a:pPr>
            <a:r>
              <a:rPr sz="1200" b="0">
                <a:solidFill>
                  <a:srgbClr val="262B33"/>
                </a:solidFill>
                <a:latin typeface="Arial"/>
              </a:rPr>
              <a:t>A defensible transport input, recomputable from stored micro-data</a:t>
            </a:r>
          </a:p>
        </p:txBody>
      </p:sp>
      <p:sp>
        <p:nvSpPr>
          <p:cNvPr id="17429" name="Rounded Rectangle 17428"/>
          <p:cNvSpPr/>
          <p:nvPr/>
        </p:nvSpPr>
        <p:spPr>
          <a:xfrm>
            <a:off x="6400800" y="3986783"/>
            <a:ext cx="1691640" cy="292608"/>
          </a:xfrm>
          <a:prstGeom prst="roundRect">
            <a:avLst>
              <a:gd name="adj" fmla="val 6000"/>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1100" b="1">
                <a:solidFill>
                  <a:srgbClr val="FFFFFF"/>
                </a:solidFill>
                <a:latin typeface="Arial"/>
              </a:rPr>
              <a:t>DGCA and policy</a:t>
            </a:r>
          </a:p>
        </p:txBody>
      </p:sp>
      <p:sp>
        <p:nvSpPr>
          <p:cNvPr id="17430" name="TextBox 17429"/>
          <p:cNvSpPr txBox="1"/>
          <p:nvPr/>
        </p:nvSpPr>
        <p:spPr>
          <a:xfrm>
            <a:off x="8275320" y="3968496"/>
            <a:ext cx="3520440" cy="457200"/>
          </a:xfrm>
          <a:prstGeom prst="rect">
            <a:avLst/>
          </a:prstGeom>
          <a:noFill/>
        </p:spPr>
        <p:txBody>
          <a:bodyPr wrap="square" lIns="36576" rIns="36576" tIns="18288" bIns="18288">
            <a:spAutoFit/>
          </a:bodyPr>
          <a:lstStyle/>
          <a:p>
            <a:pPr>
              <a:lnSpc>
                <a:spcPct val="95000"/>
              </a:lnSpc>
              <a:spcBef>
                <a:spcPts val="0"/>
              </a:spcBef>
              <a:spcAft>
                <a:spcPts val="0"/>
              </a:spcAft>
            </a:pPr>
            <a:r>
              <a:rPr sz="1200" b="0">
                <a:solidFill>
                  <a:srgbClr val="262B33"/>
                </a:solidFill>
                <a:latin typeface="Arial"/>
              </a:rPr>
              <a:t>Route-level fare behaviour nobody currently publishes</a:t>
            </a:r>
          </a:p>
        </p:txBody>
      </p:sp>
      <p:sp>
        <p:nvSpPr>
          <p:cNvPr id="17431" name="Rounded Rectangle 17430"/>
          <p:cNvSpPr/>
          <p:nvPr/>
        </p:nvSpPr>
        <p:spPr>
          <a:xfrm>
            <a:off x="6400800" y="4535423"/>
            <a:ext cx="1691640" cy="292608"/>
          </a:xfrm>
          <a:prstGeom prst="roundRect">
            <a:avLst>
              <a:gd name="adj" fmla="val 6000"/>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1100" b="1">
                <a:solidFill>
                  <a:srgbClr val="FFFFFF"/>
                </a:solidFill>
                <a:latin typeface="Arial"/>
              </a:rPr>
              <a:t>Citizens</a:t>
            </a:r>
          </a:p>
        </p:txBody>
      </p:sp>
      <p:sp>
        <p:nvSpPr>
          <p:cNvPr id="17432" name="TextBox 17431"/>
          <p:cNvSpPr txBox="1"/>
          <p:nvPr/>
        </p:nvSpPr>
        <p:spPr>
          <a:xfrm>
            <a:off x="8275320" y="4517136"/>
            <a:ext cx="3520440" cy="457200"/>
          </a:xfrm>
          <a:prstGeom prst="rect">
            <a:avLst/>
          </a:prstGeom>
          <a:noFill/>
        </p:spPr>
        <p:txBody>
          <a:bodyPr wrap="square" lIns="36576" rIns="36576" tIns="18288" bIns="18288">
            <a:spAutoFit/>
          </a:bodyPr>
          <a:lstStyle/>
          <a:p>
            <a:pPr>
              <a:lnSpc>
                <a:spcPct val="95000"/>
              </a:lnSpc>
              <a:spcBef>
                <a:spcPts val="0"/>
              </a:spcBef>
              <a:spcAft>
                <a:spcPts val="0"/>
              </a:spcAft>
            </a:pPr>
            <a:r>
              <a:rPr sz="1200" b="0">
                <a:solidFill>
                  <a:srgbClr val="262B33"/>
                </a:solidFill>
                <a:latin typeface="Arial"/>
              </a:rPr>
              <a:t>A public record of what air travel actually costs over time</a:t>
            </a:r>
          </a:p>
        </p:txBody>
      </p:sp>
      <p:sp>
        <p:nvSpPr>
          <p:cNvPr id="17433" name="Rounded Rectangle 17432"/>
          <p:cNvSpPr/>
          <p:nvPr/>
        </p:nvSpPr>
        <p:spPr>
          <a:xfrm>
            <a:off x="6400800" y="5084063"/>
            <a:ext cx="1691640" cy="292608"/>
          </a:xfrm>
          <a:prstGeom prst="roundRect">
            <a:avLst>
              <a:gd name="adj" fmla="val 6000"/>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1100" b="1">
                <a:solidFill>
                  <a:srgbClr val="FFFFFF"/>
                </a:solidFill>
                <a:latin typeface="Arial"/>
              </a:rPr>
              <a:t>Researchers</a:t>
            </a:r>
          </a:p>
        </p:txBody>
      </p:sp>
      <p:sp>
        <p:nvSpPr>
          <p:cNvPr id="17434" name="TextBox 17433"/>
          <p:cNvSpPr txBox="1"/>
          <p:nvPr/>
        </p:nvSpPr>
        <p:spPr>
          <a:xfrm>
            <a:off x="8275320" y="5065775"/>
            <a:ext cx="3520440" cy="457200"/>
          </a:xfrm>
          <a:prstGeom prst="rect">
            <a:avLst/>
          </a:prstGeom>
          <a:noFill/>
        </p:spPr>
        <p:txBody>
          <a:bodyPr wrap="square" lIns="36576" rIns="36576" tIns="18288" bIns="18288">
            <a:spAutoFit/>
          </a:bodyPr>
          <a:lstStyle/>
          <a:p>
            <a:pPr>
              <a:lnSpc>
                <a:spcPct val="95000"/>
              </a:lnSpc>
              <a:spcBef>
                <a:spcPts val="0"/>
              </a:spcBef>
              <a:spcAft>
                <a:spcPts val="0"/>
              </a:spcAft>
            </a:pPr>
            <a:r>
              <a:rPr sz="1200" b="0">
                <a:solidFill>
                  <a:srgbClr val="262B33"/>
                </a:solidFill>
                <a:latin typeface="Arial"/>
              </a:rPr>
              <a:t>An open, reproducible price series for a market that has none</a:t>
            </a:r>
          </a:p>
        </p:txBody>
      </p:sp>
      <p:sp>
        <p:nvSpPr>
          <p:cNvPr id="17435" name="Rounded Rectangle 17434"/>
          <p:cNvSpPr/>
          <p:nvPr/>
        </p:nvSpPr>
        <p:spPr>
          <a:xfrm>
            <a:off x="6400800" y="5504688"/>
            <a:ext cx="5394960" cy="768096"/>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150" b="1">
                <a:solidFill>
                  <a:srgbClr val="1B8A5A"/>
                </a:solidFill>
                <a:latin typeface="Arial"/>
              </a:rPr>
              <a:t>OUR PROMISE</a:t>
            </a:r>
          </a:p>
          <a:p>
            <a:pPr>
              <a:lnSpc>
                <a:spcPct val="95000"/>
              </a:lnSpc>
              <a:spcBef>
                <a:spcPts val="300"/>
              </a:spcBef>
              <a:spcAft>
                <a:spcPts val="0"/>
              </a:spcAft>
            </a:pPr>
            <a:r>
              <a:rPr sz="1300" b="0">
                <a:solidFill>
                  <a:srgbClr val="262B33"/>
                </a:solidFill>
                <a:latin typeface="Arial"/>
              </a:rPr>
              <a:t>Replace one manual price visit a month with 144 automated observations a day — at zero marginal cost.</a:t>
            </a:r>
          </a:p>
        </p:txBody>
      </p:sp>
    </p:spTree>
    <p:extLst>
      <p:ext uri="{BB962C8B-B14F-4D97-AF65-F5344CB8AC3E}">
        <p14:creationId xmlns:p14="http://schemas.microsoft.com/office/powerpoint/2010/main" val="29971441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lgn="ctr"/>
            <a:r>
              <a:rPr sz="2800" b="1">
                <a:solidFill>
                  <a:srgbClr val="1F497D"/>
                </a:solidFill>
                <a:latin typeface="Times New Roman"/>
              </a:rPr>
              <a:t>RESEARCH AND REFERENCES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9" name="Oval 8"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050" b="1"/>
              <a:t>Fare Enough</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Rounded Rectangle 17409"/>
          <p:cNvSpPr/>
          <p:nvPr/>
        </p:nvSpPr>
        <p:spPr>
          <a:xfrm>
            <a:off x="411480" y="1133856"/>
            <a:ext cx="3703320" cy="1700784"/>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11" name="Rectangle 17410"/>
          <p:cNvSpPr/>
          <p:nvPr/>
        </p:nvSpPr>
        <p:spPr>
          <a:xfrm>
            <a:off x="411480" y="1133856"/>
            <a:ext cx="3703320" cy="64008"/>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TextBox 17411"/>
          <p:cNvSpPr txBox="1"/>
          <p:nvPr/>
        </p:nvSpPr>
        <p:spPr>
          <a:xfrm>
            <a:off x="557784" y="1280160"/>
            <a:ext cx="3410712" cy="1444752"/>
          </a:xfrm>
          <a:prstGeom prst="rect">
            <a:avLst/>
          </a:prstGeom>
          <a:noFill/>
        </p:spPr>
        <p:txBody>
          <a:bodyPr wrap="square" lIns="36576" rIns="36576">
            <a:spAutoFit/>
          </a:bodyPr>
          <a:lstStyle/>
          <a:p>
            <a:pPr>
              <a:lnSpc>
                <a:spcPct val="100000"/>
              </a:lnSpc>
              <a:spcBef>
                <a:spcPts val="0"/>
              </a:spcBef>
              <a:spcAft>
                <a:spcPts val="0"/>
              </a:spcAft>
            </a:pPr>
            <a:r>
              <a:rPr sz="1350" b="1">
                <a:solidFill>
                  <a:srgbClr val="4F81BD"/>
                </a:solidFill>
                <a:latin typeface="Arial"/>
              </a:rPr>
              <a:t>Method — why Jevons</a:t>
            </a:r>
          </a:p>
          <a:p>
            <a:pPr>
              <a:lnSpc>
                <a:spcPct val="100000"/>
              </a:lnSpc>
              <a:spcBef>
                <a:spcPts val="400"/>
              </a:spcBef>
              <a:spcAft>
                <a:spcPts val="0"/>
              </a:spcAft>
            </a:pPr>
            <a:r>
              <a:rPr sz="1150" b="0">
                <a:solidFill>
                  <a:srgbClr val="262B33"/>
                </a:solidFill>
                <a:latin typeface="Arial"/>
              </a:rPr>
              <a:t>Eurostat, Practical guidelines on web scraping for the HICP (2020). Names air fares explicitly as a scraped category.</a:t>
            </a:r>
          </a:p>
          <a:p>
            <a:pPr>
              <a:lnSpc>
                <a:spcPct val="100000"/>
              </a:lnSpc>
              <a:spcBef>
                <a:spcPts val="500"/>
              </a:spcBef>
              <a:spcAft>
                <a:spcPts val="0"/>
              </a:spcAft>
            </a:pPr>
            <a:r>
              <a:rPr sz="1100" b="1">
                <a:solidFill>
                  <a:srgbClr val="4F81BD"/>
                </a:solidFill>
                <a:latin typeface="Arial"/>
                <a:hlinkClick r:id="rId4"/>
              </a:rPr>
              <a:t>Eurostat HICP guidance →</a:t>
            </a:r>
          </a:p>
        </p:txBody>
      </p:sp>
      <p:sp>
        <p:nvSpPr>
          <p:cNvPr id="17413" name="Rounded Rectangle 17412"/>
          <p:cNvSpPr/>
          <p:nvPr/>
        </p:nvSpPr>
        <p:spPr>
          <a:xfrm>
            <a:off x="4370832" y="1133856"/>
            <a:ext cx="3703320" cy="1700784"/>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14" name="Rectangle 17413"/>
          <p:cNvSpPr/>
          <p:nvPr/>
        </p:nvSpPr>
        <p:spPr>
          <a:xfrm>
            <a:off x="4370832" y="1133856"/>
            <a:ext cx="3703320" cy="64008"/>
          </a:xfrm>
          <a:prstGeom prst="rect">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5" name="TextBox 17414"/>
          <p:cNvSpPr txBox="1"/>
          <p:nvPr/>
        </p:nvSpPr>
        <p:spPr>
          <a:xfrm>
            <a:off x="4517136" y="1280160"/>
            <a:ext cx="3410712" cy="1444752"/>
          </a:xfrm>
          <a:prstGeom prst="rect">
            <a:avLst/>
          </a:prstGeom>
          <a:noFill/>
        </p:spPr>
        <p:txBody>
          <a:bodyPr wrap="square" lIns="36576" rIns="36576">
            <a:spAutoFit/>
          </a:bodyPr>
          <a:lstStyle/>
          <a:p>
            <a:pPr>
              <a:lnSpc>
                <a:spcPct val="100000"/>
              </a:lnSpc>
              <a:spcBef>
                <a:spcPts val="0"/>
              </a:spcBef>
              <a:spcAft>
                <a:spcPts val="0"/>
              </a:spcAft>
            </a:pPr>
            <a:r>
              <a:rPr sz="1350" b="1">
                <a:solidFill>
                  <a:srgbClr val="1B8A5A"/>
                </a:solidFill>
                <a:latin typeface="Arial"/>
              </a:rPr>
              <a:t>Precedent — already done</a:t>
            </a:r>
          </a:p>
          <a:p>
            <a:pPr>
              <a:lnSpc>
                <a:spcPct val="100000"/>
              </a:lnSpc>
              <a:spcBef>
                <a:spcPts val="400"/>
              </a:spcBef>
              <a:spcAft>
                <a:spcPts val="0"/>
              </a:spcAft>
            </a:pPr>
            <a:r>
              <a:rPr sz="1150" b="0">
                <a:solidFill>
                  <a:srgbClr val="262B33"/>
                </a:solidFill>
                <a:latin typeface="Arial"/>
              </a:rPr>
              <a:t>ONS ran a web-scraping programme for consumer prices from 2014, Eurostat-funded from 2015.</a:t>
            </a:r>
          </a:p>
          <a:p>
            <a:pPr>
              <a:lnSpc>
                <a:spcPct val="100000"/>
              </a:lnSpc>
              <a:spcBef>
                <a:spcPts val="500"/>
              </a:spcBef>
              <a:spcAft>
                <a:spcPts val="0"/>
              </a:spcAft>
            </a:pPr>
            <a:r>
              <a:rPr sz="1100" b="1">
                <a:solidFill>
                  <a:srgbClr val="4F81BD"/>
                </a:solidFill>
                <a:latin typeface="Arial"/>
                <a:hlinkClick r:id="rId5"/>
              </a:rPr>
              <a:t>ONS research indices →</a:t>
            </a:r>
          </a:p>
        </p:txBody>
      </p:sp>
      <p:sp>
        <p:nvSpPr>
          <p:cNvPr id="17416" name="Rounded Rectangle 17415"/>
          <p:cNvSpPr/>
          <p:nvPr/>
        </p:nvSpPr>
        <p:spPr>
          <a:xfrm>
            <a:off x="8330183" y="1133856"/>
            <a:ext cx="3703320" cy="1700784"/>
          </a:xfrm>
          <a:prstGeom prst="roundRect">
            <a:avLst>
              <a:gd name="adj" fmla="val 6000"/>
            </a:avLst>
          </a:prstGeom>
          <a:solidFill>
            <a:srgbClr val="FB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17" name="Rectangle 17416"/>
          <p:cNvSpPr/>
          <p:nvPr/>
        </p:nvSpPr>
        <p:spPr>
          <a:xfrm>
            <a:off x="8330183" y="1133856"/>
            <a:ext cx="3703320" cy="64008"/>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8" name="TextBox 17417"/>
          <p:cNvSpPr txBox="1"/>
          <p:nvPr/>
        </p:nvSpPr>
        <p:spPr>
          <a:xfrm>
            <a:off x="8476488" y="1280160"/>
            <a:ext cx="3410712" cy="1444752"/>
          </a:xfrm>
          <a:prstGeom prst="rect">
            <a:avLst/>
          </a:prstGeom>
          <a:noFill/>
        </p:spPr>
        <p:txBody>
          <a:bodyPr wrap="square" lIns="36576" rIns="36576">
            <a:spAutoFit/>
          </a:bodyPr>
          <a:lstStyle/>
          <a:p>
            <a:pPr>
              <a:lnSpc>
                <a:spcPct val="100000"/>
              </a:lnSpc>
              <a:spcBef>
                <a:spcPts val="0"/>
              </a:spcBef>
              <a:spcAft>
                <a:spcPts val="0"/>
              </a:spcAft>
            </a:pPr>
            <a:r>
              <a:rPr sz="1350" b="1">
                <a:solidFill>
                  <a:srgbClr val="C77700"/>
                </a:solidFill>
                <a:latin typeface="Arial"/>
              </a:rPr>
              <a:t>The Indian basket</a:t>
            </a:r>
          </a:p>
          <a:p>
            <a:pPr>
              <a:lnSpc>
                <a:spcPct val="100000"/>
              </a:lnSpc>
              <a:spcBef>
                <a:spcPts val="400"/>
              </a:spcBef>
              <a:spcAft>
                <a:spcPts val="0"/>
              </a:spcAft>
            </a:pPr>
            <a:r>
              <a:rPr sz="1150" b="0">
                <a:solidFill>
                  <a:srgbClr val="262B33"/>
                </a:solidFill>
                <a:latin typeface="Arial"/>
              </a:rPr>
              <a:t>DGCA city-pair statistics: 164 m domestic passengers, IndiGo 64.2%. Our own 1,000-fare sample returned 68.2% — arrived at independently.</a:t>
            </a:r>
          </a:p>
          <a:p>
            <a:pPr>
              <a:lnSpc>
                <a:spcPct val="100000"/>
              </a:lnSpc>
              <a:spcBef>
                <a:spcPts val="500"/>
              </a:spcBef>
              <a:spcAft>
                <a:spcPts val="0"/>
              </a:spcAft>
            </a:pPr>
            <a:r>
              <a:rPr sz="1100" b="1">
                <a:solidFill>
                  <a:srgbClr val="4F81BD"/>
                </a:solidFill>
                <a:latin typeface="Arial"/>
                <a:hlinkClick r:id="rId6"/>
              </a:rPr>
              <a:t>DGCA monthly statistics →</a:t>
            </a:r>
          </a:p>
        </p:txBody>
      </p:sp>
      <p:sp>
        <p:nvSpPr>
          <p:cNvPr id="17419" name="Rounded Rectangle 17418"/>
          <p:cNvSpPr/>
          <p:nvPr/>
        </p:nvSpPr>
        <p:spPr>
          <a:xfrm>
            <a:off x="411480" y="2999232"/>
            <a:ext cx="3703320" cy="1700784"/>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20" name="Rectangle 17419"/>
          <p:cNvSpPr/>
          <p:nvPr/>
        </p:nvSpPr>
        <p:spPr>
          <a:xfrm>
            <a:off x="411480" y="2999232"/>
            <a:ext cx="3703320" cy="64008"/>
          </a:xfrm>
          <a:prstGeom prst="rect">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1" name="TextBox 17420"/>
          <p:cNvSpPr txBox="1"/>
          <p:nvPr/>
        </p:nvSpPr>
        <p:spPr>
          <a:xfrm>
            <a:off x="557784" y="3145536"/>
            <a:ext cx="3410712" cy="1444752"/>
          </a:xfrm>
          <a:prstGeom prst="rect">
            <a:avLst/>
          </a:prstGeom>
          <a:noFill/>
        </p:spPr>
        <p:txBody>
          <a:bodyPr wrap="square" lIns="36576" rIns="36576">
            <a:spAutoFit/>
          </a:bodyPr>
          <a:lstStyle/>
          <a:p>
            <a:pPr>
              <a:lnSpc>
                <a:spcPct val="100000"/>
              </a:lnSpc>
              <a:spcBef>
                <a:spcPts val="0"/>
              </a:spcBef>
              <a:spcAft>
                <a:spcPts val="0"/>
              </a:spcAft>
            </a:pPr>
            <a:r>
              <a:rPr sz="1350" b="1">
                <a:solidFill>
                  <a:srgbClr val="4B3F8C"/>
                </a:solidFill>
                <a:latin typeface="Arial"/>
              </a:rPr>
              <a:t>Standards we hold to</a:t>
            </a:r>
          </a:p>
          <a:p>
            <a:pPr>
              <a:lnSpc>
                <a:spcPct val="100000"/>
              </a:lnSpc>
              <a:spcBef>
                <a:spcPts val="400"/>
              </a:spcBef>
              <a:spcAft>
                <a:spcPts val="0"/>
              </a:spcAft>
            </a:pPr>
            <a:r>
              <a:rPr sz="1150" b="0">
                <a:solidFill>
                  <a:srgbClr val="262B33"/>
                </a:solidFill>
                <a:latin typeface="Arial"/>
              </a:rPr>
              <a:t>RFC 9309, the Robots Exclusion Protocol. We implemented it ourselves after finding Python's standard parser reports disallowed paths as allowed.</a:t>
            </a:r>
          </a:p>
          <a:p>
            <a:pPr>
              <a:lnSpc>
                <a:spcPct val="100000"/>
              </a:lnSpc>
              <a:spcBef>
                <a:spcPts val="500"/>
              </a:spcBef>
              <a:spcAft>
                <a:spcPts val="0"/>
              </a:spcAft>
            </a:pPr>
            <a:r>
              <a:rPr sz="1100" b="1">
                <a:solidFill>
                  <a:srgbClr val="4F81BD"/>
                </a:solidFill>
                <a:latin typeface="Arial"/>
                <a:hlinkClick r:id="rId7"/>
              </a:rPr>
              <a:t>RFC 9309 →</a:t>
            </a:r>
          </a:p>
        </p:txBody>
      </p:sp>
      <p:sp>
        <p:nvSpPr>
          <p:cNvPr id="17422" name="Rounded Rectangle 17421"/>
          <p:cNvSpPr/>
          <p:nvPr/>
        </p:nvSpPr>
        <p:spPr>
          <a:xfrm>
            <a:off x="4370832" y="2999232"/>
            <a:ext cx="3703320" cy="1700784"/>
          </a:xfrm>
          <a:prstGeom prst="roundRect">
            <a:avLst>
              <a:gd name="adj" fmla="val 6000"/>
            </a:avLst>
          </a:prstGeom>
          <a:solidFill>
            <a:srgbClr val="E2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23" name="Rectangle 17422"/>
          <p:cNvSpPr/>
          <p:nvPr/>
        </p:nvSpPr>
        <p:spPr>
          <a:xfrm>
            <a:off x="4370832" y="2999232"/>
            <a:ext cx="3703320" cy="6400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4" name="TextBox 17423"/>
          <p:cNvSpPr txBox="1"/>
          <p:nvPr/>
        </p:nvSpPr>
        <p:spPr>
          <a:xfrm>
            <a:off x="4517136" y="3145536"/>
            <a:ext cx="3410712" cy="1444752"/>
          </a:xfrm>
          <a:prstGeom prst="rect">
            <a:avLst/>
          </a:prstGeom>
          <a:noFill/>
        </p:spPr>
        <p:txBody>
          <a:bodyPr wrap="square" lIns="36576" rIns="36576">
            <a:spAutoFit/>
          </a:bodyPr>
          <a:lstStyle/>
          <a:p>
            <a:pPr>
              <a:lnSpc>
                <a:spcPct val="100000"/>
              </a:lnSpc>
              <a:spcBef>
                <a:spcPts val="0"/>
              </a:spcBef>
              <a:spcAft>
                <a:spcPts val="0"/>
              </a:spcAft>
            </a:pPr>
            <a:r>
              <a:rPr sz="1350" b="1">
                <a:solidFill>
                  <a:srgbClr val="0E7C86"/>
                </a:solidFill>
                <a:latin typeface="Arial"/>
              </a:rPr>
              <a:t>CPI methodology</a:t>
            </a:r>
          </a:p>
          <a:p>
            <a:pPr>
              <a:lnSpc>
                <a:spcPct val="100000"/>
              </a:lnSpc>
              <a:spcBef>
                <a:spcPts val="400"/>
              </a:spcBef>
              <a:spcAft>
                <a:spcPts val="0"/>
              </a:spcAft>
            </a:pPr>
            <a:r>
              <a:rPr sz="1150" b="0">
                <a:solidFill>
                  <a:srgbClr val="262B33"/>
                </a:solidFill>
                <a:latin typeface="Arial"/>
              </a:rPr>
              <a:t>MoSPI CPI (Base 2012=100). Field collectors visit shops and markets monthly — the process this augments.</a:t>
            </a:r>
          </a:p>
          <a:p>
            <a:pPr>
              <a:lnSpc>
                <a:spcPct val="100000"/>
              </a:lnSpc>
              <a:spcBef>
                <a:spcPts val="500"/>
              </a:spcBef>
              <a:spcAft>
                <a:spcPts val="0"/>
              </a:spcAft>
            </a:pPr>
            <a:r>
              <a:rPr sz="1100" b="1">
                <a:solidFill>
                  <a:srgbClr val="4F81BD"/>
                </a:solidFill>
                <a:latin typeface="Arial"/>
                <a:hlinkClick r:id="rId8"/>
              </a:rPr>
              <a:t>MoSPI CPI series →</a:t>
            </a:r>
          </a:p>
        </p:txBody>
      </p:sp>
      <p:sp>
        <p:nvSpPr>
          <p:cNvPr id="17425" name="Rounded Rectangle 17424"/>
          <p:cNvSpPr/>
          <p:nvPr/>
        </p:nvSpPr>
        <p:spPr>
          <a:xfrm>
            <a:off x="8330183" y="2999232"/>
            <a:ext cx="3703320" cy="1700784"/>
          </a:xfrm>
          <a:prstGeom prst="roundRect">
            <a:avLst>
              <a:gd name="adj" fmla="val 6000"/>
            </a:avLst>
          </a:prstGeom>
          <a:solidFill>
            <a:srgbClr val="F4EA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26" name="Rectangle 17425"/>
          <p:cNvSpPr/>
          <p:nvPr/>
        </p:nvSpPr>
        <p:spPr>
          <a:xfrm>
            <a:off x="8330183" y="2999232"/>
            <a:ext cx="3703320" cy="64008"/>
          </a:xfrm>
          <a:prstGeom prst="rect">
            <a:avLst/>
          </a:prstGeom>
          <a:solidFill>
            <a:srgbClr val="7A3E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7" name="TextBox 17426"/>
          <p:cNvSpPr txBox="1"/>
          <p:nvPr/>
        </p:nvSpPr>
        <p:spPr>
          <a:xfrm>
            <a:off x="8476488" y="3145536"/>
            <a:ext cx="3410712" cy="1444752"/>
          </a:xfrm>
          <a:prstGeom prst="rect">
            <a:avLst/>
          </a:prstGeom>
          <a:noFill/>
        </p:spPr>
        <p:txBody>
          <a:bodyPr wrap="square" lIns="36576" rIns="36576">
            <a:spAutoFit/>
          </a:bodyPr>
          <a:lstStyle/>
          <a:p>
            <a:pPr>
              <a:lnSpc>
                <a:spcPct val="100000"/>
              </a:lnSpc>
              <a:spcBef>
                <a:spcPts val="0"/>
              </a:spcBef>
              <a:spcAft>
                <a:spcPts val="0"/>
              </a:spcAft>
            </a:pPr>
            <a:r>
              <a:rPr sz="1350" b="1">
                <a:solidFill>
                  <a:srgbClr val="7A3E6B"/>
                </a:solidFill>
                <a:latin typeface="Arial"/>
              </a:rPr>
              <a:t>Our code and full method</a:t>
            </a:r>
          </a:p>
          <a:p>
            <a:pPr>
              <a:lnSpc>
                <a:spcPct val="100000"/>
              </a:lnSpc>
              <a:spcBef>
                <a:spcPts val="400"/>
              </a:spcBef>
              <a:spcAft>
                <a:spcPts val="0"/>
              </a:spcAft>
            </a:pPr>
            <a:r>
              <a:rPr sz="1150" b="0">
                <a:solidFill>
                  <a:srgbClr val="262B33"/>
                </a:solidFill>
                <a:latin typeface="Arial"/>
              </a:rPr>
              <a:t>Collector, index engine, export API and portal. The README documents the method, the exclusion rules and the publication threshold.</a:t>
            </a:r>
          </a:p>
          <a:p>
            <a:pPr>
              <a:lnSpc>
                <a:spcPct val="100000"/>
              </a:lnSpc>
              <a:spcBef>
                <a:spcPts val="500"/>
              </a:spcBef>
              <a:spcAft>
                <a:spcPts val="0"/>
              </a:spcAft>
            </a:pPr>
            <a:r>
              <a:rPr sz="1100" b="1">
                <a:solidFill>
                  <a:srgbClr val="4F81BD"/>
                </a:solidFill>
                <a:latin typeface="Arial"/>
                <a:hlinkClick r:id="rId9"/>
              </a:rPr>
              <a:t>github.com/BradCage-afk/sih-2026-airfare-index →</a:t>
            </a:r>
          </a:p>
        </p:txBody>
      </p:sp>
      <p:pic>
        <p:nvPicPr>
          <p:cNvPr id="17428" name="Picture 17427" descr="chart-survey.png"/>
          <p:cNvPicPr>
            <a:picLocks noChangeAspect="1"/>
          </p:cNvPicPr>
          <p:nvPr/>
        </p:nvPicPr>
        <p:blipFill>
          <a:blip r:embed="rId10"/>
          <a:stretch>
            <a:fillRect/>
          </a:stretch>
        </p:blipFill>
        <p:spPr>
          <a:xfrm>
            <a:off x="411480" y="4809744"/>
            <a:ext cx="4023360" cy="1333831"/>
          </a:xfrm>
          <a:prstGeom prst="rect">
            <a:avLst/>
          </a:prstGeom>
        </p:spPr>
      </p:pic>
      <p:sp>
        <p:nvSpPr>
          <p:cNvPr id="17429" name="TextBox 17428"/>
          <p:cNvSpPr txBox="1"/>
          <p:nvPr/>
        </p:nvSpPr>
        <p:spPr>
          <a:xfrm>
            <a:off x="4663440" y="4864608"/>
            <a:ext cx="7086600" cy="1371600"/>
          </a:xfrm>
          <a:prstGeom prst="rect">
            <a:avLst/>
          </a:prstGeom>
          <a:noFill/>
        </p:spPr>
        <p:txBody>
          <a:bodyPr wrap="square" lIns="36576" rIns="36576">
            <a:spAutoFit/>
          </a:bodyPr>
          <a:lstStyle/>
          <a:p>
            <a:pPr>
              <a:lnSpc>
                <a:spcPct val="100000"/>
              </a:lnSpc>
              <a:spcBef>
                <a:spcPts val="0"/>
              </a:spcBef>
              <a:spcAft>
                <a:spcPts val="0"/>
              </a:spcAft>
            </a:pPr>
            <a:r>
              <a:rPr sz="1300" b="1">
                <a:solidFill>
                  <a:srgbClr val="1F497D"/>
                </a:solidFill>
                <a:latin typeface="Arial"/>
              </a:rPr>
              <a:t>Everything above is reproducible.</a:t>
            </a:r>
          </a:p>
          <a:p>
            <a:pPr>
              <a:lnSpc>
                <a:spcPct val="100000"/>
              </a:lnSpc>
              <a:spcBef>
                <a:spcPts val="400"/>
              </a:spcBef>
              <a:spcAft>
                <a:spcPts val="0"/>
              </a:spcAft>
            </a:pPr>
            <a:r>
              <a:rPr sz="1150" b="0">
                <a:solidFill>
                  <a:srgbClr val="262B33"/>
                </a:solidFill>
                <a:latin typeface="Arial"/>
              </a:rPr>
              <a:t>The index, every chart in this deck and every figure on the portal are regenerated from the database by scripts in the repository. Nothing is transcribed by hand, so no number here can drift from what the system holds.</a:t>
            </a:r>
          </a:p>
          <a:p>
            <a:pPr>
              <a:lnSpc>
                <a:spcPct val="100000"/>
              </a:lnSpc>
              <a:spcBef>
                <a:spcPts val="500"/>
              </a:spcBef>
              <a:spcAft>
                <a:spcPts val="0"/>
              </a:spcAft>
            </a:pPr>
            <a:r>
              <a:rPr sz="1150" b="1">
                <a:solidFill>
                  <a:srgbClr val="4F81BD"/>
                </a:solidFill>
                <a:latin typeface="Arial"/>
                <a:hlinkClick r:id="rId11"/>
              </a:rPr>
              <a:t>Live API and interactive documentation →</a:t>
            </a:r>
          </a:p>
        </p:txBody>
      </p:sp>
    </p:spTree>
    <p:extLst>
      <p:ext uri="{BB962C8B-B14F-4D97-AF65-F5344CB8AC3E}">
        <p14:creationId xmlns:p14="http://schemas.microsoft.com/office/powerpoint/2010/main" val="39167886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7489</TotalTime>
  <Words>325</Words>
  <Application>Microsoft Office PowerPoint</Application>
  <PresentationFormat>Widescreen</PresentationFormat>
  <Paragraphs>62</Paragraphs>
  <Slides>7</Slides>
  <Notes>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vt:i4>
      </vt:variant>
    </vt:vector>
  </HeadingPairs>
  <TitlesOfParts>
    <vt:vector size="15" baseType="lpstr">
      <vt:lpstr>ＭＳ Ｐゴシック</vt:lpstr>
      <vt:lpstr>Arial</vt:lpstr>
      <vt:lpstr>Calibri</vt:lpstr>
      <vt:lpstr>Garamond</vt:lpstr>
      <vt:lpstr>Times New Roman</vt:lpstr>
      <vt:lpstr>TradeGothic</vt:lpstr>
      <vt:lpstr>Wingdings</vt:lpstr>
      <vt:lpstr>Office Theme</vt:lpstr>
      <vt:lpstr>SMART INDIA HACKATHON 2026</vt:lpstr>
      <vt:lpstr> IDEA TITLE</vt:lpstr>
      <vt:lpstr>TECHNICAL APPROACH</vt:lpstr>
      <vt:lpstr>FEASIBILITY AND VIABILITY</vt:lpstr>
      <vt:lpstr>IMPACT AND BENEFITS</vt:lpstr>
      <vt:lpstr>RESEARCH  AND REFERENCES</vt:lpstr>
      <vt:lpstr>PowerPoint Presentation</vt:lpstr>
    </vt:vector>
  </TitlesOfParts>
  <Manager/>
  <Company>Crowdfunder, Inc.</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Investor Pitch Deck Template</dc:title>
  <dc:subject/>
  <dc:creator>Crowdfunder</dc:creator>
  <cp:keywords/>
  <dc:description/>
  <cp:lastModifiedBy>AICTE</cp:lastModifiedBy>
  <cp:revision>148</cp:revision>
  <dcterms:created xsi:type="dcterms:W3CDTF">2013-12-12T18:46:50Z</dcterms:created>
  <dcterms:modified xsi:type="dcterms:W3CDTF">2026-06-02T09:29:39Z</dcterms:modified>
  <cp:category/>
</cp:coreProperties>
</file>