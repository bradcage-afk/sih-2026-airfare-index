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53,000+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route seat share × lead-time share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August 2026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we keep from one results row — and what we drop</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11338560" cy="2340864"/>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11338560" cy="310896"/>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40080" y="3200400"/>
            <a:ext cx="352044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ON THE PAGE</a:t>
            </a:r>
          </a:p>
        </p:txBody>
      </p:sp>
      <p:sp>
        <p:nvSpPr>
          <p:cNvPr id="17434" name="TextBox 17433"/>
          <p:cNvSpPr txBox="1"/>
          <p:nvPr/>
        </p:nvSpPr>
        <p:spPr>
          <a:xfrm>
            <a:off x="4343400" y="3200400"/>
            <a:ext cx="370332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WHAT WE STORE</a:t>
            </a:r>
          </a:p>
        </p:txBody>
      </p:sp>
      <p:sp>
        <p:nvSpPr>
          <p:cNvPr id="17435" name="TextBox 17434"/>
          <p:cNvSpPr txBox="1"/>
          <p:nvPr/>
        </p:nvSpPr>
        <p:spPr>
          <a:xfrm>
            <a:off x="8183879" y="3200400"/>
            <a:ext cx="338328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THE RULE</a:t>
            </a:r>
          </a:p>
        </p:txBody>
      </p:sp>
      <p:sp>
        <p:nvSpPr>
          <p:cNvPr id="17436" name="Rectangle 17435"/>
          <p:cNvSpPr/>
          <p:nvPr/>
        </p:nvSpPr>
        <p:spPr>
          <a:xfrm>
            <a:off x="411480" y="3493008"/>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40080" y="3529584"/>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IndiGo · 6E-955 · 20:20 → 22:20</a:t>
            </a:r>
          </a:p>
        </p:txBody>
      </p:sp>
      <p:sp>
        <p:nvSpPr>
          <p:cNvPr id="17438" name="TextBox 17437"/>
          <p:cNvSpPr txBox="1"/>
          <p:nvPr/>
        </p:nvSpPr>
        <p:spPr>
          <a:xfrm>
            <a:off x="4343400" y="3529584"/>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262B33"/>
                </a:solidFill>
                <a:latin typeface="Arial"/>
              </a:rPr>
              <a:t>carrier, flight_number, times</a:t>
            </a:r>
          </a:p>
        </p:txBody>
      </p:sp>
      <p:sp>
        <p:nvSpPr>
          <p:cNvPr id="17439" name="TextBox 17438"/>
          <p:cNvSpPr txBox="1"/>
          <p:nvPr/>
        </p:nvSpPr>
        <p:spPr>
          <a:xfrm>
            <a:off x="8183879" y="3529584"/>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flight's identity</a:t>
            </a:r>
          </a:p>
        </p:txBody>
      </p:sp>
      <p:sp>
        <p:nvSpPr>
          <p:cNvPr id="17440" name="TextBox 17439"/>
          <p:cNvSpPr txBox="1"/>
          <p:nvPr/>
        </p:nvSpPr>
        <p:spPr>
          <a:xfrm>
            <a:off x="640080" y="3913632"/>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₹6,529</a:t>
            </a:r>
          </a:p>
        </p:txBody>
      </p:sp>
      <p:sp>
        <p:nvSpPr>
          <p:cNvPr id="17441" name="TextBox 17440"/>
          <p:cNvSpPr txBox="1"/>
          <p:nvPr/>
        </p:nvSpPr>
        <p:spPr>
          <a:xfrm>
            <a:off x="4343400" y="3913632"/>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1B8A5A"/>
                </a:solidFill>
                <a:latin typeface="Arial"/>
              </a:rPr>
              <a:t>total_fare = 6529</a:t>
            </a:r>
          </a:p>
        </p:txBody>
      </p:sp>
      <p:sp>
        <p:nvSpPr>
          <p:cNvPr id="17442" name="TextBox 17441"/>
          <p:cNvSpPr txBox="1"/>
          <p:nvPr/>
        </p:nvSpPr>
        <p:spPr>
          <a:xfrm>
            <a:off x="8183879" y="3913632"/>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price a traveller actually pays</a:t>
            </a:r>
          </a:p>
        </p:txBody>
      </p:sp>
      <p:sp>
        <p:nvSpPr>
          <p:cNvPr id="17443" name="Rectangle 17442"/>
          <p:cNvSpPr/>
          <p:nvPr/>
        </p:nvSpPr>
        <p:spPr>
          <a:xfrm>
            <a:off x="411480" y="4261104"/>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640080" y="4297680"/>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₹480 off with CTFKSBIC</a:t>
            </a:r>
          </a:p>
        </p:txBody>
      </p:sp>
      <p:sp>
        <p:nvSpPr>
          <p:cNvPr id="17445" name="TextBox 17444"/>
          <p:cNvSpPr txBox="1"/>
          <p:nvPr/>
        </p:nvSpPr>
        <p:spPr>
          <a:xfrm>
            <a:off x="4343400" y="4297680"/>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0504D"/>
                </a:solidFill>
                <a:latin typeface="Arial"/>
              </a:rPr>
              <a:t>dropped</a:t>
            </a:r>
          </a:p>
        </p:txBody>
      </p:sp>
      <p:sp>
        <p:nvSpPr>
          <p:cNvPr id="17446" name="TextBox 17445"/>
          <p:cNvSpPr txBox="1"/>
          <p:nvPr/>
        </p:nvSpPr>
        <p:spPr>
          <a:xfrm>
            <a:off x="8183879" y="4297680"/>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coupon is not a published fare</a:t>
            </a:r>
          </a:p>
        </p:txBody>
      </p:sp>
      <p:sp>
        <p:nvSpPr>
          <p:cNvPr id="17447" name="TextBox 17446"/>
          <p:cNvSpPr txBox="1"/>
          <p:nvPr/>
        </p:nvSpPr>
        <p:spPr>
          <a:xfrm>
            <a:off x="640080" y="4681728"/>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no tax or fee breakdown</a:t>
            </a:r>
          </a:p>
        </p:txBody>
      </p:sp>
      <p:sp>
        <p:nvSpPr>
          <p:cNvPr id="17448" name="TextBox 17447"/>
          <p:cNvSpPr txBox="1"/>
          <p:nvPr/>
        </p:nvSpPr>
        <p:spPr>
          <a:xfrm>
            <a:off x="4343400" y="4681728"/>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77700"/>
                </a:solidFill>
                <a:latin typeface="Arial"/>
              </a:rPr>
              <a:t>stored NULL, never derived</a:t>
            </a:r>
          </a:p>
        </p:txBody>
      </p:sp>
      <p:sp>
        <p:nvSpPr>
          <p:cNvPr id="17449" name="TextBox 17448"/>
          <p:cNvSpPr txBox="1"/>
          <p:nvPr/>
        </p:nvSpPr>
        <p:spPr>
          <a:xfrm>
            <a:off x="8183879" y="4681728"/>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CPI prices the total a household pays</a:t>
            </a:r>
          </a:p>
        </p:txBody>
      </p:sp>
      <p:sp>
        <p:nvSpPr>
          <p:cNvPr id="17450" name="Rectangle 17449"/>
          <p:cNvSpPr/>
          <p:nvPr/>
        </p:nvSpPr>
        <p:spPr>
          <a:xfrm>
            <a:off x="411480" y="5029200"/>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40080" y="5065776"/>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 nothing on the page —</a:t>
            </a:r>
          </a:p>
        </p:txBody>
      </p:sp>
      <p:sp>
        <p:nvSpPr>
          <p:cNvPr id="17452" name="TextBox 17451"/>
          <p:cNvSpPr txBox="1"/>
          <p:nvPr/>
        </p:nvSpPr>
        <p:spPr>
          <a:xfrm>
            <a:off x="4343400" y="5065776"/>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4B3F8C"/>
                </a:solidFill>
                <a:latin typeface="Arial"/>
              </a:rPr>
              <a:t>source · scraped_at · model_used</a:t>
            </a:r>
          </a:p>
        </p:txBody>
      </p:sp>
      <p:sp>
        <p:nvSpPr>
          <p:cNvPr id="17453" name="TextBox 17452"/>
          <p:cNvSpPr txBox="1"/>
          <p:nvPr/>
        </p:nvSpPr>
        <p:spPr>
          <a:xfrm>
            <a:off x="8183879" y="5065776"/>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so any index figure traces back</a:t>
            </a:r>
          </a:p>
        </p:txBody>
      </p:sp>
      <p:sp>
        <p:nvSpPr>
          <p:cNvPr id="17454" name="Rounded Rectangle 17453"/>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LLM extraction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550487"/>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